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50"/>
  </p:notesMasterIdLst>
  <p:handoutMasterIdLst>
    <p:handoutMasterId r:id="rId51"/>
  </p:handoutMasterIdLst>
  <p:sldIdLst>
    <p:sldId id="265" r:id="rId2"/>
    <p:sldId id="393" r:id="rId3"/>
    <p:sldId id="453" r:id="rId4"/>
    <p:sldId id="454" r:id="rId5"/>
    <p:sldId id="456" r:id="rId6"/>
    <p:sldId id="457" r:id="rId7"/>
    <p:sldId id="409" r:id="rId8"/>
    <p:sldId id="455" r:id="rId9"/>
    <p:sldId id="458" r:id="rId10"/>
    <p:sldId id="459" r:id="rId11"/>
    <p:sldId id="411" r:id="rId12"/>
    <p:sldId id="460" r:id="rId13"/>
    <p:sldId id="461" r:id="rId14"/>
    <p:sldId id="463" r:id="rId15"/>
    <p:sldId id="462" r:id="rId16"/>
    <p:sldId id="464" r:id="rId17"/>
    <p:sldId id="465" r:id="rId18"/>
    <p:sldId id="467" r:id="rId19"/>
    <p:sldId id="466" r:id="rId20"/>
    <p:sldId id="473" r:id="rId21"/>
    <p:sldId id="474" r:id="rId22"/>
    <p:sldId id="475" r:id="rId23"/>
    <p:sldId id="479" r:id="rId24"/>
    <p:sldId id="480" r:id="rId25"/>
    <p:sldId id="481" r:id="rId26"/>
    <p:sldId id="476" r:id="rId27"/>
    <p:sldId id="486" r:id="rId28"/>
    <p:sldId id="482" r:id="rId29"/>
    <p:sldId id="487" r:id="rId30"/>
    <p:sldId id="488" r:id="rId31"/>
    <p:sldId id="489" r:id="rId32"/>
    <p:sldId id="490" r:id="rId33"/>
    <p:sldId id="491" r:id="rId34"/>
    <p:sldId id="483" r:id="rId35"/>
    <p:sldId id="492" r:id="rId36"/>
    <p:sldId id="493" r:id="rId37"/>
    <p:sldId id="484" r:id="rId38"/>
    <p:sldId id="485" r:id="rId39"/>
    <p:sldId id="495" r:id="rId40"/>
    <p:sldId id="418" r:id="rId41"/>
    <p:sldId id="501" r:id="rId42"/>
    <p:sldId id="503" r:id="rId43"/>
    <p:sldId id="496" r:id="rId44"/>
    <p:sldId id="498" r:id="rId45"/>
    <p:sldId id="497" r:id="rId46"/>
    <p:sldId id="500" r:id="rId47"/>
    <p:sldId id="499" r:id="rId48"/>
    <p:sldId id="263" r:id="rId4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898" y="77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8/10/relationships/authors" Target="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66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586D8-5EDF-395A-265C-7D625F78E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6864907-D9FF-9558-8B0F-480D0740D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80F9B4E-E0D1-1CEE-127B-C00163A38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0D54B6-9CC0-C172-10F3-E42EFD56D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36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6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6E41B-C0FF-BF9F-703C-5B945CE7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99179CB-2A4A-1FF8-26BE-8014D9F3B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1671F2B-5998-AC4A-860A-E2E3FAC3C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E6D6E8-D621-26D0-AEB3-C29177D23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37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F4A0D-87BE-6988-DD95-039111D2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838A0C9-AFAD-9B89-BFC8-D03549FEB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3BEA498-FF05-F84D-3FE5-7B74D0191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020881-0044-1DF9-EAC3-606A87354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5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BDE55-4638-BC2C-13CC-1FC5C3A77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D82473D-1B4A-799C-29CF-4D2A05F6C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184CA22-96C7-3496-C3BD-6C209A75D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1DCE88-B8EB-552D-DC08-ED97D32DB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8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75742-A6EA-FC65-88C2-D52B1A7B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67EF732-76DA-4EBD-0F1F-91951BC1F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2F77283-8EC7-F712-70D1-7EC567CD8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8C35CC-2CCF-0E69-0037-1C40D4A0B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00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6DF8B-F5D8-A8ED-7F79-037325E7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0CE993-ECD3-B5F9-12A7-6E08AFD23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20FA23B-08C2-0F00-62C0-C4CD33AEA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CBB30E-EDFA-2DD8-C365-C8A3A924F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38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B9FB0-FC29-A8D2-F62B-9F789A9E7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A914168-41CC-1184-08FC-FF404A383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811FF71-7FF2-7B16-3A41-738EFF4AB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335E8E-A8FB-EE54-5BA6-EFAB2F6BD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67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A72FE-4B1C-BEF7-9BC0-D500659DC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4B812A-6F7A-EB9C-A4EA-10EF9CB6A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DFB30CF-6D74-C67B-0496-2D4A5C511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C09536-97A6-3BA7-C193-F4171DDA5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06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7256-A4F9-4E0F-23E4-B7330B1D1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CAC42B6-F462-04BF-2011-35872D478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6D419B6-A2F8-DA7E-4DC0-9E419163A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0FD088-C219-D724-3E96-573EA1C68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185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40A7C-91E0-E374-8B08-3CEFD265E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DC9CFDA-F0F9-D004-B6E6-E739474C6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6F8498C-9A7D-E8C6-5C7F-778008C3A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01DDC9-D117-4D49-BEF0-84BD8B6D63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52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F4717-3722-D934-C21B-B8CC46516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E661B13-C2D2-1358-7A03-C86AF502A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4E63B09-6421-BB39-F346-7926A0630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9B480E-D91F-EE80-7896-D515E3481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48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DD9C8-433B-04C1-6008-44FA97798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837578C-AD87-B449-42FB-B884D1D98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91FEA00-0293-E7B1-AB63-50B49FC1D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6A3C83-D71C-97A3-8555-964938498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06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EDF85-6A00-196F-085A-EC1868301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8319944-EA61-4FA6-F06C-FD2C4497A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5EDE03E-22E0-2544-0B90-807DCBB16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C02BED-BE07-EC23-5C3F-D141E2865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97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E19DD-7293-228D-5E1D-A01F9C8B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4A0B7D9-E2DC-1F87-8149-BDB1F0386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3BBA4B-5FC0-B160-E820-CB58DEF26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ADB397-0DC3-332C-EA1F-C86D9EB23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787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7C3B1-CBDC-5452-6FD7-007B59D4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8616CA3-6311-FC98-4B38-FC01FE46D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D8EA75-9A48-CD83-C830-18740359A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F4E547-DE88-6F66-A8A7-CB9D0D82A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317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D23A8-64C5-DD4F-9286-708D244A3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E4EBBED-D1D7-99C5-8225-FDC6F8017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0C482D7-EC63-B515-37E9-B32A33938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B8F720-DECA-54B3-DEED-275E74B84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027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E09C5-CF8E-7BFF-A008-5179F90DE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62B4A6-D16D-6852-C1FC-C0B698C9D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E765DB5-C020-E050-5C1C-B572B4400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C36609-A664-358C-0E55-8681300AF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519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57477-145C-762F-2B8F-7D5AFA1E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7B24E39-D5E9-A72A-80F4-EAE15C665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290BD36-A082-0E95-73C1-064C31032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3F0DEF-C97C-A5ED-F11E-45195B452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703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3D1D2-664D-104F-7605-8E67D931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B5656A9-501E-EBD6-AD6A-298A8077D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45EFAB6-A57F-2C2B-4736-D2021DE0C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A91BDB-60AC-3DFF-33FC-3383079A2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875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90AB-8A4D-47F5-7F67-30645C20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5D73A1F-0981-DDEB-C10A-1FDDAB2AF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0B9B0B9-8C5E-CFE5-03A7-07A66644D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FB579E-9ACB-E32C-D7D8-FB6F0C44F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784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6EB37-4348-3173-4BC4-4F4DAC2F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BE0F59A-A5AC-BFFB-ADD0-1FBAA5EE3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16F3F2E-3868-3C93-EBDB-51A38A636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1510F9-F209-32A1-9AB7-04DA937C9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069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9AADB-766D-C360-FF55-AB6F46C19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18A0D25-6ECE-EC35-99D2-E5D2B289A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D5FB737-7B90-FDE3-312F-C8FDCC873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D96EA0-1CBC-4C79-C24E-2F5F39B88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55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0863E-B413-A5D4-DDD8-CA9890D48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A1B69C-1415-B9F1-DEFA-C378EB425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42E2C52-65D1-6250-6421-06E97887B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6FD02A8-02B8-CB21-9CCA-CF0C6FF79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1428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AFA4D-0650-7F0F-DBD9-3CE5EA447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99F16F1-2197-29AB-8503-E79F14359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9D411F7-E046-9088-A464-FDA8F2588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6DE79B-B1CA-37CF-0EBB-059FE4E6D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689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61031-8291-2E65-0687-BA7B9670B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A41F77C-D9EF-555E-7409-CCBC0F260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0F14E43-272F-F85C-A875-794B32E60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028D3C-962D-AA30-D1A7-F90665204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468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DD4C0-363D-AAD1-5A3D-D5721520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A3508DB-13A6-DA19-AD0F-23769FFE8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9E97C6-BE1C-8736-809C-B6590B0AC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BE5024-EA5F-3C77-B1A3-B330C1EBF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201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3748D-12D0-C5DE-1ED8-3863581C4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A1B1DD5-F558-D38D-DE21-9C567570A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620949-5899-4505-480C-77EE0F4BB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63A34C-0668-4AE9-F5EF-977A306D8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873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EE114-33E0-1A7E-E8AD-1DA63810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2E3F37-94AF-3AC1-1D80-8192424E4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0EA1BE1-4908-FDDE-EE42-BABFA3434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F8BA4E-0524-EC6A-9A74-535BFB855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132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B4FD6-8C8C-FB4B-51AD-BAD49C0C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91629E-0548-B4A6-89AD-8B6C949D0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C479840-A276-D8A5-2C9B-D2E124467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960378-2CFC-40E3-FDBA-627DF86A1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0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E70B2-0E91-14B4-DE7A-C5DCE44AD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69BE44E-F5ED-AC25-1601-89F0E681C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A9A55BA-8306-4BC5-8EB3-400527793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4F2989-3D41-E6D3-902D-0399B25D8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131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3FD0E-4863-42B3-42B1-E464E90C6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1B9EAFF-8A44-A9DB-DEAA-5C4E5E715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8DA2BC1-2CD9-585E-33B0-52DFF27FB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33F9EB-6F46-517C-21FD-67E617AE5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311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6964D-E677-B3FA-4C73-EE9FDE4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C5707F1-BB33-2265-8E39-C752B3380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BA551C4-36F1-FA7A-EC41-70D87ECD1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A6AD80-6C4F-4219-71F1-AEFE2D204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2278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731E2-8314-F65A-8218-CD5D5C326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85E64A2-836A-C487-E975-19A94398D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98BAB7A-8F73-4527-CE14-C41384350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FACD7D-ABB1-2572-8EFF-626D6376A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136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F0AA-7391-D483-F69C-A3696A1F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46F334F-99AB-628C-8FAC-DBFFBB0B3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09BABE4-7448-F92B-8383-FCDBC76A8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B4AFF5-E5F2-1822-0ADE-3481CD2B8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854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2984-E36A-EBE8-F4DF-3801B7B4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00DFF8B-1DD4-85A8-BCDB-7316E7839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8206344-D9D3-6956-5360-A96BC7B1B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69E0058-70A8-53D8-01CC-6E7C5861A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175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1D0F4-9E5B-0496-01FB-6D1716ED3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0DF1338-12D9-D8AA-A67C-F9E416C68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3540621-D706-756A-EFFF-495D3FCC0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A6F48D-628A-9BE6-576A-726B84165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25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0.png"/><Relationship Id="rId9" Type="http://schemas.openxmlformats.org/officeDocument/2006/relationships/image" Target="../media/image7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Gen CV</a:t>
            </a:r>
            <a:r>
              <a:rPr lang="en-US" sz="4400">
                <a:solidFill>
                  <a:schemeClr val="bg1"/>
                </a:solidFill>
              </a:rPr>
              <a:t>: Basic</a:t>
            </a:r>
            <a:br>
              <a:rPr lang="ru-RU" sz="4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Современные архитектуры нейронных сетей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699D-32BF-28F7-677B-B620D7047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5443E-CF34-0568-2777-4EC79075A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Применение </a:t>
            </a:r>
            <a:r>
              <a:rPr lang="en-US" sz="3000" dirty="0"/>
              <a:t>Gen CV</a:t>
            </a:r>
            <a:endParaRPr lang="ru-RU" sz="3000" dirty="0"/>
          </a:p>
        </p:txBody>
      </p:sp>
      <p:pic>
        <p:nvPicPr>
          <p:cNvPr id="1026" name="Picture 2" descr="Midjourney V7 has arrived: Here's everything you need to know | Tom's Guide">
            <a:extLst>
              <a:ext uri="{FF2B5EF4-FFF2-40B4-BE49-F238E27FC236}">
                <a16:creationId xmlns:a16="http://schemas.microsoft.com/office/drawing/2014/main" id="{CA14013F-0A09-A2B1-A178-A2E89075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68769"/>
            <a:ext cx="3789680" cy="2130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еце">
            <a:hlinkClick r:id="" action="ppaction://media"/>
            <a:extLst>
              <a:ext uri="{FF2B5EF4-FFF2-40B4-BE49-F238E27FC236}">
                <a16:creationId xmlns:a16="http://schemas.microsoft.com/office/drawing/2014/main" id="{5D1656D4-EF14-544F-08B4-09467271978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66256" y="1668769"/>
            <a:ext cx="3872944" cy="2130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424142-0A59-818A-D560-36CC4CE2464B}"/>
              </a:ext>
            </a:extLst>
          </p:cNvPr>
          <p:cNvSpPr txBox="1"/>
          <p:nvPr/>
        </p:nvSpPr>
        <p:spPr>
          <a:xfrm>
            <a:off x="1301750" y="3873500"/>
            <a:ext cx="2730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 generation</a:t>
            </a:r>
          </a:p>
          <a:p>
            <a:pPr algn="ctr"/>
            <a:r>
              <a:rPr lang="en-US" dirty="0"/>
              <a:t>(Midjourney v7)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66787-CA85-8747-9C84-132659E53EEA}"/>
              </a:ext>
            </a:extLst>
          </p:cNvPr>
          <p:cNvSpPr txBox="1"/>
          <p:nvPr/>
        </p:nvSpPr>
        <p:spPr>
          <a:xfrm>
            <a:off x="5537478" y="3867150"/>
            <a:ext cx="2730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Video generation</a:t>
            </a:r>
          </a:p>
          <a:p>
            <a:pPr algn="ctr"/>
            <a:r>
              <a:rPr lang="en-US" dirty="0"/>
              <a:t>(Sora 2)</a:t>
            </a:r>
          </a:p>
        </p:txBody>
      </p:sp>
    </p:spTree>
    <p:extLst>
      <p:ext uri="{BB962C8B-B14F-4D97-AF65-F5344CB8AC3E}">
        <p14:creationId xmlns:p14="http://schemas.microsoft.com/office/powerpoint/2010/main" val="172374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6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347E1-C507-7F59-BA54-7DC8C379C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23C06-60CB-B356-8F36-E18987609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ru-RU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Что такое распределение?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C8C570-7841-9921-BFC5-C7FB929F3987}"/>
                  </a:ext>
                </a:extLst>
              </p:cNvPr>
              <p:cNvSpPr txBox="1"/>
              <p:nvPr/>
            </p:nvSpPr>
            <p:spPr>
              <a:xfrm>
                <a:off x="590550" y="1079501"/>
                <a:ext cx="7670800" cy="2902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В статистике и машинном обучении </a:t>
                </a:r>
                <a:r>
                  <a:rPr lang="ru-RU" sz="1400" b="1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распределение вероятностей (</a:t>
                </a:r>
                <a:r>
                  <a:rPr lang="en-US" sz="1400" b="1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distribution)</a:t>
                </a:r>
                <a:r>
                  <a:rPr lang="en-US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ru-RU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описывает,</a:t>
                </a:r>
                <a:br>
                  <a:rPr lang="ru-RU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</a:br>
                <a:r>
                  <a:rPr lang="ru-RU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насколько вероятны разные значения случайной величины </a:t>
                </a:r>
                <a:r>
                  <a:rPr lang="en-US" sz="1400" b="1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x</a:t>
                </a:r>
                <a:r>
                  <a:rPr lang="en-US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.</a:t>
                </a:r>
              </a:p>
              <a:p>
                <a:endParaRPr lang="en-US" sz="1400" dirty="0">
                  <a:latin typeface="Golos Text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endParaRPr lang="en-US" sz="1400" dirty="0">
                  <a:latin typeface="Golos Text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r>
                  <a:rPr lang="ru-RU" sz="1400" b="1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Пример</a:t>
                </a:r>
                <a:r>
                  <a:rPr lang="ru-RU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: если </a:t>
                </a:r>
                <a:r>
                  <a:rPr lang="en-US" sz="1400" b="1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x</a:t>
                </a:r>
                <a:r>
                  <a:rPr lang="en-US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 — </a:t>
                </a:r>
                <a:r>
                  <a:rPr lang="ru-RU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рост человека, распределение показывает,</a:t>
                </a:r>
                <a:br>
                  <a:rPr lang="ru-RU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</a:br>
                <a:r>
                  <a:rPr lang="ru-RU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с какой вероятностью встретится человек ростом 160, 170 или 180 см.</a:t>
                </a:r>
                <a:endParaRPr lang="en-US" sz="1400" dirty="0">
                  <a:latin typeface="Golos Text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endParaRPr lang="en-US" sz="1400" dirty="0">
                  <a:latin typeface="Golos Text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endParaRPr lang="ru-RU" sz="1400" dirty="0">
                  <a:latin typeface="Golos Text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r>
                  <a:rPr lang="ru-RU" sz="1400" b="1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Формально</a:t>
                </a:r>
                <a:r>
                  <a:rPr lang="ru-RU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: распределение описывается </a:t>
                </a:r>
                <a:r>
                  <a:rPr lang="ru-RU" sz="1400" b="1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функцией плотности вероятности</a:t>
                </a:r>
                <a:r>
                  <a:rPr lang="en-US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400" dirty="0">
                    <a:latin typeface="Golos Text"/>
                    <a:ea typeface="Roboto" panose="02000000000000000000" pitchFamily="2" charset="0"/>
                  </a:rPr>
                  <a:t>, </a:t>
                </a:r>
                <a:r>
                  <a:rPr lang="ru-RU" sz="1400" dirty="0">
                    <a:latin typeface="Golos Text"/>
                    <a:ea typeface="Roboto" panose="02000000000000000000" pitchFamily="2" charset="0"/>
                    <a:cs typeface="Roboto" panose="02000000000000000000" pitchFamily="2" charset="0"/>
                  </a:rPr>
                  <a:t>где</a:t>
                </a:r>
                <a:endParaRPr lang="en-US" sz="1400" dirty="0">
                  <a:latin typeface="Golos Text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endParaRPr lang="ru-RU" sz="1400" dirty="0">
                  <a:latin typeface="Golos Text"/>
                  <a:ea typeface="Roboto" panose="02000000000000000000" pitchFamily="2" charset="0"/>
                  <a:cs typeface="Roboto" panose="02000000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ar-AE" sz="1400" i="1">
                          <a:latin typeface="Golos Text"/>
                          <a:ea typeface="Roboto" panose="02000000000000000000" pitchFamily="2" charset="0"/>
                        </a:rPr>
                        <m:t> </m:t>
                      </m:r>
                      <m:r>
                        <a:rPr lang="ar-AE" sz="14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ar-AE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1400" b="0" dirty="0">
                  <a:latin typeface="Golos Text"/>
                  <a:ea typeface="Roboto" panose="02000000000000000000" pitchFamily="2" charset="0"/>
                </a:endParaRPr>
              </a:p>
              <a:p>
                <a:endParaRPr lang="en-US" sz="1400" dirty="0">
                  <a:latin typeface="Golos Text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C8C570-7841-9921-BFC5-C7FB929F3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50" y="1079501"/>
                <a:ext cx="7670800" cy="2902782"/>
              </a:xfrm>
              <a:prstGeom prst="rect">
                <a:avLst/>
              </a:prstGeom>
              <a:blipFill>
                <a:blip r:embed="rId3"/>
                <a:stretch>
                  <a:fillRect l="-238" t="-420" b="-34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23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40E7B-7367-D200-8954-DE2784A3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C33696-8268-0D4B-649E-41E4EB08A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ru-RU" sz="2800" dirty="0"/>
              <a:t>Примеры распределений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7617E8-089A-687E-35C2-71E4A1CDCFFB}"/>
                  </a:ext>
                </a:extLst>
              </p:cNvPr>
              <p:cNvSpPr txBox="1"/>
              <p:nvPr/>
            </p:nvSpPr>
            <p:spPr>
              <a:xfrm>
                <a:off x="355600" y="846420"/>
                <a:ext cx="7670800" cy="3233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/>
                  <a:t>1️⃣ </a:t>
                </a:r>
                <a:r>
                  <a:rPr lang="ru-RU" sz="1200" b="1" dirty="0"/>
                  <a:t>Нормальное распределение (</a:t>
                </a:r>
                <a:r>
                  <a:rPr lang="en-US" sz="1200" b="1" dirty="0"/>
                  <a:t>Gaussian)</a:t>
                </a: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sSup>
                        <m:sSup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endChr m:val=""/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sSup>
                                    <m:sSupPr>
                                      <m:ctrlPr>
                                        <a:rPr lang="ar-AE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120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2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ru-RU" sz="1200" dirty="0"/>
              </a:p>
              <a:p>
                <a:endParaRPr lang="ru-RU" sz="1200" dirty="0"/>
              </a:p>
              <a:p>
                <a:endParaRPr lang="ru-RU" sz="1200" dirty="0"/>
              </a:p>
              <a:p>
                <a:endParaRPr lang="ru-RU" sz="1200" dirty="0"/>
              </a:p>
              <a:p>
                <a:r>
                  <a:rPr lang="ru-RU" sz="1200" dirty="0"/>
                  <a:t>2️⃣ </a:t>
                </a:r>
                <a:r>
                  <a:rPr lang="ru-RU" sz="1200" b="1" dirty="0"/>
                  <a:t>Равномерное распределение (</a:t>
                </a:r>
                <a:r>
                  <a:rPr lang="en-US" sz="1200" b="1" dirty="0"/>
                  <a:t>Uniform)</a:t>
                </a: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2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ar-AE" sz="12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lang="ar-AE" sz="12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sz="12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ar-AE" sz="120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ar-AE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 sz="120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ar-AE" sz="12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12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120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ru-RU" sz="1200" i="1"/>
                                  <m:t>иначе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200" dirty="0"/>
              </a:p>
              <a:p>
                <a:endParaRPr lang="ru-RU" sz="1200" dirty="0"/>
              </a:p>
              <a:p>
                <a:endParaRPr lang="ru-RU" sz="1200" dirty="0"/>
              </a:p>
              <a:p>
                <a:endParaRPr lang="ru-RU" sz="1200" dirty="0"/>
              </a:p>
              <a:p>
                <a:endParaRPr lang="ru-RU" sz="1200" dirty="0"/>
              </a:p>
              <a:p>
                <a:r>
                  <a:rPr lang="ru-RU" sz="1200" dirty="0"/>
                  <a:t>3️⃣ </a:t>
                </a:r>
                <a:r>
                  <a:rPr lang="ru-RU" sz="1200" b="1" dirty="0"/>
                  <a:t>Дельта-распределение Дирака (</a:t>
                </a:r>
                <a:r>
                  <a:rPr lang="en-US" sz="1200" b="1" dirty="0"/>
                  <a:t>Dirac delta distribution)</a:t>
                </a: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7617E8-089A-687E-35C2-71E4A1CDC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" y="846420"/>
                <a:ext cx="7670800" cy="3233321"/>
              </a:xfrm>
              <a:prstGeom prst="rect">
                <a:avLst/>
              </a:prstGeom>
              <a:blipFill>
                <a:blip r:embed="rId3"/>
                <a:stretch>
                  <a:fillRect t="-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Нормальные распределения» — Яндекс Кью">
            <a:extLst>
              <a:ext uri="{FF2B5EF4-FFF2-40B4-BE49-F238E27FC236}">
                <a16:creationId xmlns:a16="http://schemas.microsoft.com/office/drawing/2014/main" id="{F6D8DA11-9066-FE9C-088C-B1DCA9FA0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7" y="905469"/>
            <a:ext cx="2089150" cy="95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Непрерывное равномерное распределение — Википедия">
            <a:extLst>
              <a:ext uri="{FF2B5EF4-FFF2-40B4-BE49-F238E27FC236}">
                <a16:creationId xmlns:a16="http://schemas.microsoft.com/office/drawing/2014/main" id="{40F8C1EE-8287-CC94-110B-568BF57DD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526" y="2150263"/>
            <a:ext cx="1754112" cy="1147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Дельта-функция — Википедия">
            <a:extLst>
              <a:ext uri="{FF2B5EF4-FFF2-40B4-BE49-F238E27FC236}">
                <a16:creationId xmlns:a16="http://schemas.microsoft.com/office/drawing/2014/main" id="{BDC3646B-2D09-B0A4-DDCD-AAC4C68A2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526" y="3502969"/>
            <a:ext cx="1952625" cy="147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E6CD92-D9C5-2F42-7CC0-E8E5CB0BE4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3854" y="4143948"/>
            <a:ext cx="1225646" cy="62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15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8B9A1-74DC-8954-C743-8097D344F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55BD6-DF3E-C788-59E0-522DB6ECD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ru-RU" sz="2800" dirty="0"/>
              <a:t>Важные формулы 1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0EA9A8-306C-4ADC-FEC9-A58D764D7540}"/>
                  </a:ext>
                </a:extLst>
              </p:cNvPr>
              <p:cNvSpPr txBox="1"/>
              <p:nvPr/>
            </p:nvSpPr>
            <p:spPr>
              <a:xfrm>
                <a:off x="609599" y="1079501"/>
                <a:ext cx="7670800" cy="3574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Law of the unconscious statistician (LOTUS)</a:t>
                </a:r>
              </a:p>
              <a:p>
                <a:r>
                  <a:rPr lang="ru-RU" sz="1200" dirty="0"/>
                  <a:t>Пусть </a:t>
                </a:r>
                <a:r>
                  <a:rPr lang="en-US" sz="1200" b="1" dirty="0"/>
                  <a:t>x</a:t>
                </a:r>
                <a:r>
                  <a:rPr lang="en-US" sz="1200" dirty="0"/>
                  <a:t> — </a:t>
                </a:r>
                <a:r>
                  <a:rPr lang="ru-RU" sz="1200" dirty="0"/>
                  <a:t>случайная величина с плотностью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200" dirty="0"/>
                  <a:t>,</a:t>
                </a:r>
                <a:r>
                  <a:rPr lang="ru-RU" sz="1200" dirty="0"/>
                  <a:t> и пусть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200" dirty="0"/>
                  <a:t>с плотностью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sz="1200" dirty="0"/>
                  <a:t>. </a:t>
                </a:r>
                <a:r>
                  <a:rPr lang="ru-RU" sz="1200" dirty="0"/>
                  <a:t>Тогда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sub>
                      </m:sSub>
                      <m:r>
                        <a:rPr lang="ar-AE" sz="1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sz="1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sub>
                      </m:sSub>
                      <m:r>
                        <a:rPr lang="ar-AE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1200" b="0" dirty="0"/>
              </a:p>
              <a:p>
                <a:endParaRPr lang="ar-AE" sz="1200" b="0" dirty="0"/>
              </a:p>
              <a:p>
                <a:r>
                  <a:rPr lang="ru-RU" sz="1200" dirty="0"/>
                  <a:t>Закон неосознанного статистика (</a:t>
                </a:r>
                <a:r>
                  <a:rPr lang="en-US" sz="1200" dirty="0"/>
                  <a:t>LOTUS) </a:t>
                </a:r>
                <a:r>
                  <a:rPr lang="ru-RU" sz="1200" dirty="0"/>
                  <a:t>говорит, что</a:t>
                </a:r>
                <a:br>
                  <a:rPr lang="ru-RU" sz="1200" dirty="0"/>
                </a:br>
                <a:r>
                  <a:rPr lang="ru-RU" sz="1200" b="1" dirty="0"/>
                  <a:t>матожидание функции от случайной величины можно считать по распределению самой случайной величины</a:t>
                </a:r>
                <a:r>
                  <a:rPr lang="ru-RU" sz="1200" dirty="0"/>
                  <a:t>,</a:t>
                </a:r>
                <a:br>
                  <a:rPr lang="ru-RU" sz="1200" dirty="0"/>
                </a:br>
                <a:r>
                  <a:rPr lang="ru-RU" sz="1200" dirty="0"/>
                  <a:t>даже если распределение функции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200" dirty="0"/>
                  <a:t> неизвестно.</a:t>
                </a:r>
              </a:p>
              <a:p>
                <a:br>
                  <a:rPr lang="ru-RU" sz="1200" dirty="0"/>
                </a:br>
                <a:endParaRPr lang="ru-RU" sz="1200" dirty="0"/>
              </a:p>
              <a:p>
                <a:r>
                  <a:rPr lang="en-US" sz="1200" b="1" dirty="0"/>
                  <a:t>Monte-Carlo estimation</a:t>
                </a:r>
              </a:p>
              <a:p>
                <a:r>
                  <a:rPr lang="ru-RU" sz="1200" dirty="0"/>
                  <a:t>Математическое ожидание можно оценить, используя только выборку: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ar-AE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1200" b="0" i="0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ru-RU" sz="1200" i="1"/>
                        <m:t>где 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20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1200" b="0" dirty="0"/>
              </a:p>
              <a:p>
                <a:endParaRPr lang="ar-AE" sz="1200" b="0" dirty="0"/>
              </a:p>
              <a:p>
                <a:r>
                  <a:rPr lang="ru-RU" sz="1200" dirty="0"/>
                  <a:t>Метод Монте-Карло позволяет приближённо вычислить интегралы, используя случайные выборки из распределения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200" dirty="0"/>
                  <a:t>.</a:t>
                </a:r>
              </a:p>
              <a:p>
                <a:endParaRPr lang="en-US" sz="1200" dirty="0">
                  <a:latin typeface="Golos Text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0EA9A8-306C-4ADC-FEC9-A58D764D7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1079501"/>
                <a:ext cx="7670800" cy="3574055"/>
              </a:xfrm>
              <a:prstGeom prst="rect">
                <a:avLst/>
              </a:prstGeom>
              <a:blipFill>
                <a:blip r:embed="rId2"/>
                <a:stretch>
                  <a:fillRect t="-10580" b="-7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EA2C5C5-845C-2023-D465-FD49E1FB6CA2}"/>
              </a:ext>
            </a:extLst>
          </p:cNvPr>
          <p:cNvSpPr/>
          <p:nvPr/>
        </p:nvSpPr>
        <p:spPr>
          <a:xfrm>
            <a:off x="657859" y="2046676"/>
            <a:ext cx="7524750" cy="62582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E166F1-E15C-09F3-F589-EB033AB2E6BD}"/>
              </a:ext>
            </a:extLst>
          </p:cNvPr>
          <p:cNvSpPr/>
          <p:nvPr/>
        </p:nvSpPr>
        <p:spPr>
          <a:xfrm>
            <a:off x="657859" y="3969877"/>
            <a:ext cx="7524750" cy="50687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06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26901-943A-61D0-CF51-DF9F952C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4E91E0-4C6A-53DE-2953-BCD1C0A5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ru-RU" sz="2800" dirty="0"/>
              <a:t>Важные формулы 2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36A3C1-646F-A74A-1D6A-EA346A094A10}"/>
                  </a:ext>
                </a:extLst>
              </p:cNvPr>
              <p:cNvSpPr txBox="1"/>
              <p:nvPr/>
            </p:nvSpPr>
            <p:spPr>
              <a:xfrm>
                <a:off x="609599" y="1079501"/>
                <a:ext cx="7670800" cy="3460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Jensen’s Inequality</a:t>
                </a:r>
              </a:p>
              <a:p>
                <a:pPr/>
                <a:r>
                  <a:rPr lang="ru-RU" sz="1200" dirty="0"/>
                  <a:t>Пусть </a:t>
                </a:r>
                <a:r>
                  <a:rPr lang="en-US" sz="1200" b="1" dirty="0"/>
                  <a:t>x</a:t>
                </a:r>
                <a:r>
                  <a:rPr lang="en-US" sz="1200" dirty="0"/>
                  <a:t> — </a:t>
                </a:r>
                <a:r>
                  <a:rPr lang="ru-RU" sz="1200" dirty="0"/>
                  <a:t>случайная величина, а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b="1" dirty="0"/>
                  <a:t>выпуклая функция</a:t>
                </a:r>
                <a:br>
                  <a:rPr lang="ru-RU" sz="1200" dirty="0"/>
                </a:br>
                <a:r>
                  <a:rPr lang="ru-RU" sz="1200" dirty="0">
                    <a:solidFill>
                      <a:schemeClr val="bg2">
                        <a:lumMod val="75000"/>
                      </a:schemeClr>
                    </a:solidFill>
                  </a:rPr>
                  <a:t>(то есть функция, для которой выполняется условие</a:t>
                </a:r>
                <a:br>
                  <a:rPr lang="ru-RU" sz="1200" dirty="0">
                    <a:solidFill>
                      <a:schemeClr val="bg2">
                        <a:lumMod val="75000"/>
                      </a:schemeClr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2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ar-AE" sz="12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20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ar-AE" sz="12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20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2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sSub>
                            <m:sSubPr>
                              <m:ctrlPr>
                                <a:rPr lang="ar-AE" sz="12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120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ar-AE" sz="120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2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12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20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12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ar-AE" sz="1200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200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ar-AE" sz="1200" dirty="0">
                    <a:solidFill>
                      <a:schemeClr val="bg2">
                        <a:lumMod val="75000"/>
                      </a:schemeClr>
                    </a:solidFill>
                  </a:rPr>
                </a:br>
                <a:r>
                  <a:rPr lang="ru-RU" sz="1200" dirty="0">
                    <a:solidFill>
                      <a:schemeClr val="bg2">
                        <a:lumMod val="75000"/>
                      </a:schemeClr>
                    </a:solidFill>
                  </a:rPr>
                  <a:t>для всех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20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120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2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20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200" dirty="0">
                    <a:solidFill>
                      <a:schemeClr val="bg2">
                        <a:lumMod val="75000"/>
                      </a:schemeClr>
                    </a:solidFill>
                  </a:rPr>
                  <a:t>и </a:t>
                </a:r>
                <a14:m>
                  <m:oMath xmlns:m="http://schemas.openxmlformats.org/officeDocument/2006/math">
                    <m:r>
                      <a:rPr lang="ru-RU" sz="1200" i="1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sz="120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200" i="1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>
                            <a:solidFill>
                              <a:schemeClr val="bg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1200" dirty="0">
                    <a:solidFill>
                      <a:schemeClr val="bg2">
                        <a:lumMod val="75000"/>
                      </a:schemeClr>
                    </a:solidFill>
                  </a:rPr>
                  <a:t>.</a:t>
                </a:r>
                <a:r>
                  <a:rPr lang="ru-RU" sz="1200" dirty="0">
                    <a:solidFill>
                      <a:schemeClr val="bg2">
                        <a:lumMod val="75000"/>
                      </a:schemeClr>
                    </a:solidFill>
                  </a:rPr>
                  <a:t>)</a:t>
                </a:r>
              </a:p>
              <a:p>
                <a:endParaRPr lang="ru-RU" sz="1200" dirty="0"/>
              </a:p>
              <a:p>
                <a:r>
                  <a:rPr lang="ru-RU" sz="1200" dirty="0"/>
                  <a:t>Тогда выполняется неравенство: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1200" dirty="0"/>
              </a:p>
              <a:p>
                <a:endParaRPr lang="ru-RU" sz="1200" dirty="0"/>
              </a:p>
              <a:p>
                <a:r>
                  <a:rPr lang="ru-RU" sz="1200" dirty="0"/>
                  <a:t>Интуитивно: </a:t>
                </a:r>
                <a:r>
                  <a:rPr lang="ru-RU" sz="1200" b="1" dirty="0"/>
                  <a:t>функция от среднего ≤ среднее от функции</a:t>
                </a:r>
                <a:r>
                  <a:rPr lang="ru-RU" sz="1200" dirty="0"/>
                  <a:t>, если функция выпуклая.</a:t>
                </a:r>
              </a:p>
              <a:p>
                <a:br>
                  <a:rPr lang="ru-RU" sz="1200" dirty="0"/>
                </a:br>
                <a:endParaRPr lang="ru-RU" sz="1200" dirty="0"/>
              </a:p>
              <a:p>
                <a:r>
                  <a:rPr lang="en-US" sz="1200" b="1" dirty="0"/>
                  <a:t>Decomposition to conditionals</a:t>
                </a:r>
              </a:p>
              <a:p>
                <a:r>
                  <a:rPr lang="ru-RU" sz="1200" dirty="0"/>
                  <a:t>Пусть </a:t>
                </a:r>
                <a14:m>
                  <m:oMath xmlns:m="http://schemas.openxmlformats.org/officeDocument/2006/math">
                    <m:r>
                      <a:rPr lang="ru-RU" sz="12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sz="120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ar-AE" sz="120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2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ar-AE" sz="1200" dirty="0"/>
                  <a:t>— </a:t>
                </a:r>
                <a:r>
                  <a:rPr lang="ru-RU" sz="1200" dirty="0"/>
                  <a:t>случайная величина. Тогда: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,"/>
                          <m:ctrlPr>
                            <a:rPr lang="ar-AE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1200" b="0" dirty="0"/>
              </a:p>
              <a:p>
                <a:endParaRPr lang="ru-RU" sz="1200" dirty="0"/>
              </a:p>
              <a:p>
                <a:r>
                  <a:rPr lang="ru-RU" sz="1200" dirty="0"/>
                  <a:t>Это правило разложения вероятности:</a:t>
                </a:r>
                <a:br>
                  <a:rPr lang="ru-RU" sz="1200" dirty="0"/>
                </a:br>
                <a:r>
                  <a:rPr lang="ru-RU" sz="1200" dirty="0"/>
                  <a:t>сложное распределение можно выразить через произведение условных вероятностей.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36A3C1-646F-A74A-1D6A-EA346A094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1079501"/>
                <a:ext cx="7670800" cy="3460306"/>
              </a:xfrm>
              <a:prstGeom prst="rect">
                <a:avLst/>
              </a:prstGeom>
              <a:blipFill>
                <a:blip r:embed="rId2"/>
                <a:stretch>
                  <a:fillRect b="-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1A39AB6-1FF4-B43E-A1FA-321AA47950CE}"/>
              </a:ext>
            </a:extLst>
          </p:cNvPr>
          <p:cNvSpPr/>
          <p:nvPr/>
        </p:nvSpPr>
        <p:spPr>
          <a:xfrm>
            <a:off x="682624" y="2662461"/>
            <a:ext cx="7524750" cy="50687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F0EAB8-19D1-9C43-63F5-C8B6D69A60A6}"/>
              </a:ext>
            </a:extLst>
          </p:cNvPr>
          <p:cNvSpPr/>
          <p:nvPr/>
        </p:nvSpPr>
        <p:spPr>
          <a:xfrm>
            <a:off x="682624" y="4063999"/>
            <a:ext cx="7524750" cy="50687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A4F13-63FF-C101-74CC-D48DBF90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29EAD-7B19-8A72-C4D4-91571B7F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 fontScale="90000"/>
          </a:bodyPr>
          <a:lstStyle/>
          <a:p>
            <a:r>
              <a:rPr lang="ru-RU" sz="2800" dirty="0"/>
              <a:t>Постановка задачи генеративного моделирования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ECEF-FE23-5C00-DECD-FDE3D6F91F94}"/>
              </a:ext>
            </a:extLst>
          </p:cNvPr>
          <p:cNvSpPr txBox="1"/>
          <p:nvPr/>
        </p:nvSpPr>
        <p:spPr>
          <a:xfrm>
            <a:off x="590550" y="1079501"/>
            <a:ext cx="7670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Нам даны независимые и одинаково распределённые выборки {xᵢ}ᵢ₌₁ⁿ ∈ 𝓧 (например, 𝓧 = ℝᵐ) из неизвестного распределения π(x).</a:t>
            </a:r>
          </a:p>
          <a:p>
            <a:b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</a:br>
            <a:endParaRPr lang="ru-RU" sz="1400" dirty="0">
              <a:latin typeface="Golos Text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1400" b="1" dirty="0" err="1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Goal</a:t>
            </a:r>
            <a:endParaRPr lang="ru-RU" sz="1400" b="1" dirty="0">
              <a:latin typeface="Golos Text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Мы хотим обучить распределение </a:t>
            </a:r>
            <a:r>
              <a:rPr lang="ru-RU" sz="1400" b="1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π(x) </a:t>
            </a:r>
            <a: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для:</a:t>
            </a:r>
          </a:p>
          <a:p>
            <a:r>
              <a:rPr lang="en-US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оценки π(x) для новых выборок (насколько вероятно получить объект </a:t>
            </a:r>
            <a:r>
              <a:rPr lang="ru-RU" sz="1400" b="1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x</a:t>
            </a:r>
            <a: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);</a:t>
            </a:r>
          </a:p>
          <a:p>
            <a:r>
              <a:rPr lang="en-US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выборки из π(x) (чтобы получить новые объекты </a:t>
            </a:r>
            <a:r>
              <a:rPr lang="ru-RU" sz="1400" b="1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x ∼ π(x)</a:t>
            </a:r>
            <a: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  <a:p>
            <a:b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</a:br>
            <a:endParaRPr lang="ru-RU" sz="1400" dirty="0">
              <a:latin typeface="Golos Text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ru-RU" sz="1400" b="1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Challenge</a:t>
            </a:r>
          </a:p>
          <a:p>
            <a:r>
              <a:rPr lang="en-US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Данные являются сложными и </a:t>
            </a:r>
            <a:r>
              <a:rPr lang="ru-RU" sz="1400" dirty="0" err="1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высокоразмерными</a:t>
            </a:r>
            <a: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b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- </a:t>
            </a:r>
            <a: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Например, набор изображений лежит в пространстве 𝓧 ⊂ ℝ^(</a:t>
            </a:r>
            <a:r>
              <a:rPr lang="ru-RU" sz="1400" dirty="0" err="1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width×height×channels</a:t>
            </a:r>
            <a:r>
              <a:rPr lang="ru-RU" sz="1400" dirty="0">
                <a:latin typeface="Golos Text"/>
                <a:ea typeface="Roboto" panose="02000000000000000000" pitchFamily="2" charset="0"/>
                <a:cs typeface="Roboto" panose="02000000000000000000" pitchFamily="2" charset="0"/>
              </a:rPr>
              <a:t>).</a:t>
            </a:r>
          </a:p>
          <a:p>
            <a:endParaRPr lang="en-US" dirty="0">
              <a:latin typeface="Golos Text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89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D1388-08BA-7B02-150C-F6B296ED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F935D-E504-1494-AB68-D192332FC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 fontScale="90000"/>
          </a:bodyPr>
          <a:lstStyle/>
          <a:p>
            <a:r>
              <a:rPr lang="ru-RU" sz="2800" dirty="0"/>
              <a:t>Постановка задачи генеративного моделирования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207BAD-B9E7-ACBD-B75A-8ED728C429D3}"/>
                  </a:ext>
                </a:extLst>
              </p:cNvPr>
              <p:cNvSpPr txBox="1"/>
              <p:nvPr/>
            </p:nvSpPr>
            <p:spPr>
              <a:xfrm>
                <a:off x="512172" y="1177472"/>
                <a:ext cx="8540388" cy="3287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/>
                  <a:t>Зафиксируем вероятностную модель </a:t>
                </a:r>
                <a14:m>
                  <m:oMath xmlns:m="http://schemas.openxmlformats.org/officeDocument/2006/math">
                    <m:r>
                      <a:rPr lang="ru-RU" sz="1200" b="1" i="1"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ar-AE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 sz="1200" b="1" dirty="0"/>
                  <a:t> </a:t>
                </a:r>
                <a:r>
                  <a:rPr lang="ar-AE" sz="1200" b="1" dirty="0"/>
                  <a:t>— </a:t>
                </a:r>
                <a:r>
                  <a:rPr lang="ru-RU" sz="1200" dirty="0"/>
                  <a:t>множество параметризованных распределений.</a:t>
                </a:r>
                <a:br>
                  <a:rPr lang="ru-RU" sz="1200" dirty="0"/>
                </a:br>
                <a:r>
                  <a:rPr lang="ru-RU" sz="1200" dirty="0"/>
                  <a:t>Вместо того чтобы искать истинное распределение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1200" dirty="0"/>
                  <a:t>среди всех возможных вероятностных распределений,</a:t>
                </a:r>
                <a:br>
                  <a:rPr lang="ru-RU" sz="1200" dirty="0"/>
                </a:br>
                <a:r>
                  <a:rPr lang="ru-RU" sz="1200" dirty="0"/>
                  <a:t>обучаем аппроксимацию функции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ar-AE" sz="12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12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200" dirty="0"/>
                  <a:t>.</a:t>
                </a:r>
              </a:p>
              <a:p>
                <a:br>
                  <a:rPr lang="ar-AE" sz="1200" dirty="0"/>
                </a:br>
                <a:endParaRPr lang="ar-AE" sz="1200" dirty="0"/>
              </a:p>
              <a:p>
                <a:r>
                  <a:rPr lang="en-US" sz="1200" b="1" dirty="0"/>
                  <a:t>What is a divergence?</a:t>
                </a:r>
              </a:p>
              <a:p>
                <a:r>
                  <a:rPr lang="ru-RU" sz="1200" dirty="0"/>
                  <a:t>Пусть </a:t>
                </a:r>
                <a14:m>
                  <m:oMath xmlns:m="http://schemas.openxmlformats.org/officeDocument/2006/math">
                    <m:r>
                      <a:rPr lang="ru-RU" sz="1200">
                        <a:latin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ru-RU" sz="1200" dirty="0"/>
                  <a:t>— множество всех возможных вероятностных распределений.</a:t>
                </a:r>
                <a:br>
                  <a:rPr lang="ru-RU" sz="1200" dirty="0"/>
                </a:br>
                <a:r>
                  <a:rPr lang="ru-RU" sz="1200" dirty="0"/>
                  <a:t>Тогда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: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𝒮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𝒮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1200" dirty="0"/>
                  <a:t> </a:t>
                </a:r>
                <a:r>
                  <a:rPr lang="ru-RU" sz="1200" dirty="0"/>
                  <a:t>называется </a:t>
                </a:r>
                <a:r>
                  <a:rPr lang="en-US" sz="1200" b="1" dirty="0"/>
                  <a:t>divergence</a:t>
                </a:r>
                <a:r>
                  <a:rPr lang="en-US" sz="1200" dirty="0"/>
                  <a:t>, </a:t>
                </a:r>
                <a:r>
                  <a:rPr lang="ru-RU" sz="1200" dirty="0"/>
                  <a:t>если выполняются условия: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ru-RU" sz="12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ar-AE" sz="120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00" dirty="0"/>
                  <a:t> </a:t>
                </a:r>
                <a:r>
                  <a:rPr lang="ru-RU" sz="1200" dirty="0"/>
                  <a:t>для всех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ru-RU" sz="1200" dirty="0"/>
                  <a:t>;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 </m:t>
                    </m:r>
                    <m:r>
                      <a:rPr lang="ru-RU" sz="12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ar-AE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00" dirty="0"/>
                  <a:t> </a:t>
                </a:r>
                <a:r>
                  <a:rPr lang="ru-RU" sz="1200" dirty="0"/>
                  <a:t>тогда и только тогда, когда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≡</m:t>
                    </m:r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200" dirty="0"/>
                  <a:t>.</a:t>
                </a:r>
              </a:p>
              <a:p>
                <a:br>
                  <a:rPr lang="ru-RU" sz="1200" dirty="0"/>
                </a:br>
                <a:endParaRPr lang="ru-RU" sz="1200" dirty="0"/>
              </a:p>
              <a:p>
                <a:r>
                  <a:rPr lang="en-US" sz="1200" b="1" dirty="0"/>
                  <a:t>Divergence minimization task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  <m:r>
                        <a:rPr lang="ar-AE" sz="12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sz="1200" dirty="0"/>
              </a:p>
              <a:p>
                <a:r>
                  <a:rPr lang="ru-RU" sz="1200" dirty="0"/>
                  <a:t>где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dirty="0"/>
                  <a:t>истинное распределение данных,</a:t>
                </a:r>
                <a:br>
                  <a:rPr lang="ru-RU" sz="1200" dirty="0"/>
                </a:br>
                <a:r>
                  <a:rPr lang="ru-RU" sz="1200" dirty="0"/>
                  <a:t>а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dirty="0"/>
                  <a:t>распределение, задаваемое моделью.</a:t>
                </a:r>
              </a:p>
              <a:p>
                <a:endParaRPr lang="en-US" sz="1200" dirty="0">
                  <a:latin typeface="Golos Text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8207BAD-B9E7-ACBD-B75A-8ED728C42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2" y="1177472"/>
                <a:ext cx="8540388" cy="32873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Understanding KL Divergence | Towards Data Science">
            <a:extLst>
              <a:ext uri="{FF2B5EF4-FFF2-40B4-BE49-F238E27FC236}">
                <a16:creationId xmlns:a16="http://schemas.microsoft.com/office/drawing/2014/main" id="{29FF6117-4ED6-9778-6638-018E6252B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833" y="3630101"/>
            <a:ext cx="3179717" cy="794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24862D-369C-EA01-059B-CC07F36E2F09}"/>
              </a:ext>
            </a:extLst>
          </p:cNvPr>
          <p:cNvSpPr txBox="1"/>
          <p:nvPr/>
        </p:nvSpPr>
        <p:spPr>
          <a:xfrm>
            <a:off x="5896610" y="3313286"/>
            <a:ext cx="3155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Kullback</a:t>
            </a:r>
            <a:r>
              <a:rPr lang="en-US" sz="1200" b="1" dirty="0"/>
              <a:t>–</a:t>
            </a:r>
            <a:r>
              <a:rPr lang="en-US" sz="1200" b="1" dirty="0" err="1"/>
              <a:t>Leibler</a:t>
            </a:r>
            <a:r>
              <a:rPr lang="en-US" sz="1200" b="1" dirty="0"/>
              <a:t> divergence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50089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E3FA0-F129-7F37-D316-72E176370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3B5FB-CAAC-CDAF-C029-1A0725BBB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Forward KL vs Reverse KL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690B02-6A36-F517-7E32-77C9C2A5EBD4}"/>
                  </a:ext>
                </a:extLst>
              </p:cNvPr>
              <p:cNvSpPr txBox="1"/>
              <p:nvPr/>
            </p:nvSpPr>
            <p:spPr>
              <a:xfrm>
                <a:off x="512172" y="1177472"/>
                <a:ext cx="8540388" cy="35175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Forward KL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𝐾𝐿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m:rPr>
                          <m:nor/>
                        </m:rPr>
                        <a:rPr lang="ar-AE" sz="1200" i="1"/>
                        <m:t>    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ar-AE" sz="1200" i="1"/>
                        <m:t>    </m:t>
                      </m:r>
                      <m:limLow>
                        <m:limLow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</m:oMath>
                  </m:oMathPara>
                </a14:m>
                <a:endParaRPr lang="ru-RU" sz="1200" b="0" dirty="0"/>
              </a:p>
              <a:p>
                <a:endParaRPr lang="ar-AE" sz="1200" b="0" dirty="0"/>
              </a:p>
              <a:p>
                <a:r>
                  <a:rPr lang="en-US" sz="1200" b="1" dirty="0"/>
                  <a:t>Reverse KL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𝐾𝐿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m:rPr>
                          <m:nor/>
                        </m:rPr>
                        <a:rPr lang="ar-AE" sz="1200" i="1"/>
                        <m:t>    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ar-AE" sz="1200" i="1"/>
                        <m:t>    </m:t>
                      </m:r>
                      <m:limLow>
                        <m:limLow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</m:oMath>
                  </m:oMathPara>
                </a14:m>
                <a:endParaRPr lang="ru-RU" sz="1200" dirty="0"/>
              </a:p>
              <a:p>
                <a:br>
                  <a:rPr lang="ru-RU" sz="1200" dirty="0"/>
                </a:br>
                <a:endParaRPr lang="ru-RU" sz="1200" dirty="0"/>
              </a:p>
              <a:p>
                <a:endParaRPr lang="ru-RU" sz="1200" b="1" dirty="0"/>
              </a:p>
              <a:p>
                <a:endParaRPr lang="ru-RU" sz="1200" b="1" dirty="0"/>
              </a:p>
              <a:p>
                <a:endParaRPr lang="ru-RU" sz="1200" b="1" dirty="0"/>
              </a:p>
              <a:p>
                <a:r>
                  <a:rPr lang="en-US" sz="1200" b="1" dirty="0"/>
                  <a:t>Maximum likelihood estimation (MLE)</a:t>
                </a:r>
              </a:p>
              <a:p>
                <a:r>
                  <a:rPr lang="ru-RU" sz="1200" dirty="0"/>
                  <a:t>Пусть </a:t>
                </a:r>
                <a14:m>
                  <m:oMath xmlns:m="http://schemas.openxmlformats.org/officeDocument/2006/math">
                    <m:r>
                      <a:rPr lang="ru-RU" sz="1200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20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e>
                            </m:d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12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ar-AE" sz="12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dirty="0"/>
                  <a:t>множество независимых выборок.</a:t>
                </a:r>
              </a:p>
              <a:p>
                <a:r>
                  <a:rPr lang="ru-RU" sz="1200" dirty="0"/>
                  <a:t>Тогда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e>
                      </m:func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1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e>
                      </m:func>
                      <m:nary>
                        <m:naryPr>
                          <m:chr m:val="∏"/>
                          <m:grow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e>
                      </m:func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grow m:val="on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</m:nary>
                        </m:fNam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sz="1200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690B02-6A36-F517-7E32-77C9C2A5E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2" y="1177472"/>
                <a:ext cx="8540388" cy="3517566"/>
              </a:xfrm>
              <a:prstGeom prst="rect">
                <a:avLst/>
              </a:prstGeom>
              <a:blipFill>
                <a:blip r:embed="rId3"/>
                <a:stretch>
                  <a:fillRect t="-15771" b="-24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609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23F72-C93D-7AC5-30CE-62B015D67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263ED-D0E3-3D39-0D2E-C770DACA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Forward KL vs Reverse KL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162012-1116-9276-0009-46CC4469DEBF}"/>
                  </a:ext>
                </a:extLst>
              </p:cNvPr>
              <p:cNvSpPr txBox="1"/>
              <p:nvPr/>
            </p:nvSpPr>
            <p:spPr>
              <a:xfrm>
                <a:off x="512172" y="1177472"/>
                <a:ext cx="8540388" cy="3504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Forward KL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𝐾𝐿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ar-AE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ar-AE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func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1200" i="1"/>
                        <m:t>const</m:t>
                      </m:r>
                    </m:oMath>
                  </m:oMathPara>
                </a14:m>
                <a:endParaRPr lang="en-US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latin typeface="Cambria Math" panose="02040503050406030204" pitchFamily="18" charset="0"/>
                        </a:rPr>
                        <m:t>≈−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grow m:val="on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</m:nary>
                        </m:fNam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1200" i="1"/>
                        <m:t>const</m:t>
                      </m:r>
                      <m:r>
                        <m:rPr>
                          <m:nor/>
                        </m:rPr>
                        <a:rPr lang="en-US" sz="1200" i="1"/>
                        <m:t>    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en-US" sz="1200" i="1"/>
                        <m:t>    </m:t>
                      </m:r>
                      <m:limLow>
                        <m:limLow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</m:oMath>
                  </m:oMathPara>
                </a14:m>
                <a:endParaRPr lang="ru-RU" sz="1200" b="0" dirty="0"/>
              </a:p>
              <a:p>
                <a:endParaRPr lang="ar-AE" sz="1200" b="0" dirty="0"/>
              </a:p>
              <a:p>
                <a:r>
                  <a:rPr lang="en-US" sz="1200" b="1" dirty="0"/>
                  <a:t>Maximum likelihood estimation (MLE)</a:t>
                </a:r>
                <a:r>
                  <a:rPr lang="en-US" sz="1200" dirty="0"/>
                  <a:t> </a:t>
                </a:r>
                <a:r>
                  <a:rPr lang="ru-RU" sz="1200" dirty="0"/>
                  <a:t>эквивалентна минимизации оценки Монте-Карло для </a:t>
                </a:r>
                <a:r>
                  <a:rPr lang="en-US" sz="1200" b="1" dirty="0"/>
                  <a:t>forward KL</a:t>
                </a:r>
                <a:r>
                  <a:rPr lang="en-US" sz="1200" dirty="0"/>
                  <a:t>.</a:t>
                </a:r>
              </a:p>
              <a:p>
                <a:br>
                  <a:rPr lang="en-US" sz="1200" dirty="0"/>
                </a:br>
                <a:endParaRPr lang="en-US" sz="1200" dirty="0"/>
              </a:p>
              <a:p>
                <a:r>
                  <a:rPr lang="en-US" sz="1200" b="1" dirty="0"/>
                  <a:t>Reverse KL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𝐾𝐿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num>
                            <m:den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ar-AE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b>
                      </m:sSub>
                      <m:r>
                        <a:rPr lang="ar-AE" sz="1200"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]</m:t>
                      </m:r>
                      <m:r>
                        <m:rPr>
                          <m:nor/>
                        </m:rPr>
                        <a:rPr lang="ar-AE" sz="1200" i="1"/>
                        <m:t>    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nor/>
                        </m:rPr>
                        <a:rPr lang="ar-AE" sz="1200" i="1"/>
                        <m:t>    </m:t>
                      </m:r>
                      <m:limLow>
                        <m:limLow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lim>
                      </m:limLow>
                    </m:oMath>
                  </m:oMathPara>
                </a14:m>
                <a:endParaRPr lang="ar-AE" sz="1200" b="0" dirty="0"/>
              </a:p>
              <a:p>
                <a:endParaRPr lang="ar-AE" sz="1200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6162012-1116-9276-0009-46CC4469D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2" y="1177472"/>
                <a:ext cx="8540388" cy="3504549"/>
              </a:xfrm>
              <a:prstGeom prst="rect">
                <a:avLst/>
              </a:prstGeom>
              <a:blipFill>
                <a:blip r:embed="rId3"/>
                <a:stretch>
                  <a:fillRect t="-15826" b="-18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350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7EDA9-E90A-A089-CB1C-AF9F585F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C23E1-F4F1-F402-F78F-90AFA30BB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Зоопарк генеративных моделей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30382A7-C499-8E7F-8EAD-09D842511541}"/>
              </a:ext>
            </a:extLst>
          </p:cNvPr>
          <p:cNvSpPr/>
          <p:nvPr/>
        </p:nvSpPr>
        <p:spPr>
          <a:xfrm>
            <a:off x="3248025" y="971550"/>
            <a:ext cx="2647950" cy="10033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Generative</a:t>
            </a:r>
          </a:p>
          <a:p>
            <a:pPr algn="ctr"/>
            <a:r>
              <a:rPr lang="en-US" dirty="0"/>
              <a:t>models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BB6A8D0-8AE8-A4B3-9DC9-EC31346C0A8F}"/>
              </a:ext>
            </a:extLst>
          </p:cNvPr>
          <p:cNvSpPr/>
          <p:nvPr/>
        </p:nvSpPr>
        <p:spPr>
          <a:xfrm>
            <a:off x="1993901" y="2442881"/>
            <a:ext cx="2324100" cy="624169"/>
          </a:xfrm>
          <a:prstGeom prst="rect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Likelihood</a:t>
            </a:r>
          </a:p>
          <a:p>
            <a:pPr algn="ctr"/>
            <a:r>
              <a:rPr lang="en-US" dirty="0"/>
              <a:t>based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C4C8216-8CBC-CE6E-ADE6-47CB9FAABC99}"/>
              </a:ext>
            </a:extLst>
          </p:cNvPr>
          <p:cNvSpPr/>
          <p:nvPr/>
        </p:nvSpPr>
        <p:spPr>
          <a:xfrm>
            <a:off x="5988050" y="2442880"/>
            <a:ext cx="2324100" cy="624169"/>
          </a:xfrm>
          <a:prstGeom prst="rect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Implicit</a:t>
            </a:r>
          </a:p>
          <a:p>
            <a:pPr algn="ctr"/>
            <a:r>
              <a:rPr lang="en-US" dirty="0"/>
              <a:t>density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F8DECC1-365D-7444-BBD2-15A30F23201E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155951" y="1974850"/>
            <a:ext cx="1416049" cy="468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7ADD3F6F-6250-2D10-8EB9-C2634ECFDFDB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572000" y="1974850"/>
            <a:ext cx="2578100" cy="468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0858B50-4CBE-BDBE-0490-A43DE2F529CC}"/>
              </a:ext>
            </a:extLst>
          </p:cNvPr>
          <p:cNvSpPr/>
          <p:nvPr/>
        </p:nvSpPr>
        <p:spPr>
          <a:xfrm>
            <a:off x="336551" y="3369046"/>
            <a:ext cx="2324100" cy="624169"/>
          </a:xfrm>
          <a:prstGeom prst="rect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Tractable</a:t>
            </a:r>
          </a:p>
          <a:p>
            <a:pPr algn="ctr"/>
            <a:r>
              <a:rPr lang="en-US" dirty="0"/>
              <a:t>density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6ED2F29-E354-21FC-C3A2-939EFCCD6024}"/>
              </a:ext>
            </a:extLst>
          </p:cNvPr>
          <p:cNvSpPr/>
          <p:nvPr/>
        </p:nvSpPr>
        <p:spPr>
          <a:xfrm>
            <a:off x="3409950" y="3369046"/>
            <a:ext cx="2324100" cy="624169"/>
          </a:xfrm>
          <a:prstGeom prst="rect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Apprixomate</a:t>
            </a:r>
            <a:endParaRPr lang="en-US" dirty="0"/>
          </a:p>
          <a:p>
            <a:pPr algn="ctr"/>
            <a:r>
              <a:rPr lang="en-US" dirty="0"/>
              <a:t>density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1363C9A-A117-67AA-95B3-614D5DDB5CF0}"/>
              </a:ext>
            </a:extLst>
          </p:cNvPr>
          <p:cNvCxnSpPr>
            <a:stCxn id="5" idx="2"/>
            <a:endCxn id="16" idx="0"/>
          </p:cNvCxnSpPr>
          <p:nvPr/>
        </p:nvCxnSpPr>
        <p:spPr>
          <a:xfrm flipH="1">
            <a:off x="1498601" y="3067050"/>
            <a:ext cx="1657350" cy="301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2CAC5A1E-A2D7-FE35-A868-8FDC48D42E6E}"/>
              </a:ext>
            </a:extLst>
          </p:cNvPr>
          <p:cNvCxnSpPr>
            <a:stCxn id="5" idx="2"/>
            <a:endCxn id="17" idx="0"/>
          </p:cNvCxnSpPr>
          <p:nvPr/>
        </p:nvCxnSpPr>
        <p:spPr>
          <a:xfrm>
            <a:off x="3155951" y="3067050"/>
            <a:ext cx="1416049" cy="301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C8BE204-6FA3-EA9C-096E-D56F80721BD0}"/>
              </a:ext>
            </a:extLst>
          </p:cNvPr>
          <p:cNvSpPr txBox="1"/>
          <p:nvPr/>
        </p:nvSpPr>
        <p:spPr>
          <a:xfrm>
            <a:off x="3409950" y="4052042"/>
            <a:ext cx="2324100" cy="10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73A7A92-98E5-1ACB-B9BC-570BBA0329EE}"/>
              </a:ext>
            </a:extLst>
          </p:cNvPr>
          <p:cNvSpPr/>
          <p:nvPr/>
        </p:nvSpPr>
        <p:spPr>
          <a:xfrm>
            <a:off x="336551" y="3993215"/>
            <a:ext cx="2324100" cy="9576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Autoregression models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2FD3046-CEAD-FE14-0233-6B5D19E7486E}"/>
              </a:ext>
            </a:extLst>
          </p:cNvPr>
          <p:cNvSpPr/>
          <p:nvPr/>
        </p:nvSpPr>
        <p:spPr>
          <a:xfrm>
            <a:off x="3409950" y="3993215"/>
            <a:ext cx="2324100" cy="9576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VAE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Diffusion models</a:t>
            </a:r>
          </a:p>
          <a:p>
            <a:pPr algn="ctr"/>
            <a:endParaRPr lang="en-US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317CC77-4BD7-E7CF-29BF-02831077D1EF}"/>
              </a:ext>
            </a:extLst>
          </p:cNvPr>
          <p:cNvSpPr/>
          <p:nvPr/>
        </p:nvSpPr>
        <p:spPr>
          <a:xfrm>
            <a:off x="5988049" y="3087748"/>
            <a:ext cx="2324100" cy="9576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GANs</a:t>
            </a:r>
          </a:p>
        </p:txBody>
      </p:sp>
    </p:spTree>
    <p:extLst>
      <p:ext uri="{BB962C8B-B14F-4D97-AF65-F5344CB8AC3E}">
        <p14:creationId xmlns:p14="http://schemas.microsoft.com/office/powerpoint/2010/main" val="208339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499F-AB23-EC16-B442-FA9448A2F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E45067-94CD-C732-0845-F0241EDE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809" y="2308108"/>
            <a:ext cx="6824382" cy="52728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Autoregression models</a:t>
            </a:r>
            <a:b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ru-RU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ARMs)</a:t>
            </a:r>
          </a:p>
        </p:txBody>
      </p:sp>
    </p:spTree>
    <p:extLst>
      <p:ext uri="{BB962C8B-B14F-4D97-AF65-F5344CB8AC3E}">
        <p14:creationId xmlns:p14="http://schemas.microsoft.com/office/powerpoint/2010/main" val="861230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74455-C800-6148-C4B7-EFE56DC6C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247352-05CE-CA46-108D-D44CB0FA1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 err="1"/>
              <a:t>PixelCNN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4B64C6-0B7B-6862-AD17-FF7C58BD6351}"/>
                  </a:ext>
                </a:extLst>
              </p:cNvPr>
              <p:cNvSpPr txBox="1"/>
              <p:nvPr/>
            </p:nvSpPr>
            <p:spPr>
              <a:xfrm>
                <a:off x="512172" y="1177472"/>
                <a:ext cx="8540388" cy="3805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Goal</a:t>
                </a:r>
              </a:p>
              <a:p>
                <a:r>
                  <a:rPr lang="ru-RU" sz="1200" dirty="0"/>
                  <a:t>Смоделировать распределение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ru-RU" sz="1200" dirty="0"/>
                  <a:t>для изображений из реального мира.</a:t>
                </a:r>
              </a:p>
              <a:p>
                <a:endParaRPr lang="ru-RU" sz="1200" dirty="0"/>
              </a:p>
              <a:p>
                <a:endParaRPr lang="ru-RU" sz="1200" dirty="0"/>
              </a:p>
              <a:p>
                <a:r>
                  <a:rPr lang="en-US" sz="1200" b="1" dirty="0"/>
                  <a:t>Solution</a:t>
                </a:r>
                <a:endParaRPr lang="ru-RU" sz="1200" b="1" dirty="0"/>
              </a:p>
              <a:p>
                <a:endParaRPr lang="ru-RU" sz="1200" b="1" dirty="0"/>
              </a:p>
              <a:p>
                <a:endParaRPr lang="en-US" sz="1200" b="1" dirty="0"/>
              </a:p>
              <a:p>
                <a:r>
                  <a:rPr lang="ru-RU" sz="1200" dirty="0" err="1"/>
                  <a:t>Авторегрессионная</a:t>
                </a:r>
                <a:r>
                  <a:rPr lang="ru-RU" sz="1200" dirty="0"/>
                  <a:t> модель по 2</a:t>
                </a:r>
                <a:r>
                  <a:rPr lang="en-US" sz="1200" dirty="0"/>
                  <a:t>D-</a:t>
                </a:r>
                <a:r>
                  <a:rPr lang="ru-RU" sz="1200" dirty="0"/>
                  <a:t>пикселям: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grow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en-US" sz="1200" i="1"/>
                            <m:t>width</m:t>
                          </m:r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lang="en-US" sz="1200" i="1"/>
                            <m:t>height</m:t>
                          </m:r>
                        </m:sup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ar-AE" sz="1200" b="0" dirty="0"/>
              </a:p>
              <a:p>
                <a:br>
                  <a:rPr lang="ar-AE" sz="1200" dirty="0"/>
                </a:br>
                <a:endParaRPr lang="ru-RU" sz="1200" dirty="0"/>
              </a:p>
              <a:p>
                <a:endParaRPr lang="ru-RU" sz="1200" dirty="0"/>
              </a:p>
              <a:p>
                <a:endParaRPr lang="ar-AE" sz="1200" dirty="0"/>
              </a:p>
              <a:p>
                <a:r>
                  <a:rPr lang="ru-RU" sz="1200" dirty="0"/>
                  <a:t>1) Необходимо ввести </a:t>
                </a:r>
                <a:r>
                  <a:rPr lang="ru-RU" sz="1200" b="1" dirty="0"/>
                  <a:t>порядок обхода пикселей</a:t>
                </a:r>
                <a:r>
                  <a:rPr lang="ru-RU" sz="1200" dirty="0"/>
                  <a:t> (</a:t>
                </a:r>
                <a:r>
                  <a:rPr lang="en-US" sz="1200" dirty="0"/>
                  <a:t>raster ordering).</a:t>
                </a:r>
              </a:p>
              <a:p>
                <a:r>
                  <a:rPr lang="ru-RU" sz="1200" dirty="0"/>
                  <a:t>2) Свёртку нужно </a:t>
                </a:r>
                <a:r>
                  <a:rPr lang="ru-RU" sz="1200" b="1" dirty="0"/>
                  <a:t>маскировать</a:t>
                </a:r>
                <a:r>
                  <a:rPr lang="ru-RU" sz="1200" dirty="0"/>
                  <a:t>, чтобы сделать её </a:t>
                </a:r>
                <a:r>
                  <a:rPr lang="ru-RU" sz="1200" b="1" dirty="0"/>
                  <a:t>каузальной</a:t>
                </a:r>
                <a:r>
                  <a:rPr lang="ru-RU" sz="1200" dirty="0"/>
                  <a:t> (не "подглядывала" в будущее пиксели).</a:t>
                </a:r>
              </a:p>
              <a:p>
                <a:r>
                  <a:rPr lang="ru-RU" sz="1200" dirty="0"/>
                  <a:t>3) Поскольку изображение имеет </a:t>
                </a:r>
                <a:r>
                  <a:rPr lang="en-US" sz="1200" b="1" dirty="0"/>
                  <a:t>RGB-</a:t>
                </a:r>
                <a:r>
                  <a:rPr lang="ru-RU" sz="1200" b="1" dirty="0"/>
                  <a:t>каналы</a:t>
                </a:r>
                <a:r>
                  <a:rPr lang="ru-RU" sz="1200" dirty="0"/>
                  <a:t>, зависимости между ними также должны учитываться.</a:t>
                </a:r>
              </a:p>
              <a:p>
                <a:endParaRPr lang="ar-AE" sz="1200" b="0" dirty="0"/>
              </a:p>
              <a:p>
                <a:endParaRPr lang="ar-AE" sz="1200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4B64C6-0B7B-6862-AD17-FF7C58BD6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2" y="1177472"/>
                <a:ext cx="8540388" cy="3805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673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80807-5B3B-62DE-5939-A87562B3A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3A445E-1884-DBD2-5C5C-9B3EB8835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 err="1"/>
              <a:t>PixelCNN</a:t>
            </a:r>
            <a:endParaRPr lang="en-US" sz="28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E7BB778-A2E3-F92B-0EAD-73BFE4EFE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12" b="9236"/>
          <a:stretch>
            <a:fillRect/>
          </a:stretch>
        </p:blipFill>
        <p:spPr bwMode="auto">
          <a:xfrm>
            <a:off x="234613" y="1424940"/>
            <a:ext cx="4535507" cy="268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CC01B1D7-9742-6012-A9FE-D8E82357F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612343"/>
            <a:ext cx="4429126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изображение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например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32×32×3).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 1: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Masked Conv2D (Mask A)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учитывает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только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предыдущие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пиксели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 layers: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Masked Conv2D (Mask B)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используют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текущий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пиксель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прошлый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контекст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ReLU</a:t>
            </a:r>
            <a:endParaRPr kumimoji="0" lang="en-US" alt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вероятности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всех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возможных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значений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пикселя</a:t>
            </a:r>
            <a:r>
              <a:rPr kumimoji="0" lang="ru-RU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distribution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обычно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256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классов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654246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6F90-263F-10CC-96A9-1AF17B33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32D00-B81A-580F-ED9E-8FB4F667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ARMs 2025</a:t>
            </a:r>
          </a:p>
        </p:txBody>
      </p:sp>
      <p:pic>
        <p:nvPicPr>
          <p:cNvPr id="6151" name="Picture 7">
            <a:extLst>
              <a:ext uri="{FF2B5EF4-FFF2-40B4-BE49-F238E27FC236}">
                <a16:creationId xmlns:a16="http://schemas.microsoft.com/office/drawing/2014/main" id="{D4F9BDCC-8ADE-BA17-48D0-7E566B4CD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31" y="1027358"/>
            <a:ext cx="7204538" cy="366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0959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59C4-C6B6-6671-8289-FF748708B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319829-1F43-C103-E471-B03057AA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ru-RU" sz="2800" dirty="0"/>
              <a:t>Плюсы и минусы </a:t>
            </a:r>
            <a:r>
              <a:rPr lang="en-US" sz="2800" dirty="0"/>
              <a:t>ARMs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3E217315-4F4A-C956-1826-0EEFE708C5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1683781"/>
                  </p:ext>
                </p:extLst>
              </p:nvPr>
            </p:nvGraphicFramePr>
            <p:xfrm>
              <a:off x="996012" y="1446715"/>
              <a:ext cx="7120945" cy="18288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34982">
                      <a:extLst>
                        <a:ext uri="{9D8B030D-6E8A-4147-A177-3AD203B41FA5}">
                          <a16:colId xmlns:a16="http://schemas.microsoft.com/office/drawing/2014/main" val="1353128835"/>
                        </a:ext>
                      </a:extLst>
                    </a:gridCol>
                    <a:gridCol w="2619469">
                      <a:extLst>
                        <a:ext uri="{9D8B030D-6E8A-4147-A177-3AD203B41FA5}">
                          <a16:colId xmlns:a16="http://schemas.microsoft.com/office/drawing/2014/main" val="1815659175"/>
                        </a:ext>
                      </a:extLst>
                    </a:gridCol>
                    <a:gridCol w="2366494">
                      <a:extLst>
                        <a:ext uri="{9D8B030D-6E8A-4147-A177-3AD203B41FA5}">
                          <a16:colId xmlns:a16="http://schemas.microsoft.com/office/drawing/2014/main" val="2928922976"/>
                        </a:ext>
                      </a:extLst>
                    </a:gridCol>
                  </a:tblGrid>
                  <a:tr h="341845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dirty="0">
                              <a:latin typeface="Golos Text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a:t>расчет </a:t>
                          </a:r>
                          <a14:m>
                            <m:oMath xmlns:m="http://schemas.openxmlformats.org/officeDocument/2006/math">
                              <m:r>
                                <a:rPr lang="ru-RU" sz="18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8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Генерация из </a:t>
                          </a:r>
                          <a14:m>
                            <m:oMath xmlns:m="http://schemas.openxmlformats.org/officeDocument/2006/math">
                              <m:r>
                                <a:rPr lang="ru-RU" sz="18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8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6348699"/>
                      </a:ext>
                    </a:extLst>
                  </a:tr>
                  <a:tr h="134864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Да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ru-RU" dirty="0"/>
                            <a:t>Для </a:t>
                          </a:r>
                          <a:r>
                            <a:rPr lang="en-US" dirty="0" err="1"/>
                            <a:t>PixelCNN</a:t>
                          </a:r>
                          <a:r>
                            <a:rPr lang="en-US" dirty="0"/>
                            <a:t> – 1 inference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Да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ru-RU" dirty="0"/>
                            <a:t>Для </a:t>
                          </a:r>
                          <a:r>
                            <a:rPr lang="en-US" dirty="0" err="1"/>
                            <a:t>PixelCNN</a:t>
                          </a:r>
                          <a:r>
                            <a:rPr lang="en-US" dirty="0"/>
                            <a:t> – h * w inference steps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69263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3E217315-4F4A-C956-1826-0EEFE708C5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1683781"/>
                  </p:ext>
                </p:extLst>
              </p:nvPr>
            </p:nvGraphicFramePr>
            <p:xfrm>
              <a:off x="996012" y="1446715"/>
              <a:ext cx="7120945" cy="182880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34982">
                      <a:extLst>
                        <a:ext uri="{9D8B030D-6E8A-4147-A177-3AD203B41FA5}">
                          <a16:colId xmlns:a16="http://schemas.microsoft.com/office/drawing/2014/main" val="1353128835"/>
                        </a:ext>
                      </a:extLst>
                    </a:gridCol>
                    <a:gridCol w="2619469">
                      <a:extLst>
                        <a:ext uri="{9D8B030D-6E8A-4147-A177-3AD203B41FA5}">
                          <a16:colId xmlns:a16="http://schemas.microsoft.com/office/drawing/2014/main" val="1815659175"/>
                        </a:ext>
                      </a:extLst>
                    </a:gridCol>
                    <a:gridCol w="2366494">
                      <a:extLst>
                        <a:ext uri="{9D8B030D-6E8A-4147-A177-3AD203B41FA5}">
                          <a16:colId xmlns:a16="http://schemas.microsoft.com/office/drawing/2014/main" val="292892297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1439" t="-8333" r="-90951" b="-4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46" t="-8333" r="-1031" b="-4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6348699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Да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ru-RU" dirty="0"/>
                            <a:t>Для </a:t>
                          </a:r>
                          <a:r>
                            <a:rPr lang="en-US" dirty="0" err="1"/>
                            <a:t>PixelCNN</a:t>
                          </a:r>
                          <a:r>
                            <a:rPr lang="en-US" dirty="0"/>
                            <a:t> – 1 inference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Да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ru-RU" dirty="0"/>
                            <a:t>Для </a:t>
                          </a:r>
                          <a:r>
                            <a:rPr lang="en-US" dirty="0" err="1"/>
                            <a:t>PixelCNN</a:t>
                          </a:r>
                          <a:r>
                            <a:rPr lang="en-US" dirty="0"/>
                            <a:t> – h * w inference steps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69263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99145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002D-35B1-C542-5C57-223A4FBEB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984CB4-288C-7D46-2A25-E20290EE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809" y="2308108"/>
            <a:ext cx="6824382" cy="52728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b="0" dirty="0"/>
              <a:t>Generative adversarial networks</a:t>
            </a:r>
            <a:br>
              <a:rPr lang="en-US" b="0" dirty="0"/>
            </a:br>
            <a:r>
              <a:rPr lang="en-US" b="0" dirty="0"/>
              <a:t>(GANs)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875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D32AB-548C-DDAB-3CF7-C928DBB06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D1AE8-B6CF-51CB-F22B-641F825E5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 fontScale="90000"/>
          </a:bodyPr>
          <a:lstStyle/>
          <a:p>
            <a:r>
              <a:rPr lang="en-US" sz="2800" dirty="0"/>
              <a:t>Likelihood-based models: quality vs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914900-40A2-9A49-1D50-488136E65B72}"/>
                  </a:ext>
                </a:extLst>
              </p:cNvPr>
              <p:cNvSpPr txBox="1"/>
              <p:nvPr/>
            </p:nvSpPr>
            <p:spPr>
              <a:xfrm>
                <a:off x="512172" y="1177472"/>
                <a:ext cx="8540388" cy="3366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1" dirty="0">
                    <a:latin typeface="Arial (Основной текст)"/>
                  </a:rPr>
                  <a:t>Проблема</a:t>
                </a:r>
              </a:p>
              <a:p>
                <a:r>
                  <a:rPr lang="ru-RU" sz="1200" dirty="0">
                    <a:latin typeface="Arial (Основной текст)"/>
                  </a:rPr>
                  <a:t>Высокое </a:t>
                </a:r>
                <a:r>
                  <a:rPr lang="en-US" sz="1200" b="1" dirty="0">
                    <a:latin typeface="Arial (Основной текст)"/>
                  </a:rPr>
                  <a:t>log-likelihood</a:t>
                </a:r>
                <a:r>
                  <a:rPr lang="en-US" sz="1200" dirty="0">
                    <a:latin typeface="Arial (Основной текст)"/>
                  </a:rPr>
                  <a:t> </a:t>
                </a:r>
                <a:r>
                  <a:rPr lang="ru-RU" sz="1200" dirty="0">
                    <a:latin typeface="Arial (Основной текст)"/>
                  </a:rPr>
                  <a:t>не гарантирует хорошее качество сэмплов,</a:t>
                </a:r>
                <a:r>
                  <a:rPr lang="en-US" sz="1200" dirty="0">
                    <a:latin typeface="Arial (Основной текст)"/>
                  </a:rPr>
                  <a:t> </a:t>
                </a:r>
                <a:r>
                  <a:rPr lang="ru-RU" sz="1200" dirty="0">
                    <a:latin typeface="Arial (Основной текст)"/>
                  </a:rPr>
                  <a:t>а хорошие сэмплы не означают высокий </a:t>
                </a:r>
                <a:r>
                  <a:rPr lang="en-US" sz="1200" b="1" dirty="0">
                    <a:latin typeface="Arial (Основной текст)"/>
                  </a:rPr>
                  <a:t>likelihood</a:t>
                </a:r>
                <a:r>
                  <a:rPr lang="en-US" sz="1200" dirty="0">
                    <a:latin typeface="Arial (Основной текст)"/>
                  </a:rPr>
                  <a:t>.</a:t>
                </a:r>
              </a:p>
              <a:p>
                <a:br>
                  <a:rPr lang="en-US" sz="1200" dirty="0">
                    <a:latin typeface="Arial (Основной текст)"/>
                  </a:rPr>
                </a:br>
                <a:endParaRPr lang="en-US" sz="1200" dirty="0">
                  <a:latin typeface="Arial (Основной текст)"/>
                </a:endParaRPr>
              </a:p>
              <a:p>
                <a:r>
                  <a:rPr lang="ru-RU" sz="1200" b="1" dirty="0">
                    <a:latin typeface="Arial (Основной текст)"/>
                  </a:rPr>
                  <a:t>Пример 1 — </a:t>
                </a:r>
                <a:r>
                  <a:rPr lang="en-US" sz="1200" b="1" i="1" dirty="0">
                    <a:latin typeface="Arial (Основной текст)"/>
                  </a:rPr>
                  <a:t>Poor likelihood, great samples</a:t>
                </a:r>
                <a:endParaRPr lang="en-US" sz="1200" b="1" dirty="0">
                  <a:latin typeface="Arial (Основной текст)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grow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𝒩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sub>
                          </m:s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</m:oMath>
                  </m:oMathPara>
                </a14:m>
                <a:endParaRPr lang="en-US" sz="1200" dirty="0">
                  <a:latin typeface="Arial (Основной текст)"/>
                </a:endParaRPr>
              </a:p>
              <a:p>
                <a:endParaRPr lang="ar-AE" sz="1200" dirty="0">
                  <a:latin typeface="Arial (Основной текст)"/>
                </a:endParaRPr>
              </a:p>
              <a:p>
                <a:r>
                  <a:rPr lang="ru-RU" sz="1200" dirty="0">
                    <a:latin typeface="Arial (Основной текст)"/>
                  </a:rPr>
                  <a:t>При очень малом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ru-RU" sz="1200" dirty="0">
                    <a:latin typeface="Arial (Основной текст)"/>
                  </a:rPr>
                  <a:t>каждая компонента становится узкой,</a:t>
                </a:r>
                <a:r>
                  <a:rPr lang="en-US" sz="1200" dirty="0">
                    <a:latin typeface="Arial (Основной текст)"/>
                  </a:rPr>
                  <a:t> </a:t>
                </a:r>
                <a:r>
                  <a:rPr lang="ru-RU" sz="1200" dirty="0">
                    <a:latin typeface="Arial (Основной текст)"/>
                  </a:rPr>
                  <a:t>и сэмплы выглядят </a:t>
                </a:r>
                <a:r>
                  <a:rPr lang="ru-RU" sz="1200" b="1" dirty="0">
                    <a:latin typeface="Arial (Основной текст)"/>
                  </a:rPr>
                  <a:t>реалистично</a:t>
                </a:r>
                <a:r>
                  <a:rPr lang="ru-RU" sz="1200" dirty="0">
                    <a:latin typeface="Arial (Основной текст)"/>
                  </a:rPr>
                  <a:t> (почти копии обучающих данных).</a:t>
                </a:r>
                <a:endParaRPr lang="en-US" sz="1200" dirty="0">
                  <a:latin typeface="Arial (Основной текст)"/>
                </a:endParaRPr>
              </a:p>
              <a:p>
                <a:endParaRPr lang="ru-RU" sz="1200" dirty="0">
                  <a:latin typeface="Arial (Основной текст)"/>
                </a:endParaRPr>
              </a:p>
              <a:p>
                <a:r>
                  <a:rPr lang="ru-RU" sz="1200" dirty="0">
                    <a:latin typeface="Arial (Основной текст)"/>
                  </a:rPr>
                  <a:t>Но тестовые примеры имеют </a:t>
                </a:r>
                <a:r>
                  <a:rPr lang="ru-RU" sz="1200" b="1" dirty="0">
                    <a:latin typeface="Arial (Основной текст)"/>
                  </a:rPr>
                  <a:t>очень низкое правдоподобие</a:t>
                </a:r>
                <a:r>
                  <a:rPr lang="ru-RU" sz="1200" dirty="0">
                    <a:latin typeface="Arial (Основной текст)"/>
                  </a:rPr>
                  <a:t> —</a:t>
                </a:r>
                <a:r>
                  <a:rPr lang="en-US" sz="1200" dirty="0">
                    <a:latin typeface="Arial (Основной текст)"/>
                  </a:rPr>
                  <a:t> </a:t>
                </a:r>
                <a:r>
                  <a:rPr lang="ru-RU" sz="1200" dirty="0">
                    <a:latin typeface="Arial (Основной текст)"/>
                  </a:rPr>
                  <a:t>модель переобучается на обучающие точки.</a:t>
                </a:r>
              </a:p>
              <a:p>
                <a:endParaRPr lang="en-US" sz="1200" i="1" dirty="0">
                  <a:latin typeface="Arial (Основной текст)"/>
                </a:endParaRPr>
              </a:p>
              <a:p>
                <a:r>
                  <a:rPr lang="en-US" sz="1200" i="1" dirty="0">
                    <a:latin typeface="Arial (Основной текст)"/>
                  </a:rPr>
                  <a:t>!</a:t>
                </a:r>
                <a:r>
                  <a:rPr lang="ru-RU" sz="1200" i="1" dirty="0">
                    <a:latin typeface="Arial (Основной текст)"/>
                  </a:rPr>
                  <a:t>Качество высокое, но модель не обобщает.</a:t>
                </a:r>
                <a:endParaRPr lang="ru-RU" sz="1200" dirty="0">
                  <a:latin typeface="Arial (Основной текст)"/>
                </a:endParaRPr>
              </a:p>
              <a:p>
                <a:br>
                  <a:rPr lang="ru-RU" sz="1200" dirty="0">
                    <a:latin typeface="Arial (Основной текст)"/>
                  </a:rPr>
                </a:br>
                <a:endParaRPr lang="ru-RU" sz="1200" dirty="0">
                  <a:latin typeface="Arial (Основной текст)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914900-40A2-9A49-1D50-488136E65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2" y="1177472"/>
                <a:ext cx="8540388" cy="3366434"/>
              </a:xfrm>
              <a:prstGeom prst="rect">
                <a:avLst/>
              </a:prstGeom>
              <a:blipFill>
                <a:blip r:embed="rId3"/>
                <a:stretch>
                  <a:fillRect t="-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763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9C926-B1DD-FB61-EB77-BA31D9A11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1A7CA-6729-8441-86C9-4FD4BA6CF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 fontScale="90000"/>
          </a:bodyPr>
          <a:lstStyle/>
          <a:p>
            <a:r>
              <a:rPr lang="en-US" sz="2800" dirty="0"/>
              <a:t>Likelihood-based models: quality vs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A14976-7C1F-E8A8-9DF2-32A793C58638}"/>
                  </a:ext>
                </a:extLst>
              </p:cNvPr>
              <p:cNvSpPr txBox="1"/>
              <p:nvPr/>
            </p:nvSpPr>
            <p:spPr>
              <a:xfrm>
                <a:off x="512172" y="1177472"/>
                <a:ext cx="8540388" cy="3421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1" dirty="0"/>
                  <a:t>Пример 2 — </a:t>
                </a:r>
                <a:r>
                  <a:rPr lang="en-US" sz="1200" b="1" i="1" dirty="0"/>
                  <a:t>Great likelihood, poor samples</a:t>
                </a:r>
                <a:endParaRPr lang="en-US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01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99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200" i="1"/>
                            <m:t>noise</m:t>
                          </m:r>
                        </m:sub>
                      </m:sSub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endParaRPr lang="ar-AE" sz="1200" b="0" dirty="0"/>
              </a:p>
              <a:p>
                <a:r>
                  <a:rPr lang="ru-RU" sz="1200" dirty="0"/>
                  <a:t>Модель “разбавляет” реальное распределение шумом.</a:t>
                </a:r>
                <a:r>
                  <a:rPr lang="en-US" sz="1200" dirty="0"/>
                  <a:t> </a:t>
                </a:r>
                <a:r>
                  <a:rPr lang="ru-RU" sz="1200" dirty="0"/>
                  <a:t>Это повышает средний </a:t>
                </a:r>
                <a:r>
                  <a:rPr lang="en-US" sz="1200" dirty="0"/>
                  <a:t>log-likelihood:</a:t>
                </a:r>
              </a:p>
              <a:p>
                <a:endParaRPr lang="en-US" sz="1200" dirty="0"/>
              </a:p>
              <a:p>
                <a:pPr algn="ctr"/>
                <a:r>
                  <a:rPr lang="en-US" sz="1200" dirty="0"/>
                  <a:t>log[0.01p(x)+0.99pnoise​(x)]</a:t>
                </a:r>
                <a:r>
                  <a:rPr lang="ru-RU" sz="1200" dirty="0"/>
                  <a:t> </a:t>
                </a:r>
                <a:r>
                  <a:rPr lang="en-US" sz="1200" dirty="0"/>
                  <a:t>≥</a:t>
                </a:r>
                <a:r>
                  <a:rPr lang="ru-RU" sz="1200" dirty="0"/>
                  <a:t> </a:t>
                </a:r>
                <a:r>
                  <a:rPr lang="en-US" sz="1200" dirty="0"/>
                  <a:t>log[0.01p(x)]</a:t>
                </a:r>
                <a:r>
                  <a:rPr lang="ru-RU" sz="1200" dirty="0"/>
                  <a:t> </a:t>
                </a:r>
                <a:r>
                  <a:rPr lang="en-US" sz="1200" dirty="0"/>
                  <a:t>=</a:t>
                </a:r>
                <a:r>
                  <a:rPr lang="ru-RU" sz="1200" dirty="0"/>
                  <a:t> </a:t>
                </a:r>
                <a:r>
                  <a:rPr lang="en-US" sz="1200" dirty="0"/>
                  <a:t>log[p(x)]−log100</a:t>
                </a:r>
              </a:p>
              <a:p>
                <a:endParaRPr lang="ru-RU" sz="1200" dirty="0"/>
              </a:p>
              <a:p>
                <a:r>
                  <a:rPr lang="ru-RU" sz="1200" dirty="0"/>
                  <a:t>Но теперь </a:t>
                </a:r>
                <a:r>
                  <a:rPr lang="ru-RU" sz="1200" b="1" dirty="0"/>
                  <a:t>большинство сэмплов — шум</a:t>
                </a:r>
                <a:r>
                  <a:rPr lang="ru-RU" sz="1200" dirty="0"/>
                  <a:t>, несмотря на формально улучшенную метрику.</a:t>
                </a:r>
              </a:p>
              <a:p>
                <a:br>
                  <a:rPr lang="ru-RU" sz="1200" dirty="0">
                    <a:latin typeface="Arial (Основной текст)"/>
                  </a:rPr>
                </a:br>
                <a:endParaRPr lang="ru-RU" sz="1200" dirty="0">
                  <a:latin typeface="Arial (Основной текст)"/>
                </a:endParaRPr>
              </a:p>
              <a:p>
                <a:r>
                  <a:rPr lang="ru-RU" sz="1200" b="1" dirty="0">
                    <a:latin typeface="Arial (Основной текст)"/>
                  </a:rPr>
                  <a:t>Вывод</a:t>
                </a:r>
                <a:endParaRPr lang="en-US" sz="1200" b="1" dirty="0">
                  <a:latin typeface="Arial (Основной текст)"/>
                </a:endParaRPr>
              </a:p>
              <a:p>
                <a:endParaRPr lang="ru-RU" sz="1200" b="1" dirty="0">
                  <a:latin typeface="Arial (Основной текст)"/>
                </a:endParaRPr>
              </a:p>
              <a:p>
                <a:r>
                  <a:rPr lang="en-US" sz="1200" b="1" dirty="0">
                    <a:latin typeface="Arial (Основной текст)"/>
                  </a:rPr>
                  <a:t>Likelihood</a:t>
                </a:r>
                <a:r>
                  <a:rPr lang="en-US" sz="1200" dirty="0">
                    <a:latin typeface="Arial (Основной текст)"/>
                  </a:rPr>
                  <a:t> — </a:t>
                </a:r>
                <a:r>
                  <a:rPr lang="ru-RU" sz="1200" dirty="0">
                    <a:latin typeface="Arial (Основной текст)"/>
                  </a:rPr>
                  <a:t>не всегда надёжная мера качества для генеративных моделей.</a:t>
                </a:r>
              </a:p>
              <a:p>
                <a:r>
                  <a:rPr lang="ru-RU" sz="1200" dirty="0">
                    <a:latin typeface="Arial (Основной текст)"/>
                  </a:rPr>
                  <a:t>Модель может иметь:</a:t>
                </a:r>
                <a:endParaRPr lang="en-US" sz="1200" dirty="0">
                  <a:latin typeface="Arial (Основной текст)"/>
                </a:endParaRPr>
              </a:p>
              <a:p>
                <a:pPr marL="171450" indent="-171450">
                  <a:buFontTx/>
                  <a:buChar char="-"/>
                </a:pPr>
                <a:r>
                  <a:rPr lang="ru-RU" sz="1200" dirty="0">
                    <a:latin typeface="Arial (Основной текст)"/>
                  </a:rPr>
                  <a:t>отличные сэмплы, но низкий </a:t>
                </a:r>
                <a:r>
                  <a:rPr lang="en-US" sz="1200" dirty="0">
                    <a:latin typeface="Arial (Основной текст)"/>
                  </a:rPr>
                  <a:t>likelihood;</a:t>
                </a:r>
              </a:p>
              <a:p>
                <a:pPr marL="171450" indent="-171450">
                  <a:buFontTx/>
                  <a:buChar char="-"/>
                </a:pPr>
                <a:r>
                  <a:rPr lang="ru-RU" sz="1200" dirty="0">
                    <a:latin typeface="Arial (Основной текст)"/>
                  </a:rPr>
                  <a:t>высокий </a:t>
                </a:r>
                <a:r>
                  <a:rPr lang="en-US" sz="1200" dirty="0">
                    <a:latin typeface="Arial (Основной текст)"/>
                  </a:rPr>
                  <a:t>likelihood, </a:t>
                </a:r>
                <a:r>
                  <a:rPr lang="ru-RU" sz="1200" dirty="0">
                    <a:latin typeface="Arial (Основной текст)"/>
                  </a:rPr>
                  <a:t>но нерелевантные (мусорные) сэмплы.</a:t>
                </a:r>
              </a:p>
              <a:p>
                <a:endParaRPr lang="ar-AE" sz="1200" b="0" dirty="0">
                  <a:latin typeface="Arial (Основной текст)"/>
                </a:endParaRPr>
              </a:p>
              <a:p>
                <a:endParaRPr lang="ar-AE" sz="1200" b="0" dirty="0">
                  <a:latin typeface="Arial (Основной текст)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A14976-7C1F-E8A8-9DF2-32A793C58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2" y="1177472"/>
                <a:ext cx="8540388" cy="34218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4356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25D49-74D9-645D-4361-A60C4465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29E04A-8CBA-2D4E-5BFA-E5518ACDF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GAN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6B6551-5BD0-A082-21F3-0E32C252C76B}"/>
                  </a:ext>
                </a:extLst>
              </p:cNvPr>
              <p:cNvSpPr txBox="1"/>
              <p:nvPr/>
            </p:nvSpPr>
            <p:spPr>
              <a:xfrm>
                <a:off x="512172" y="1177472"/>
                <a:ext cx="854038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Generator</a:t>
                </a:r>
              </a:p>
              <a:p>
                <a:r>
                  <a:rPr lang="ru-RU" sz="1200" dirty="0"/>
                  <a:t>Генеративная модель </a:t>
                </a:r>
                <a14:m>
                  <m:oMath xmlns:m="http://schemas.openxmlformats.org/officeDocument/2006/math">
                    <m:r>
                      <a:rPr lang="ru-RU" sz="12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2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d>
                  </m:oMath>
                </a14:m>
                <a:r>
                  <a:rPr lang="ar-AE" sz="1200" dirty="0"/>
                  <a:t>,</a:t>
                </a:r>
                <a:r>
                  <a:rPr lang="en-US" sz="1200" dirty="0"/>
                  <a:t> </a:t>
                </a:r>
                <a:r>
                  <a:rPr lang="ru-RU" sz="1200" dirty="0"/>
                  <a:t>которая делает сгенерированные примеры более реалистичными.</a:t>
                </a:r>
                <a:endParaRPr lang="en-US" sz="1200" dirty="0"/>
              </a:p>
              <a:p>
                <a:br>
                  <a:rPr lang="ru-RU" sz="1200" dirty="0"/>
                </a:br>
                <a:r>
                  <a:rPr lang="ru-RU" sz="1200" dirty="0"/>
                  <a:t>Здесь </a:t>
                </a:r>
                <a14:m>
                  <m:oMath xmlns:m="http://schemas.openxmlformats.org/officeDocument/2006/math">
                    <m:r>
                      <a:rPr lang="ru-RU" sz="1200" b="1">
                        <a:latin typeface="Cambria Math" panose="02040503050406030204" pitchFamily="18" charset="0"/>
                      </a:rPr>
                      <m:t>𝐳</m:t>
                    </m:r>
                  </m:oMath>
                </a14:m>
                <a:r>
                  <a:rPr lang="ru-RU" sz="1200" dirty="0"/>
                  <a:t>— это выборка из базового (известного) распределения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d>
                  </m:oMath>
                </a14:m>
                <a:r>
                  <a:rPr lang="ar-AE" sz="1200" dirty="0"/>
                  <a:t>,</a:t>
                </a:r>
                <a:r>
                  <a:rPr lang="en-US" sz="1200" dirty="0"/>
                  <a:t> </a:t>
                </a:r>
                <a:r>
                  <a:rPr lang="ru-RU" sz="1200" dirty="0"/>
                  <a:t>и </a:t>
                </a:r>
                <a14:m>
                  <m:oMath xmlns:m="http://schemas.openxmlformats.org/officeDocument/2006/math">
                    <m:r>
                      <a:rPr lang="ru-RU" sz="12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ru-RU" sz="1200">
                        <a:latin typeface="Cambria Math" panose="02040503050406030204" pitchFamily="18" charset="0"/>
                      </a:rPr>
                      <m:t>∼</m:t>
                    </m:r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ar-AE" sz="1200" dirty="0"/>
                  <a:t>.</a:t>
                </a:r>
                <a:r>
                  <a:rPr lang="en-US" sz="1200" dirty="0"/>
                  <a:t>  </a:t>
                </a:r>
                <a:r>
                  <a:rPr lang="ru-RU" sz="1200" dirty="0"/>
                  <a:t>Например, </a:t>
                </a:r>
                <a:r>
                  <a:rPr lang="ru-RU" sz="1200" dirty="0" err="1"/>
                  <a:t>номарльного</a:t>
                </a:r>
                <a:br>
                  <a:rPr lang="ar-AE" sz="1200" dirty="0"/>
                </a:br>
                <a:br>
                  <a:rPr lang="ru-RU" sz="1200" dirty="0"/>
                </a:br>
                <a:endParaRPr lang="ru-RU" sz="1200" dirty="0"/>
              </a:p>
              <a:p>
                <a:r>
                  <a:rPr lang="en-US" sz="1200" b="1" dirty="0"/>
                  <a:t>🔹 Discriminator</a:t>
                </a:r>
              </a:p>
              <a:p>
                <a:r>
                  <a:rPr lang="ru-RU" sz="1200" dirty="0"/>
                  <a:t>Классификатор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ar-AE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2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ar-AE" sz="12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sz="12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1200" dirty="0"/>
                  <a:t>,</a:t>
                </a:r>
                <a:r>
                  <a:rPr lang="en-US" sz="1200" dirty="0"/>
                  <a:t> </a:t>
                </a:r>
                <a:r>
                  <a:rPr lang="ru-RU" sz="1200" dirty="0"/>
                  <a:t>который отличает реальные примеры от сгенерированных.</a:t>
                </a:r>
                <a:endParaRPr lang="ar-AE" sz="1200" b="0" dirty="0">
                  <a:latin typeface="Arial (Основной текст)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6B6551-5BD0-A082-21F3-0E32C252C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2" y="1177472"/>
                <a:ext cx="8540388" cy="1569660"/>
              </a:xfrm>
              <a:prstGeom prst="rect">
                <a:avLst/>
              </a:prstGeom>
              <a:blipFill>
                <a:blip r:embed="rId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 descr="Generative Adversarial Network - Naukri Code 360">
            <a:extLst>
              <a:ext uri="{FF2B5EF4-FFF2-40B4-BE49-F238E27FC236}">
                <a16:creationId xmlns:a16="http://schemas.microsoft.com/office/drawing/2014/main" id="{7B507D09-6F85-1946-6779-87BA79F96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801" y="3003927"/>
            <a:ext cx="5936398" cy="198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016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0F7F-A263-5DD6-0FFA-E76017B9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A09303-B04C-1805-1FAD-6BED10D8C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GAN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DB3085-7436-E226-A0B2-B6370FAF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901" y="775888"/>
            <a:ext cx="6413809" cy="16244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6FCAFA-727D-2582-BDDF-4C337A8FF401}"/>
                  </a:ext>
                </a:extLst>
              </p:cNvPr>
              <p:cNvSpPr txBox="1"/>
              <p:nvPr/>
            </p:nvSpPr>
            <p:spPr>
              <a:xfrm>
                <a:off x="245327" y="2496650"/>
                <a:ext cx="418189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1" dirty="0"/>
                  <a:t>Пояснения: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b="1" dirty="0"/>
                  <a:t>дискриминатор</a:t>
                </a:r>
                <a:r>
                  <a:rPr lang="ru-RU" sz="1200" dirty="0"/>
                  <a:t>, оценивает вероятность того,</a:t>
                </a:r>
                <a:br>
                  <a:rPr lang="ru-RU" sz="1200" dirty="0"/>
                </a:br>
                <a:r>
                  <a:rPr lang="ru-RU" sz="1200" dirty="0"/>
                  <a:t>что пример </a:t>
                </a:r>
                <a14:m>
                  <m:oMath xmlns:m="http://schemas.openxmlformats.org/officeDocument/2006/math">
                    <m:r>
                      <a:rPr lang="ru-RU" sz="1200" b="1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ru-RU" sz="1200" dirty="0"/>
                  <a:t>— </a:t>
                </a:r>
                <a:r>
                  <a:rPr lang="ru-RU" sz="1200" b="1" dirty="0"/>
                  <a:t>реальный</a:t>
                </a:r>
                <a:r>
                  <a:rPr lang="ru-RU" sz="12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b="1" dirty="0"/>
                  <a:t>генератор</a:t>
                </a:r>
                <a:r>
                  <a:rPr lang="ru-RU" sz="1200" dirty="0"/>
                  <a:t>, создаёт сэмплы,</a:t>
                </a:r>
                <a:br>
                  <a:rPr lang="ru-RU" sz="1200" dirty="0"/>
                </a:br>
                <a:r>
                  <a:rPr lang="ru-RU" sz="1200" dirty="0"/>
                  <a:t>чтобы </a:t>
                </a:r>
                <a:r>
                  <a:rPr lang="ru-RU" sz="1200" b="1" dirty="0"/>
                  <a:t>обмануть дискриминатор</a:t>
                </a:r>
                <a:r>
                  <a:rPr lang="ru-RU" sz="12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dirty="0"/>
                  <a:t>распределение </a:t>
                </a:r>
                <a:r>
                  <a:rPr lang="ru-RU" sz="1200" b="1" dirty="0"/>
                  <a:t>реальных данных</a:t>
                </a:r>
                <a:r>
                  <a:rPr lang="ru-RU" sz="12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dirty="0"/>
                  <a:t>распределение </a:t>
                </a:r>
                <a:r>
                  <a:rPr lang="ru-RU" sz="1200" b="1" dirty="0"/>
                  <a:t>шума (латентных переменных)</a:t>
                </a:r>
                <a:r>
                  <a:rPr lang="ru-RU" sz="1200" dirty="0"/>
                  <a:t>.</a:t>
                </a:r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26FCAFA-727D-2582-BDDF-4C337A8FF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27" y="2496650"/>
                <a:ext cx="4181893" cy="1569660"/>
              </a:xfrm>
              <a:prstGeom prst="rect">
                <a:avLst/>
              </a:prstGeom>
              <a:blipFill>
                <a:blip r:embed="rId4"/>
                <a:stretch>
                  <a:fillRect t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46F0E7A-F57C-D4D8-EAB2-A86B921C91E5}"/>
              </a:ext>
            </a:extLst>
          </p:cNvPr>
          <p:cNvSpPr txBox="1"/>
          <p:nvPr/>
        </p:nvSpPr>
        <p:spPr>
          <a:xfrm>
            <a:off x="4501375" y="2523082"/>
            <a:ext cx="4459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Смысл оптимизации:</a:t>
            </a:r>
          </a:p>
          <a:p>
            <a:r>
              <a:rPr lang="ru-RU" sz="1200" b="1" dirty="0"/>
              <a:t>Дискриминатор (</a:t>
            </a:r>
            <a:r>
              <a:rPr lang="en-US" sz="1200" b="1" dirty="0"/>
              <a:t>D)</a:t>
            </a:r>
            <a:r>
              <a:rPr lang="en-US" sz="1200" dirty="0"/>
              <a:t> </a:t>
            </a:r>
            <a:r>
              <a:rPr lang="ru-RU" sz="1200" dirty="0"/>
              <a:t>стремится </a:t>
            </a:r>
            <a:r>
              <a:rPr lang="ru-RU" sz="1200" b="1" dirty="0"/>
              <a:t>максимизировать</a:t>
            </a:r>
            <a:r>
              <a:rPr lang="ru-RU" sz="1200" dirty="0"/>
              <a:t> вероятность</a:t>
            </a:r>
            <a:br>
              <a:rPr lang="ru-RU" sz="1200" dirty="0"/>
            </a:br>
            <a:r>
              <a:rPr lang="ru-RU" sz="1200" dirty="0"/>
              <a:t>правильно различать реальные и фейковые данные.</a:t>
            </a:r>
          </a:p>
          <a:p>
            <a:r>
              <a:rPr lang="ru-RU" sz="1200" b="1" dirty="0"/>
              <a:t>Генератор (</a:t>
            </a:r>
            <a:r>
              <a:rPr lang="en-US" sz="1200" b="1" dirty="0"/>
              <a:t>G)</a:t>
            </a:r>
            <a:r>
              <a:rPr lang="en-US" sz="1200" dirty="0"/>
              <a:t> </a:t>
            </a:r>
            <a:r>
              <a:rPr lang="ru-RU" sz="1200" dirty="0"/>
              <a:t>стремится </a:t>
            </a:r>
            <a:r>
              <a:rPr lang="ru-RU" sz="1200" b="1" dirty="0"/>
              <a:t>минимизировать</a:t>
            </a:r>
            <a:r>
              <a:rPr lang="ru-RU" sz="1200" dirty="0"/>
              <a:t> ту же функцию —</a:t>
            </a:r>
            <a:br>
              <a:rPr lang="ru-RU" sz="1200" dirty="0"/>
            </a:br>
            <a:r>
              <a:rPr lang="ru-RU" sz="1200" dirty="0"/>
              <a:t>он хочет, чтобы дискриминатор не мог отличить фейк от реального.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2D26CA-A4E4-4222-05A9-B22F6E793A2E}"/>
                  </a:ext>
                </a:extLst>
              </p:cNvPr>
              <p:cNvSpPr txBox="1"/>
              <p:nvPr/>
            </p:nvSpPr>
            <p:spPr>
              <a:xfrm>
                <a:off x="1800085" y="3723411"/>
                <a:ext cx="540257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br>
                  <a:rPr lang="ru-RU" sz="1200" dirty="0"/>
                </a:br>
                <a:endParaRPr lang="ru-RU" sz="1200" dirty="0"/>
              </a:p>
              <a:p>
                <a:r>
                  <a:rPr lang="ru-RU" sz="1200" b="1" dirty="0"/>
                  <a:t>Итог:</a:t>
                </a:r>
              </a:p>
              <a:p>
                <a:r>
                  <a:rPr lang="ru-RU" sz="1200" dirty="0"/>
                  <a:t>Это </a:t>
                </a:r>
                <a:r>
                  <a:rPr lang="ru-RU" sz="1200" b="1" dirty="0"/>
                  <a:t>борьба во время обучения </a:t>
                </a:r>
                <a:r>
                  <a:rPr lang="ru-RU" sz="1200" dirty="0"/>
                  <a:t>между </a:t>
                </a:r>
                <a:r>
                  <a:rPr lang="en-US" sz="1200" dirty="0"/>
                  <a:t>G </a:t>
                </a:r>
                <a:r>
                  <a:rPr lang="ru-RU" sz="1200" dirty="0"/>
                  <a:t>и </a:t>
                </a:r>
                <a:r>
                  <a:rPr lang="en-US" sz="1200" dirty="0"/>
                  <a:t>D: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b="0"/>
                      <m:t>Generator</m:t>
                    </m:r>
                    <m:r>
                      <m:rPr>
                        <m:nor/>
                      </m:rPr>
                      <a:rPr lang="en-US" sz="1200" b="0" i="1"/>
                      <m:t> </m:t>
                    </m:r>
                    <m:r>
                      <m:rPr>
                        <m:nor/>
                      </m:rPr>
                      <a:rPr lang="en-US" sz="1200" b="0" i="1"/>
                      <m:t>↔ </m:t>
                    </m:r>
                    <m:r>
                      <m:rPr>
                        <m:nor/>
                      </m:rPr>
                      <a:rPr lang="en-US" sz="1200" b="0" i="1"/>
                      <m:t>Discriminator</m:t>
                    </m:r>
                  </m:oMath>
                </a14:m>
                <a:endParaRPr lang="en-US" sz="1200" b="0" dirty="0"/>
              </a:p>
              <a:p>
                <a:endParaRPr lang="en-US" sz="1200" dirty="0"/>
              </a:p>
              <a:p>
                <a:r>
                  <a:rPr lang="en-US" sz="1200" dirty="0"/>
                  <a:t>!</a:t>
                </a:r>
                <a:r>
                  <a:rPr lang="ru-RU" sz="1200" dirty="0"/>
                  <a:t>обучение без явного вычисления </a:t>
                </a:r>
                <a14:m>
                  <m:oMath xmlns:m="http://schemas.openxmlformats.org/officeDocument/2006/math">
                    <m:r>
                      <a:rPr lang="ru-RU" sz="1200" b="1" i="1"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ar-AE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ru-RU" sz="1200" b="1" dirty="0"/>
                  <a:t> -- </a:t>
                </a:r>
                <a:r>
                  <a:rPr lang="en-US" sz="1200" b="1" dirty="0"/>
                  <a:t>Likelihood</a:t>
                </a:r>
                <a:r>
                  <a:rPr lang="ru-RU" sz="1200" b="1" dirty="0"/>
                  <a:t> </a:t>
                </a:r>
                <a:r>
                  <a:rPr lang="en-US" sz="1200" b="1" dirty="0"/>
                  <a:t>free</a:t>
                </a:r>
                <a:br>
                  <a:rPr lang="ar-AE" sz="1200" dirty="0"/>
                </a:br>
                <a:r>
                  <a:rPr lang="ru-RU" sz="1200" dirty="0"/>
                  <a:t>но с максимальным приближением к реальному распределению данных.</a:t>
                </a:r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2D26CA-A4E4-4222-05A9-B22F6E793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085" y="3723411"/>
                <a:ext cx="5402579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861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9EF28-2CFB-6400-4852-EF66C795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4950E-C8C7-F260-EE52-F2122EE2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GAN train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C547E21-2BA0-7B38-016D-1C7C8E2B8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435" y="960826"/>
            <a:ext cx="5898105" cy="3876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047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73568-37C8-07CE-773A-6E0A61EB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830F0-BAEC-F83B-B60C-4A174C2A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GANs problems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9968D-D92A-9D84-3014-3E33286C1F2A}"/>
              </a:ext>
            </a:extLst>
          </p:cNvPr>
          <p:cNvSpPr txBox="1"/>
          <p:nvPr/>
        </p:nvSpPr>
        <p:spPr>
          <a:xfrm>
            <a:off x="512172" y="1177472"/>
            <a:ext cx="85403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Mode </a:t>
            </a:r>
            <a:r>
              <a:rPr lang="ru-RU" sz="1200" b="1" dirty="0" err="1"/>
              <a:t>collapse</a:t>
            </a:r>
            <a:r>
              <a:rPr lang="ru-RU" sz="1200" b="1" dirty="0"/>
              <a:t> (схлопывание мод)</a:t>
            </a:r>
          </a:p>
          <a:p>
            <a:endParaRPr lang="ru-RU" sz="1200" b="1" dirty="0"/>
          </a:p>
          <a:p>
            <a:r>
              <a:rPr lang="ru-RU" sz="1200" dirty="0"/>
              <a:t>Генератор производит ограниченное число уникальных образцов. Он находит несколько «успешных» примеров, которые обманывают дискриминатор, и начинает их повторять.</a:t>
            </a:r>
            <a:br>
              <a:rPr lang="ru-RU" sz="1200" dirty="0"/>
            </a:br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r>
              <a:rPr lang="ru-RU" sz="1200" b="1" dirty="0"/>
              <a:t>Причина:</a:t>
            </a:r>
            <a:r>
              <a:rPr lang="ru-RU" sz="1200" dirty="0"/>
              <a:t> дисбаланс в обучении — дискриминатор обучается быстрее, чем генератор.</a:t>
            </a:r>
          </a:p>
          <a:p>
            <a:endParaRPr lang="ar-AE" sz="1200" b="0" dirty="0">
              <a:latin typeface="Arial (Основной текст)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6B3F6C8-1318-4370-866B-B3F9D2B45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936" y="2188638"/>
            <a:ext cx="7240859" cy="1884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576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26356-7234-17AE-8B73-1B7E9F50D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D6403-4B9E-CD98-3FD4-B4A25D43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GANs problems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30CBD3-98B7-0587-A4DE-228A25C63425}"/>
              </a:ext>
            </a:extLst>
          </p:cNvPr>
          <p:cNvSpPr txBox="1"/>
          <p:nvPr/>
        </p:nvSpPr>
        <p:spPr>
          <a:xfrm>
            <a:off x="512172" y="1070478"/>
            <a:ext cx="85403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Неустойчивая сходимость</a:t>
            </a:r>
          </a:p>
          <a:p>
            <a:r>
              <a:rPr lang="ru-RU" sz="1200" dirty="0"/>
              <a:t>Обучение напоминает игру “кошки-мышки” между G и D. Иногда GAN вообще не сходится, а лишь осциллирует.</a:t>
            </a:r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br>
              <a:rPr lang="ru-RU" sz="1200" dirty="0"/>
            </a:br>
            <a:r>
              <a:rPr lang="ru-RU" sz="1200" dirty="0"/>
              <a:t> </a:t>
            </a:r>
            <a:r>
              <a:rPr lang="ru-RU" sz="1200" b="1" dirty="0"/>
              <a:t>Причина:</a:t>
            </a:r>
            <a:r>
              <a:rPr lang="ru-RU" sz="1200" dirty="0"/>
              <a:t> отсутствие единой функции потерь с хорошими градиентами для обоих моделей.</a:t>
            </a:r>
          </a:p>
          <a:p>
            <a:endParaRPr lang="ar-AE" sz="1200" b="0" dirty="0">
              <a:latin typeface="Arial (Основной текст)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BE50DE-45EB-CFE9-2677-2FEE2DD9D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614" y="1688330"/>
            <a:ext cx="4320249" cy="238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90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B5ED1-4D1B-EFF2-FFA1-2D7858658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88CB3E-1624-A1ED-4985-CFDA9D0B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GANs problems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24A53-4411-F190-0972-0896A9108AA7}"/>
              </a:ext>
            </a:extLst>
          </p:cNvPr>
          <p:cNvSpPr txBox="1"/>
          <p:nvPr/>
        </p:nvSpPr>
        <p:spPr>
          <a:xfrm>
            <a:off x="512172" y="1070478"/>
            <a:ext cx="85403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err="1"/>
              <a:t>Vanishing</a:t>
            </a:r>
            <a:r>
              <a:rPr lang="ru-RU" sz="1200" b="1" dirty="0"/>
              <a:t> </a:t>
            </a:r>
            <a:r>
              <a:rPr lang="ru-RU" sz="1200" b="1" dirty="0" err="1"/>
              <a:t>gradients</a:t>
            </a:r>
            <a:endParaRPr lang="ru-RU" sz="1200" b="1" dirty="0"/>
          </a:p>
          <a:p>
            <a:r>
              <a:rPr lang="ru-RU" sz="1200" dirty="0"/>
              <a:t>Когда дискриминатор слишком силён, градиенты, поступающие к генератору, исчезают — генератор перестаёт обучаться.</a:t>
            </a:r>
            <a:br>
              <a:rPr lang="ru-RU" sz="1200" dirty="0"/>
            </a:br>
            <a:endParaRPr lang="ru-RU" sz="1200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endParaRPr lang="ru-RU" sz="1200" b="1" dirty="0"/>
          </a:p>
          <a:p>
            <a:r>
              <a:rPr lang="ru-RU" sz="1200" b="1" dirty="0"/>
              <a:t>Причина:</a:t>
            </a:r>
            <a:r>
              <a:rPr lang="ru-RU" sz="1200" dirty="0"/>
              <a:t> форма функции потерь в D → насыщение при уверенных предсказаниях.</a:t>
            </a:r>
          </a:p>
          <a:p>
            <a:endParaRPr lang="ar-AE" sz="1200" b="0" dirty="0">
              <a:latin typeface="Arial (Основной текст)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98BC205-2228-9E4F-7670-A61E49FAB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131" y="1624570"/>
            <a:ext cx="3656671" cy="283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463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D01D3-90A3-F5DE-460F-370F0B64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22837-0369-1894-B15A-2EE5DA304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Wasserstein distance (</a:t>
            </a:r>
            <a:r>
              <a:rPr lang="ru-RU" sz="2800" dirty="0"/>
              <a:t>дискретный случай)</a:t>
            </a:r>
            <a:endParaRPr lang="en-US" sz="28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89A6C2CB-18A4-F704-CAED-99D367DC9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72" y="1627293"/>
            <a:ext cx="4245262" cy="201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83B4A9-F038-0CE9-384A-5E20EDA0A7D7}"/>
                  </a:ext>
                </a:extLst>
              </p:cNvPr>
              <p:cNvSpPr txBox="1"/>
              <p:nvPr/>
            </p:nvSpPr>
            <p:spPr>
              <a:xfrm>
                <a:off x="512172" y="1043940"/>
                <a:ext cx="8540388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1" dirty="0"/>
                  <a:t>Earth </a:t>
                </a:r>
                <a:r>
                  <a:rPr lang="ru-RU" sz="1200" b="1" dirty="0" err="1"/>
                  <a:t>Mover’s</a:t>
                </a:r>
                <a:r>
                  <a:rPr lang="ru-RU" sz="1200" b="1" dirty="0"/>
                  <a:t> </a:t>
                </a:r>
                <a:r>
                  <a:rPr lang="ru-RU" sz="1200" b="1" dirty="0" err="1"/>
                  <a:t>Distance</a:t>
                </a:r>
                <a:r>
                  <a:rPr lang="ru-RU" sz="1200" b="1" dirty="0"/>
                  <a:t> (EMD) -- </a:t>
                </a:r>
                <a:r>
                  <a:rPr lang="ru-RU" sz="1200" dirty="0"/>
                  <a:t>Минимальная «стоимость» перемещения и трансформации кучи «грунта»</a:t>
                </a:r>
                <a:br>
                  <a:rPr lang="ru-RU" sz="1200" dirty="0"/>
                </a:br>
                <a:r>
                  <a:rPr lang="ru-RU" sz="1200" dirty="0"/>
                  <a:t>из формы одного распределения вероятностей в форму другого.</a:t>
                </a:r>
              </a:p>
              <a:p>
                <a:endParaRPr lang="ru-RU" sz="1200" b="0" dirty="0">
                  <a:latin typeface="Arial (Основной текст)"/>
                </a:endParaRPr>
              </a:p>
              <a:p>
                <a:endParaRPr lang="ru-RU" sz="1200" dirty="0">
                  <a:latin typeface="Arial (Основной текст)"/>
                </a:endParaRPr>
              </a:p>
              <a:p>
                <a:endParaRPr lang="ru-RU" sz="1200" b="0" dirty="0">
                  <a:latin typeface="Arial (Основной текст)"/>
                </a:endParaRPr>
              </a:p>
              <a:p>
                <a:endParaRPr lang="ru-RU" sz="1200" dirty="0">
                  <a:latin typeface="Arial (Основной текст)"/>
                </a:endParaRPr>
              </a:p>
              <a:p>
                <a:endParaRPr lang="ru-RU" sz="1200" b="0" dirty="0">
                  <a:latin typeface="Arial (Основной текст)"/>
                </a:endParaRPr>
              </a:p>
              <a:p>
                <a:endParaRPr lang="ru-RU" sz="1200" dirty="0">
                  <a:latin typeface="Arial (Основной текст)"/>
                </a:endParaRPr>
              </a:p>
              <a:p>
                <a:endParaRPr lang="ru-RU" sz="1200" b="0" dirty="0">
                  <a:latin typeface="Arial (Основной текст)"/>
                </a:endParaRPr>
              </a:p>
              <a:p>
                <a:endParaRPr lang="ru-RU" sz="1200" dirty="0">
                  <a:latin typeface="Arial (Основной текст)"/>
                </a:endParaRPr>
              </a:p>
              <a:p>
                <a:endParaRPr lang="ru-RU" sz="1200" b="0" dirty="0">
                  <a:latin typeface="Arial (Основной текст)"/>
                </a:endParaRPr>
              </a:p>
              <a:p>
                <a:endParaRPr lang="ru-RU" sz="1200" dirty="0">
                  <a:latin typeface="Arial (Основной текст)"/>
                </a:endParaRPr>
              </a:p>
              <a:p>
                <a:endParaRPr lang="ru-RU" sz="1200" b="0" dirty="0">
                  <a:latin typeface="Arial (Основной текст)"/>
                </a:endParaRPr>
              </a:p>
              <a:p>
                <a:endParaRPr lang="ru-RU" sz="1200" dirty="0">
                  <a:latin typeface="Arial (Основной текст)"/>
                </a:endParaRPr>
              </a:p>
              <a:p>
                <a:endParaRPr lang="ru-RU" sz="1200" dirty="0">
                  <a:latin typeface="Arial (Основной текст)"/>
                </a:endParaRPr>
              </a:p>
              <a:p>
                <a:r>
                  <a:rPr lang="ru-RU" sz="1200" b="0" dirty="0">
                    <a:latin typeface="Calibri (Основной текст)"/>
                  </a:rPr>
                  <a:t>Интуиция</a:t>
                </a:r>
                <a:r>
                  <a:rPr lang="en-US" sz="1200" b="0" dirty="0">
                    <a:latin typeface="Calibri (Основной текст)"/>
                  </a:rPr>
                  <a:t>:</a:t>
                </a:r>
              </a:p>
              <a:p>
                <a:r>
                  <a:rPr lang="en-US" sz="1200" dirty="0">
                    <a:latin typeface="Calibri (Основной текст)"/>
                  </a:rPr>
                  <a:t>1) </a:t>
                </a:r>
                <a:r>
                  <a:rPr lang="ru-RU" sz="1200" dirty="0">
                    <a:latin typeface="Calibri (Основной текст)"/>
                  </a:rPr>
                  <a:t>Представим, что распределение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200" dirty="0">
                    <a:latin typeface="Calibri (Основной текст)"/>
                  </a:rPr>
                  <a:t>— это куча песка,</a:t>
                </a:r>
                <a:r>
                  <a:rPr lang="en-US" sz="1200" dirty="0">
                    <a:latin typeface="Calibri (Основной текст)"/>
                  </a:rPr>
                  <a:t> </a:t>
                </a:r>
                <a:r>
                  <a:rPr lang="ru-RU" sz="1200" dirty="0">
                    <a:latin typeface="Calibri (Основной текст)"/>
                  </a:rPr>
                  <a:t>а распределение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ru-RU" sz="1200" dirty="0">
                    <a:latin typeface="Calibri (Основной текст)"/>
                  </a:rPr>
                  <a:t>— форма, в которую нужно этот песок переместить.</a:t>
                </a:r>
                <a:endParaRPr lang="en-US" sz="1200" dirty="0">
                  <a:latin typeface="Calibri (Основной текст)"/>
                </a:endParaRPr>
              </a:p>
              <a:p>
                <a:r>
                  <a:rPr lang="en-US" sz="1200" dirty="0">
                    <a:latin typeface="Calibri (Основной текст)"/>
                  </a:rPr>
                  <a:t>2) Wasserstein distance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sepChr m:val=","/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r>
                  <a:rPr lang="ru-RU" sz="1200" dirty="0">
                    <a:latin typeface="Calibri (Основной текст)"/>
                  </a:rPr>
                  <a:t>измеряет </a:t>
                </a:r>
                <a:r>
                  <a:rPr lang="ru-RU" sz="1200" b="1" dirty="0">
                    <a:latin typeface="Calibri (Основной текст)"/>
                  </a:rPr>
                  <a:t>минимальную работу</a:t>
                </a:r>
                <a:r>
                  <a:rPr lang="ru-RU" sz="1200" dirty="0">
                    <a:latin typeface="Calibri (Основной текст)"/>
                  </a:rPr>
                  <a:t>,</a:t>
                </a:r>
                <a:r>
                  <a:rPr lang="en-US" sz="1200" dirty="0">
                    <a:latin typeface="Calibri (Основной текст)"/>
                  </a:rPr>
                  <a:t> </a:t>
                </a:r>
                <a:r>
                  <a:rPr lang="ru-RU" sz="1200" dirty="0">
                    <a:latin typeface="Calibri (Основной текст)"/>
                  </a:rPr>
                  <a:t>необходимую, чтобы преобразовать одно распределение в другое.</a:t>
                </a:r>
                <a:endParaRPr lang="en-US" sz="1200" dirty="0">
                  <a:latin typeface="Calibri (Основной текст)"/>
                </a:endParaRPr>
              </a:p>
              <a:p>
                <a:r>
                  <a:rPr lang="en-US" sz="1200" b="0" dirty="0">
                    <a:latin typeface="Calibri (Основной текст)"/>
                  </a:rPr>
                  <a:t>3) </a:t>
                </a:r>
                <a:r>
                  <a:rPr lang="ru-RU" sz="1200" dirty="0">
                    <a:latin typeface="Calibri (Основной текст)"/>
                  </a:rPr>
                  <a:t>Чем дальше «масса» переносится, тем выше расстояние.</a:t>
                </a:r>
                <a:endParaRPr lang="ru-RU" sz="1200" b="0" dirty="0">
                  <a:latin typeface="Calibri (Основной текст)"/>
                </a:endParaRPr>
              </a:p>
              <a:p>
                <a:endParaRPr lang="ru-RU" sz="1200" dirty="0">
                  <a:latin typeface="Arial (Основной текст)"/>
                </a:endParaRPr>
              </a:p>
              <a:p>
                <a:endParaRPr lang="ar-AE" sz="1200" b="0" dirty="0">
                  <a:latin typeface="Arial (Основной текст)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83B4A9-F038-0CE9-384A-5E20EDA0A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172" y="1043940"/>
                <a:ext cx="8540388" cy="41549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4CD27C-B2AD-C81B-D39D-78C785F7A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66" y="2365871"/>
            <a:ext cx="4389500" cy="53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2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D8FBF-13ED-0A0B-B05F-AB9096D41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D7C2B-534A-EA0D-0F72-4A76E2CA0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Wasserstein distance (continuous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2BC0EA-A79E-A924-D3FE-CB6EA5A4C236}"/>
                  </a:ext>
                </a:extLst>
              </p:cNvPr>
              <p:cNvSpPr txBox="1"/>
              <p:nvPr/>
            </p:nvSpPr>
            <p:spPr>
              <a:xfrm>
                <a:off x="457200" y="963960"/>
                <a:ext cx="8540388" cy="4171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Wasserstein distance (continuous case)</a:t>
                </a:r>
                <a:endParaRPr lang="ru-RU" sz="1200" b="1" dirty="0"/>
              </a:p>
              <a:p>
                <a:endParaRPr lang="en-US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inf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l-GR" sz="120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sepChr m:val=",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lim>
                      </m:limLow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d>
                            <m:dPr>
                              <m:sepChr m:val=",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sub>
                      </m:sSub>
                      <m:r>
                        <a:rPr lang="ar-AE" sz="1200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∥=</m:t>
                      </m:r>
                      <m:limLow>
                        <m:limLow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inf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l-GR" sz="120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sepChr m:val=",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lim>
                      </m:limLow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</m:nary>
                      <m:r>
                        <a:rPr lang="ar-AE" sz="1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∥</m:t>
                      </m:r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br>
                  <a:rPr lang="ar-AE" sz="1200" dirty="0"/>
                </a:br>
                <a:r>
                  <a:rPr lang="ru-RU" sz="1200" b="1" dirty="0"/>
                  <a:t>Интуиция:</a:t>
                </a:r>
              </a:p>
              <a:p>
                <a:endParaRPr lang="ru-RU" sz="1200" dirty="0"/>
              </a:p>
              <a:p>
                <a:r>
                  <a:rPr lang="ru-RU" sz="1200" dirty="0"/>
                  <a:t>Мы ищем </a:t>
                </a:r>
                <a:r>
                  <a:rPr lang="ru-RU" sz="1200" b="1" dirty="0"/>
                  <a:t>план транспортировки</a:t>
                </a:r>
                <a:r>
                  <a:rPr lang="ru-RU" sz="1200" dirty="0"/>
                  <a:t>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sepChr m:val=","/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sz="1200" dirty="0"/>
                  <a:t>,</a:t>
                </a:r>
                <a:r>
                  <a:rPr lang="ru-RU" sz="1200" dirty="0"/>
                  <a:t> который показывает, </a:t>
                </a:r>
                <a:r>
                  <a:rPr lang="ru-RU" sz="1200" b="1" dirty="0"/>
                  <a:t>сколько массы</a:t>
                </a:r>
                <a:r>
                  <a:rPr lang="ru-RU" sz="1200" dirty="0"/>
                  <a:t> нужно перенести из точки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1200" dirty="0"/>
                  <a:t>(в распределении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sz="1200" dirty="0"/>
                  <a:t>)</a:t>
                </a:r>
                <a:br>
                  <a:rPr lang="ru-RU" sz="1200" dirty="0"/>
                </a:br>
                <a:r>
                  <a:rPr lang="ru-RU" sz="1200" dirty="0"/>
                  <a:t>в точку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1200" dirty="0"/>
                  <a:t>(в распределении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200" dirty="0"/>
                  <a:t>).</a:t>
                </a:r>
              </a:p>
              <a:p>
                <a:endParaRPr lang="ru-RU" sz="1200" dirty="0"/>
              </a:p>
              <a:p>
                <a:r>
                  <a:rPr lang="ru-RU" sz="1200" b="1" dirty="0"/>
                  <a:t>Термины: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sepChr m:val=","/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b="1" dirty="0"/>
                  <a:t>план транспортировки</a:t>
                </a:r>
                <a:r>
                  <a:rPr lang="ru-RU" sz="1200" dirty="0"/>
                  <a:t> (“сколько земли” переносим).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200">
                        <a:latin typeface="Cambria Math" panose="02040503050406030204" pitchFamily="18" charset="0"/>
                      </a:rPr>
                      <m:t>Γ</m:t>
                    </m:r>
                    <m:d>
                      <m:dPr>
                        <m:sepChr m:val=","/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dirty="0"/>
                  <a:t>множество всех распределений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𝛾</m:t>
                    </m:r>
                    <m:d>
                      <m:dPr>
                        <m:sepChr m:val=","/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sz="1200" dirty="0"/>
                  <a:t>,</a:t>
                </a:r>
                <a:r>
                  <a:rPr lang="ru-RU" sz="1200" dirty="0"/>
                  <a:t> чьи маргиналы совпадают с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sz="1200" dirty="0"/>
                  <a:t>и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1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, 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ar-AE" sz="1200" dirty="0"/>
              </a:p>
              <a:p>
                <a14:m>
                  <m:oMath xmlns:m="http://schemas.openxmlformats.org/officeDocument/2006/math">
                    <m:r>
                      <a:rPr lang="ar-AE" sz="1200">
                        <a:latin typeface="Cambria Math" panose="02040503050406030204" pitchFamily="18" charset="0"/>
                      </a:rPr>
                      <m:t>∥</m:t>
                    </m:r>
                    <m:r>
                      <a:rPr lang="ar-AE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sz="120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ar-AE" sz="1200" dirty="0"/>
                  <a:t>— </a:t>
                </a:r>
                <a:r>
                  <a:rPr lang="ru-RU" sz="1200" b="1" dirty="0"/>
                  <a:t>стоимость переноса единицы массы</a:t>
                </a:r>
                <a:r>
                  <a:rPr lang="ru-RU" sz="1200" dirty="0"/>
                  <a:t> из точки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1200" dirty="0"/>
                  <a:t>в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sz="1200" dirty="0"/>
                  <a:t>.</a:t>
                </a:r>
              </a:p>
              <a:p>
                <a:br>
                  <a:rPr lang="ru-RU" sz="1200" dirty="0"/>
                </a:br>
                <a:r>
                  <a:rPr lang="ru-RU" sz="1200" b="1" dirty="0"/>
                  <a:t>Смысл:</a:t>
                </a:r>
              </a:p>
              <a:p>
                <a:r>
                  <a:rPr lang="en-US" sz="1200" dirty="0"/>
                  <a:t>Wasserstein </a:t>
                </a:r>
                <a:r>
                  <a:rPr lang="ru-RU" sz="1200" dirty="0"/>
                  <a:t>расстояние — это </a:t>
                </a:r>
                <a:r>
                  <a:rPr lang="ru-RU" sz="1200" b="1" dirty="0"/>
                  <a:t>минимальная средняя работа</a:t>
                </a:r>
                <a:r>
                  <a:rPr lang="ru-RU" sz="1200" dirty="0"/>
                  <a:t>, необходимая для преобразования одного распределения в другое.</a:t>
                </a:r>
                <a:br>
                  <a:rPr lang="ru-RU" sz="1200" dirty="0"/>
                </a:br>
                <a:r>
                  <a:rPr lang="ru-RU" sz="1200" b="1" dirty="0"/>
                  <a:t>Оно измеряет не только </a:t>
                </a:r>
                <a:r>
                  <a:rPr lang="ru-RU" sz="1200" b="1" i="1" dirty="0"/>
                  <a:t>насколько</a:t>
                </a:r>
                <a:r>
                  <a:rPr lang="ru-RU" sz="1200" b="1" dirty="0"/>
                  <a:t> разные распределения, но и </a:t>
                </a:r>
                <a:r>
                  <a:rPr lang="ru-RU" sz="1200" b="1" i="1" dirty="0"/>
                  <a:t>насколько далеко</a:t>
                </a:r>
                <a:r>
                  <a:rPr lang="ru-RU" sz="1200" b="1" dirty="0"/>
                  <a:t> нужно двигать их массу.</a:t>
                </a:r>
              </a:p>
              <a:p>
                <a:endParaRPr lang="ru-RU" sz="1200" dirty="0">
                  <a:latin typeface="Arial (Основной текст)"/>
                </a:endParaRPr>
              </a:p>
              <a:p>
                <a:endParaRPr lang="ar-AE" sz="1200" b="0" dirty="0">
                  <a:latin typeface="Arial (Основной текст)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2BC0EA-A79E-A924-D3FE-CB6EA5A4C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63960"/>
                <a:ext cx="8540388" cy="4171719"/>
              </a:xfrm>
              <a:prstGeom prst="rect">
                <a:avLst/>
              </a:prstGeom>
              <a:blipFill>
                <a:blip r:embed="rId3"/>
                <a:stretch>
                  <a:fillRect t="-9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8733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398BC-65E3-E65A-1445-A5AC587E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5ABD9-B703-EEEF-F45F-B64894122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Wasserstein distance</a:t>
            </a:r>
            <a:r>
              <a:rPr lang="ru-RU" sz="2800" dirty="0"/>
              <a:t> </a:t>
            </a:r>
            <a:r>
              <a:rPr lang="en-US" sz="2800" dirty="0"/>
              <a:t>VS KL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765E0D0-CDA6-5E72-8EDE-8771F5754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824" y="833718"/>
            <a:ext cx="3514299" cy="2207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2A08F5-DC46-099A-361E-5822EC5452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21"/>
          <a:stretch>
            <a:fillRect/>
          </a:stretch>
        </p:blipFill>
        <p:spPr>
          <a:xfrm>
            <a:off x="529876" y="1805466"/>
            <a:ext cx="4705833" cy="52728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3FB286-C7AB-F929-CFB6-46CE971AE5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3383"/>
          <a:stretch>
            <a:fillRect/>
          </a:stretch>
        </p:blipFill>
        <p:spPr>
          <a:xfrm>
            <a:off x="457200" y="3040799"/>
            <a:ext cx="5303980" cy="133573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7F0FD9D-A6A9-7E4F-2C2D-3191F4EA00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1432" b="30784"/>
          <a:stretch>
            <a:fillRect/>
          </a:stretch>
        </p:blipFill>
        <p:spPr>
          <a:xfrm>
            <a:off x="323334" y="4376530"/>
            <a:ext cx="5303980" cy="22302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CB5E7DE-BE4A-12EF-EEA3-A25141DE7A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2848"/>
          <a:stretch>
            <a:fillRect/>
          </a:stretch>
        </p:blipFill>
        <p:spPr>
          <a:xfrm>
            <a:off x="4460488" y="3304497"/>
            <a:ext cx="4348976" cy="63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778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07967-DAF2-ECE4-9A47-337CCDCF2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7D686-C454-D19E-8BC5-416204CB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 fontScale="90000"/>
          </a:bodyPr>
          <a:lstStyle/>
          <a:p>
            <a:r>
              <a:rPr lang="en-US" sz="2800" dirty="0"/>
              <a:t>WGAN: </a:t>
            </a:r>
            <a:r>
              <a:rPr lang="ru-RU" sz="2800" dirty="0"/>
              <a:t>использование </a:t>
            </a:r>
            <a:r>
              <a:rPr lang="en-US" sz="2800" dirty="0"/>
              <a:t>Wasserstein distance </a:t>
            </a:r>
            <a:r>
              <a:rPr lang="ru-RU" sz="2800" dirty="0"/>
              <a:t>как </a:t>
            </a:r>
            <a:r>
              <a:rPr lang="en-US" sz="2800" dirty="0"/>
              <a:t>loss-</a:t>
            </a:r>
            <a:r>
              <a:rPr lang="ru-RU" sz="2800" dirty="0"/>
              <a:t>функции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C32943-812C-0738-4902-2EB83DE74236}"/>
                  </a:ext>
                </a:extLst>
              </p:cNvPr>
              <p:cNvSpPr txBox="1"/>
              <p:nvPr/>
            </p:nvSpPr>
            <p:spPr>
              <a:xfrm>
                <a:off x="457200" y="963960"/>
                <a:ext cx="8540388" cy="4228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b="1" dirty="0"/>
                  <a:t>Проблема:</a:t>
                </a:r>
              </a:p>
              <a:p>
                <a:r>
                  <a:rPr lang="ru-RU" sz="1200" dirty="0"/>
                  <a:t>Прямое вычисление </a:t>
                </a:r>
                <a:r>
                  <a:rPr lang="en-US" sz="1200" dirty="0"/>
                  <a:t>Wasserstein </a:t>
                </a:r>
                <a:r>
                  <a:rPr lang="ru-RU" sz="1200" dirty="0"/>
                  <a:t>расстояния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inf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lim>
                      </m:limLow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∥</m:t>
                          </m:r>
                        </m:e>
                      </m:nary>
                      <m:r>
                        <a:rPr lang="ar-AE" sz="1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∥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𝛾</m:t>
                      </m:r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endParaRPr lang="ar-AE" sz="1200" b="0" dirty="0"/>
              </a:p>
              <a:p>
                <a:endParaRPr lang="ru-RU" sz="1200" dirty="0"/>
              </a:p>
              <a:p>
                <a:r>
                  <a:rPr lang="ru-RU" sz="1200" dirty="0"/>
                  <a:t>невозможно (слишком много возможных планов переноса).</a:t>
                </a:r>
              </a:p>
              <a:p>
                <a:br>
                  <a:rPr lang="ru-RU" sz="1200" dirty="0"/>
                </a:br>
                <a:endParaRPr lang="ru-RU" sz="1200" dirty="0"/>
              </a:p>
              <a:p>
                <a:r>
                  <a:rPr lang="ru-RU" sz="1200" b="1" dirty="0"/>
                  <a:t>Решение — Канторович–Рубинштейн дуальность: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limLow>
                        <m:limLow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𝐾</m:t>
                          </m:r>
                        </m:lim>
                      </m:limLow>
                      <m:r>
                        <a:rPr lang="ar-AE" sz="12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200" dirty="0"/>
              </a:p>
              <a:p>
                <a:r>
                  <a:rPr lang="ru-RU" sz="1200" dirty="0"/>
                  <a:t>Вместо «переноса массы» ищем </a:t>
                </a:r>
                <a:r>
                  <a:rPr lang="ru-RU" sz="1200" b="1" dirty="0"/>
                  <a:t>функцию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sz="1200" dirty="0"/>
                  <a:t>, которая максимально различает реальные и сгенерированные выборки.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sz="1200" dirty="0"/>
                  <a:t>должна быть </a:t>
                </a:r>
                <a:r>
                  <a:rPr lang="en-US" sz="1200" b="1" dirty="0"/>
                  <a:t>K-Lipschitz</a:t>
                </a:r>
                <a:r>
                  <a:rPr lang="en-US" sz="1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∣≤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1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1200">
                          <a:latin typeface="Cambria Math" panose="02040503050406030204" pitchFamily="18" charset="0"/>
                        </a:rPr>
                        <m:t>∣</m:t>
                      </m:r>
                    </m:oMath>
                  </m:oMathPara>
                </a14:m>
                <a:endParaRPr lang="ar-AE" sz="1200" dirty="0"/>
              </a:p>
              <a:p>
                <a:r>
                  <a:rPr lang="ru-RU" sz="1200" dirty="0"/>
                  <a:t>чтобы гарантировать стабильные градиенты.</a:t>
                </a:r>
              </a:p>
              <a:p>
                <a:br>
                  <a:rPr lang="ru-RU" sz="1200" dirty="0"/>
                </a:br>
                <a:endParaRPr lang="ru-RU" sz="1200" dirty="0"/>
              </a:p>
              <a:p>
                <a:r>
                  <a:rPr lang="ru-RU" sz="1200" b="1" dirty="0"/>
                  <a:t>Интерпретация: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b="1" dirty="0"/>
                  <a:t>критик (</a:t>
                </a:r>
                <a:r>
                  <a:rPr lang="en-US" sz="1200" b="1" dirty="0"/>
                  <a:t>critic)</a:t>
                </a:r>
                <a:r>
                  <a:rPr lang="en-US" sz="1200" dirty="0"/>
                  <a:t>, </a:t>
                </a:r>
                <a:r>
                  <a:rPr lang="ru-RU" sz="1200" dirty="0"/>
                  <a:t>а не бинарный дискриминатор. Он оценивает, </a:t>
                </a:r>
                <a:r>
                  <a:rPr lang="ru-RU" sz="1200" i="1" dirty="0"/>
                  <a:t>насколько далеки</a:t>
                </a:r>
                <a:r>
                  <a:rPr lang="ru-RU" sz="1200" dirty="0"/>
                  <a:t>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ru-RU" sz="1200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ar-AE" sz="1200" dirty="0"/>
                  <a:t>.</a:t>
                </a:r>
              </a:p>
              <a:p>
                <a:r>
                  <a:rPr lang="ru-RU" sz="1200" dirty="0"/>
                  <a:t>Чем меньше значение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sepChr m:val=","/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ar-AE" sz="12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1200" dirty="0"/>
                  <a:t>,</a:t>
                </a:r>
                <a:r>
                  <a:rPr lang="ru-RU" sz="1200" dirty="0"/>
                  <a:t> тем ближе сгенерированные данные к реальным.</a:t>
                </a:r>
              </a:p>
              <a:p>
                <a:endParaRPr lang="ru-RU" sz="1200" dirty="0">
                  <a:latin typeface="Arial (Основной текст)"/>
                </a:endParaRPr>
              </a:p>
              <a:p>
                <a:endParaRPr lang="ar-AE" sz="1200" b="0" dirty="0">
                  <a:latin typeface="Arial (Основной текст)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C32943-812C-0738-4902-2EB83DE74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63960"/>
                <a:ext cx="8540388" cy="4228465"/>
              </a:xfrm>
              <a:prstGeom prst="rect">
                <a:avLst/>
              </a:prstGeom>
              <a:blipFill>
                <a:blip r:embed="rId3"/>
                <a:stretch>
                  <a:fillRect t="-9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0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86DD4-1BE7-D1BF-0834-CE2A8C01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7CB43-5F4F-393D-7397-20198747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 fontScale="90000"/>
          </a:bodyPr>
          <a:lstStyle/>
          <a:p>
            <a:r>
              <a:rPr lang="en-US" sz="2800" dirty="0"/>
              <a:t>WGAN: </a:t>
            </a:r>
            <a:r>
              <a:rPr lang="ru-RU" sz="2800" dirty="0"/>
              <a:t>использование </a:t>
            </a:r>
            <a:r>
              <a:rPr lang="en-US" sz="2800" dirty="0"/>
              <a:t>Wasserstein distance </a:t>
            </a:r>
            <a:r>
              <a:rPr lang="ru-RU" sz="2800" dirty="0"/>
              <a:t>как </a:t>
            </a:r>
            <a:r>
              <a:rPr lang="en-US" sz="2800" dirty="0"/>
              <a:t>loss-</a:t>
            </a:r>
            <a:r>
              <a:rPr lang="ru-RU" sz="2800" dirty="0"/>
              <a:t>функции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524F53-52D6-BD7E-6B97-63013F88E996}"/>
                  </a:ext>
                </a:extLst>
              </p:cNvPr>
              <p:cNvSpPr txBox="1"/>
              <p:nvPr/>
            </p:nvSpPr>
            <p:spPr>
              <a:xfrm>
                <a:off x="457200" y="963960"/>
                <a:ext cx="8540388" cy="3855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Loss-</a:t>
                </a:r>
                <a:r>
                  <a:rPr lang="ru-RU" sz="1200" b="1" dirty="0"/>
                  <a:t>функция: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func>
                            <m:func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/>
                          </m:func>
                        </m:e>
                        <m:li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𝑊</m:t>
                          </m:r>
                        </m:lim>
                      </m:limLow>
                      <m:r>
                        <a:rPr lang="ar-AE" sz="12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200" dirty="0"/>
              </a:p>
              <a:p>
                <a:endParaRPr lang="ru-RU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ar-AE" sz="1200" dirty="0"/>
                  <a:t>— </a:t>
                </a:r>
                <a:r>
                  <a:rPr lang="ru-RU" sz="1200" dirty="0"/>
                  <a:t>сеть-критик с параметрами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ru-RU" sz="1200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ru-RU" sz="1200" dirty="0"/>
                  <a:t>генератор, создающий сэмплы из шума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ru-RU" sz="1200" dirty="0"/>
                  <a:t>.</a:t>
                </a:r>
              </a:p>
              <a:p>
                <a:endParaRPr lang="ru-RU" sz="1200" dirty="0"/>
              </a:p>
              <a:p>
                <a:r>
                  <a:rPr lang="ru-RU" sz="1200" b="1" dirty="0"/>
                  <a:t>Цель</a:t>
                </a:r>
                <a:r>
                  <a:rPr lang="ru-RU" sz="1200" dirty="0"/>
                  <a:t>:</a:t>
                </a:r>
                <a:endParaRPr lang="en-US" sz="1200" dirty="0"/>
              </a:p>
              <a:p>
                <a:endParaRPr lang="en-US" sz="1200" b="1" dirty="0"/>
              </a:p>
              <a:p>
                <a:r>
                  <a:rPr lang="ru-RU" sz="1200" b="1" dirty="0"/>
                  <a:t>Критик:</a:t>
                </a:r>
                <a:r>
                  <a:rPr lang="ru-RU" sz="1200" dirty="0"/>
                  <a:t> максимизирует разницу между реальными и фейковыми.</a:t>
                </a:r>
                <a:endParaRPr lang="en-US" sz="1200" dirty="0"/>
              </a:p>
              <a:p>
                <a:r>
                  <a:rPr lang="ru-RU" sz="1200" b="1" dirty="0"/>
                  <a:t>Генератор:</a:t>
                </a:r>
                <a:r>
                  <a:rPr lang="ru-RU" sz="1200" dirty="0"/>
                  <a:t> минимизирует эту разницу.</a:t>
                </a:r>
              </a:p>
              <a:p>
                <a:br>
                  <a:rPr lang="ru-RU" sz="1200" dirty="0"/>
                </a:br>
                <a:endParaRPr lang="ru-RU" sz="1200" dirty="0"/>
              </a:p>
              <a:p>
                <a:r>
                  <a:rPr lang="ru-RU" sz="1200" b="1" dirty="0"/>
                  <a:t>Важный момент — </a:t>
                </a:r>
                <a:r>
                  <a:rPr lang="en-US" sz="1200" b="1" dirty="0"/>
                  <a:t>K-Lipschitz </a:t>
                </a:r>
                <a:r>
                  <a:rPr lang="ru-RU" sz="1200" b="1" dirty="0"/>
                  <a:t>условие:</a:t>
                </a:r>
              </a:p>
              <a:p>
                <a:r>
                  <a:rPr lang="ru-RU" sz="1200" dirty="0"/>
                  <a:t>Чтобы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ru-RU" sz="1200" dirty="0"/>
                  <a:t>оставался </a:t>
                </a:r>
                <a:r>
                  <a:rPr lang="en-US" sz="1200" dirty="0"/>
                  <a:t>Lipschitz, </a:t>
                </a:r>
                <a:r>
                  <a:rPr lang="ru-RU" sz="1200" dirty="0"/>
                  <a:t>после каждого шага обучения веса ограничивают:</a:t>
                </a:r>
                <a:endParaRPr lang="en-US" sz="1200" dirty="0"/>
              </a:p>
              <a:p>
                <a:endParaRPr lang="ru-RU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ru-RU" sz="12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[−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01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01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200" dirty="0"/>
              </a:p>
              <a:p>
                <a:endParaRPr lang="ar-AE" sz="1200" dirty="0"/>
              </a:p>
              <a:p>
                <a:r>
                  <a:rPr lang="ar-AE" sz="1200" dirty="0"/>
                  <a:t>— </a:t>
                </a:r>
                <a:r>
                  <a:rPr lang="ru-RU" sz="1200" dirty="0"/>
                  <a:t>это называется </a:t>
                </a:r>
                <a:r>
                  <a:rPr lang="en-US" sz="1200" b="1" dirty="0"/>
                  <a:t>weight clipping</a:t>
                </a:r>
                <a:r>
                  <a:rPr lang="en-US" sz="1200" dirty="0"/>
                  <a:t>.</a:t>
                </a:r>
                <a:r>
                  <a:rPr lang="ru-RU" sz="1200" dirty="0"/>
                  <a:t> Это приближённо гарантирует,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ru-RU" sz="1200" dirty="0"/>
                  <a:t>не «взрывается» и остаётся 1-</a:t>
                </a:r>
                <a:r>
                  <a:rPr lang="en-US" sz="1200" dirty="0"/>
                  <a:t>Lipschitz.</a:t>
                </a:r>
              </a:p>
              <a:p>
                <a:endParaRPr lang="ru-RU" sz="1200" dirty="0">
                  <a:latin typeface="Arial (Основной текст)"/>
                </a:endParaRPr>
              </a:p>
              <a:p>
                <a:endParaRPr lang="ar-AE" sz="1200" b="0" dirty="0">
                  <a:latin typeface="Arial (Основной текст)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524F53-52D6-BD7E-6B97-63013F88E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63960"/>
                <a:ext cx="8540388" cy="38557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3056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82B86-1EF8-E38E-C746-4FD84FE2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B26CD-C4FD-AD27-7B67-23A9A0FDC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WGAN train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A68B425E-6ACD-094B-675D-E1082B3BD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290" y="1088235"/>
            <a:ext cx="6050660" cy="359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503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3B3B4-4944-7CDD-9513-CCE0C01E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36527-174F-9603-19B2-339FB281E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ru-RU" sz="2800" dirty="0"/>
              <a:t>Плюсы и минусы </a:t>
            </a:r>
            <a:r>
              <a:rPr lang="en-US" sz="2800" dirty="0"/>
              <a:t>GANs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B5849386-819F-4260-694F-B626D85068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3096131"/>
                  </p:ext>
                </p:extLst>
              </p:nvPr>
            </p:nvGraphicFramePr>
            <p:xfrm>
              <a:off x="936539" y="1015535"/>
              <a:ext cx="6705599" cy="35661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010454">
                      <a:extLst>
                        <a:ext uri="{9D8B030D-6E8A-4147-A177-3AD203B41FA5}">
                          <a16:colId xmlns:a16="http://schemas.microsoft.com/office/drawing/2014/main" val="1353128835"/>
                        </a:ext>
                      </a:extLst>
                    </a:gridCol>
                    <a:gridCol w="2010454">
                      <a:extLst>
                        <a:ext uri="{9D8B030D-6E8A-4147-A177-3AD203B41FA5}">
                          <a16:colId xmlns:a16="http://schemas.microsoft.com/office/drawing/2014/main" val="1815659175"/>
                        </a:ext>
                      </a:extLst>
                    </a:gridCol>
                    <a:gridCol w="2684691">
                      <a:extLst>
                        <a:ext uri="{9D8B030D-6E8A-4147-A177-3AD203B41FA5}">
                          <a16:colId xmlns:a16="http://schemas.microsoft.com/office/drawing/2014/main" val="2928922976"/>
                        </a:ext>
                      </a:extLst>
                    </a:gridCol>
                  </a:tblGrid>
                  <a:tr h="341845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dirty="0">
                              <a:latin typeface="Golos Text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a:t>оценка </a:t>
                          </a:r>
                          <a14:m>
                            <m:oMath xmlns:m="http://schemas.openxmlformats.org/officeDocument/2006/math">
                              <m:r>
                                <a:rPr lang="ru-RU" sz="18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8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Генерация из </a:t>
                          </a:r>
                          <a14:m>
                            <m:oMath xmlns:m="http://schemas.openxmlformats.org/officeDocument/2006/math">
                              <m:r>
                                <a:rPr lang="ru-RU" sz="18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8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ar-AE" sz="18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sz="18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6348699"/>
                      </a:ext>
                    </a:extLst>
                  </a:tr>
                  <a:tr h="134864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Да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ru-RU" dirty="0"/>
                            <a:t>Для </a:t>
                          </a:r>
                          <a:r>
                            <a:rPr lang="en-US" dirty="0" err="1"/>
                            <a:t>PixelCNN</a:t>
                          </a:r>
                          <a:r>
                            <a:rPr lang="en-US" dirty="0"/>
                            <a:t> – 1 inference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Да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ru-RU" dirty="0"/>
                            <a:t>Для </a:t>
                          </a:r>
                          <a:r>
                            <a:rPr lang="en-US" dirty="0" err="1"/>
                            <a:t>PixelCNN</a:t>
                          </a:r>
                          <a:r>
                            <a:rPr lang="en-US" dirty="0"/>
                            <a:t> – h * w inference steps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6926357"/>
                      </a:ext>
                    </a:extLst>
                  </a:tr>
                  <a:tr h="1348649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Нет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en-US" dirty="0"/>
                            <a:t>Likelihood-free </a:t>
                          </a:r>
                          <a:r>
                            <a:rPr lang="en-US" dirty="0" err="1"/>
                            <a:t>algrithm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Да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ru-RU" dirty="0"/>
                            <a:t>Как правило генерируется сразу все изображение за один раз</a:t>
                          </a:r>
                        </a:p>
                        <a:p>
                          <a:r>
                            <a:rPr lang="ru-RU" dirty="0"/>
                            <a:t>-- 1 </a:t>
                          </a:r>
                          <a:r>
                            <a:rPr lang="en-US" dirty="0"/>
                            <a:t>inference step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58505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B5849386-819F-4260-694F-B626D85068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3096131"/>
                  </p:ext>
                </p:extLst>
              </p:nvPr>
            </p:nvGraphicFramePr>
            <p:xfrm>
              <a:off x="936539" y="1015535"/>
              <a:ext cx="6705599" cy="35661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010454">
                      <a:extLst>
                        <a:ext uri="{9D8B030D-6E8A-4147-A177-3AD203B41FA5}">
                          <a16:colId xmlns:a16="http://schemas.microsoft.com/office/drawing/2014/main" val="1353128835"/>
                        </a:ext>
                      </a:extLst>
                    </a:gridCol>
                    <a:gridCol w="2010454">
                      <a:extLst>
                        <a:ext uri="{9D8B030D-6E8A-4147-A177-3AD203B41FA5}">
                          <a16:colId xmlns:a16="http://schemas.microsoft.com/office/drawing/2014/main" val="1815659175"/>
                        </a:ext>
                      </a:extLst>
                    </a:gridCol>
                    <a:gridCol w="2684691">
                      <a:extLst>
                        <a:ext uri="{9D8B030D-6E8A-4147-A177-3AD203B41FA5}">
                          <a16:colId xmlns:a16="http://schemas.microsoft.com/office/drawing/2014/main" val="292892297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3" t="-8333" r="-134848" b="-9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9887" t="-8333" r="-907" b="-9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6348699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Да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ru-RU" dirty="0"/>
                            <a:t>Для </a:t>
                          </a:r>
                          <a:r>
                            <a:rPr lang="en-US" dirty="0" err="1"/>
                            <a:t>PixelCNN</a:t>
                          </a:r>
                          <a:r>
                            <a:rPr lang="en-US" dirty="0"/>
                            <a:t> – 1 inference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Да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ru-RU" dirty="0"/>
                            <a:t>Для </a:t>
                          </a:r>
                          <a:r>
                            <a:rPr lang="en-US" dirty="0" err="1"/>
                            <a:t>PixelCNN</a:t>
                          </a:r>
                          <a:r>
                            <a:rPr lang="en-US" dirty="0"/>
                            <a:t> – h * w inference steps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6926357"/>
                      </a:ext>
                    </a:extLst>
                  </a:tr>
                  <a:tr h="17373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GANs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Нет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en-US" dirty="0"/>
                            <a:t>Likelihood-free </a:t>
                          </a:r>
                          <a:r>
                            <a:rPr lang="en-US" dirty="0" err="1"/>
                            <a:t>algrithm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Да</a:t>
                          </a:r>
                        </a:p>
                        <a:p>
                          <a:endParaRPr lang="ru-RU" dirty="0"/>
                        </a:p>
                        <a:p>
                          <a:r>
                            <a:rPr lang="ru-RU" dirty="0"/>
                            <a:t>Как правило генерируется сразу все изображение за один раз</a:t>
                          </a:r>
                        </a:p>
                        <a:p>
                          <a:r>
                            <a:rPr lang="ru-RU" dirty="0"/>
                            <a:t>-- 1 </a:t>
                          </a:r>
                          <a:r>
                            <a:rPr lang="en-US" dirty="0"/>
                            <a:t>inference step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58505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784309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A78B6-03C5-9BDB-33DD-1560C12B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E4E39-D88C-7F03-13B7-0C030F026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248" y="2308108"/>
            <a:ext cx="6824382" cy="527284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VAE: Variational Autoencoder</a:t>
            </a:r>
          </a:p>
        </p:txBody>
      </p:sp>
    </p:spTree>
    <p:extLst>
      <p:ext uri="{BB962C8B-B14F-4D97-AF65-F5344CB8AC3E}">
        <p14:creationId xmlns:p14="http://schemas.microsoft.com/office/powerpoint/2010/main" val="1450614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C6DF-4562-55D9-AA3E-3E897B6C5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7A220-9AD2-1865-55C6-9F8361A6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Bayesian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93F28E-E885-B58F-81E7-51C14C3271EB}"/>
                  </a:ext>
                </a:extLst>
              </p:cNvPr>
              <p:cNvSpPr txBox="1"/>
              <p:nvPr/>
            </p:nvSpPr>
            <p:spPr>
              <a:xfrm>
                <a:off x="457200" y="963960"/>
                <a:ext cx="8540388" cy="3287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/>
                  <a:t>Байесовская логика — это способ </a:t>
                </a:r>
                <a:r>
                  <a:rPr lang="ru-RU" sz="1200" b="1" dirty="0"/>
                  <a:t>обновлять знания</a:t>
                </a:r>
                <a:r>
                  <a:rPr lang="ru-RU" sz="1200" dirty="0"/>
                  <a:t> о неизвестных параметрах модели,  когда мы получаем новые данные.</a:t>
                </a:r>
              </a:p>
              <a:p>
                <a:r>
                  <a:rPr lang="ru-RU" sz="1200" dirty="0"/>
                  <a:t>То есть:</a:t>
                </a:r>
              </a:p>
              <a:p>
                <a:endParaRPr lang="ru-RU" sz="1200" dirty="0"/>
              </a:p>
              <a:p>
                <a:r>
                  <a:rPr lang="ru-RU" sz="1200" dirty="0"/>
                  <a:t>было предположение (</a:t>
                </a:r>
                <a:r>
                  <a:rPr lang="en-US" sz="1200" dirty="0"/>
                  <a:t>prior), </a:t>
                </a:r>
                <a:r>
                  <a:rPr lang="ru-RU" sz="1200" dirty="0"/>
                  <a:t>пришли новые наблюдения (</a:t>
                </a:r>
                <a:r>
                  <a:rPr lang="en-US" sz="1200" dirty="0"/>
                  <a:t>data) → </a:t>
                </a:r>
                <a:r>
                  <a:rPr lang="ru-RU" sz="1200" dirty="0"/>
                  <a:t>получили обновлённое знание (</a:t>
                </a:r>
                <a:r>
                  <a:rPr lang="en-US" sz="1200" dirty="0"/>
                  <a:t>posterior).</a:t>
                </a:r>
              </a:p>
              <a:p>
                <a:br>
                  <a:rPr lang="en-US" sz="1200" dirty="0"/>
                </a:br>
                <a:endParaRPr lang="en-US" sz="1200" dirty="0"/>
              </a:p>
              <a:p>
                <a:r>
                  <a:rPr lang="en-US" sz="1200" b="1" dirty="0"/>
                  <a:t>🔹 2. </a:t>
                </a:r>
                <a:r>
                  <a:rPr lang="ru-RU" sz="1200" b="1" dirty="0"/>
                  <a:t>Формула Байеса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grow m:val="on"/>
                              <m:subHide m:val="on"/>
                              <m:supHide m:val="on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nary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ar-AE" sz="1200" dirty="0"/>
              </a:p>
              <a:p>
                <a:r>
                  <a:rPr lang="ru-RU" sz="1200" b="1" dirty="0"/>
                  <a:t>где:</a:t>
                </a:r>
                <a:endParaRPr lang="ru-RU" sz="1200" dirty="0"/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ru-RU" sz="1200" dirty="0"/>
                  <a:t>— скрытые параметры (например, веса сети, вероятности классов, факторы);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1200" dirty="0"/>
                  <a:t>— наблюдаемые данные;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en-US" sz="1200" i="1" dirty="0"/>
                  <a:t>likelihood</a:t>
                </a:r>
                <a:r>
                  <a:rPr lang="en-US" sz="1200" dirty="0"/>
                  <a:t> (</a:t>
                </a:r>
                <a:r>
                  <a:rPr lang="ru-RU" sz="1200" dirty="0"/>
                  <a:t>насколько хорошо параметры объясняют данные);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en-US" sz="1200" i="1" dirty="0"/>
                  <a:t>prior</a:t>
                </a:r>
                <a:r>
                  <a:rPr lang="en-US" sz="1200" dirty="0"/>
                  <a:t> (</a:t>
                </a:r>
                <a:r>
                  <a:rPr lang="ru-RU" sz="1200" dirty="0"/>
                  <a:t>наше знание до наблюдения);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en-US" sz="1200" i="1" dirty="0"/>
                  <a:t>evidence</a:t>
                </a:r>
                <a:r>
                  <a:rPr lang="en-US" sz="1200" dirty="0"/>
                  <a:t>, </a:t>
                </a:r>
                <a:r>
                  <a:rPr lang="ru-RU" sz="1200" dirty="0"/>
                  <a:t>нормировочная константа;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en-US" sz="1200" i="1" dirty="0"/>
                  <a:t>posterior</a:t>
                </a:r>
                <a:r>
                  <a:rPr lang="en-US" sz="1200" dirty="0"/>
                  <a:t>, </a:t>
                </a:r>
                <a:r>
                  <a:rPr lang="ru-RU" sz="1200" dirty="0"/>
                  <a:t>обновлённое распределение после наблюдения данных.</a:t>
                </a:r>
              </a:p>
              <a:p>
                <a:endParaRPr lang="ar-AE" sz="1200" b="0" dirty="0">
                  <a:latin typeface="Arial (Основной текст)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A93F28E-E885-B58F-81E7-51C14C327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63960"/>
                <a:ext cx="8540388" cy="32878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8426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5146D-7C37-C5FD-4685-2ACA47BFC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A0D73-60A1-48F1-F25F-C585A6AC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 fontScale="90000"/>
          </a:bodyPr>
          <a:lstStyle/>
          <a:p>
            <a:r>
              <a:rPr lang="en-US" sz="2800" dirty="0"/>
              <a:t>Bayesian Framework (Model Parameters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3CD656-41CC-68A1-2542-507468F10ADE}"/>
                  </a:ext>
                </a:extLst>
              </p:cNvPr>
              <p:cNvSpPr txBox="1"/>
              <p:nvPr/>
            </p:nvSpPr>
            <p:spPr>
              <a:xfrm>
                <a:off x="457200" y="963960"/>
                <a:ext cx="8540388" cy="31782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/>
                  <a:t>Теперь предположим, что </a:t>
                </a:r>
                <a:r>
                  <a:rPr lang="ru-RU" sz="1200" b="1" dirty="0"/>
                  <a:t>скрытые переменные </a:t>
                </a:r>
                <a14:m>
                  <m:oMath xmlns:m="http://schemas.openxmlformats.org/officeDocument/2006/math">
                    <m:r>
                      <a:rPr lang="ru-RU" sz="1200" b="1">
                        <a:latin typeface="Cambria Math" panose="02040503050406030204" pitchFamily="18" charset="0"/>
                      </a:rPr>
                      <m:t>𝐭</m:t>
                    </m:r>
                  </m:oMath>
                </a14:m>
                <a:r>
                  <a:rPr lang="ru-RU" sz="1200" dirty="0"/>
                  <a:t>— это </a:t>
                </a:r>
                <a:r>
                  <a:rPr lang="ru-RU" sz="1200" b="1" dirty="0"/>
                  <a:t>параметры модели </a:t>
                </a:r>
                <a14:m>
                  <m:oMath xmlns:m="http://schemas.openxmlformats.org/officeDocument/2006/math">
                    <m:r>
                      <a:rPr lang="ru-RU" sz="1200" b="1" i="1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ru-RU" sz="12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b="1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ru-RU" sz="12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d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  <m:r>
                            <m:rPr>
                              <m:nor/>
                            </m:rPr>
                            <a:rPr lang="ar-AE" sz="1200" i="1"/>
                            <m:t> — </m:t>
                          </m:r>
                          <m:r>
                            <m:rPr>
                              <m:nor/>
                            </m:rPr>
                            <a:rPr lang="ru-RU" sz="1200" i="1"/>
                            <m:t>наблюдаемые данные</m:t>
                          </m:r>
                        </m:e>
                      </m:d>
                    </m:oMath>
                  </m:oMathPara>
                </a14:m>
                <a:endParaRPr lang="ar-AE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m:rPr>
                          <m:nor/>
                        </m:rPr>
                        <a:rPr lang="ar-AE" sz="1200" i="1"/>
                        <m:t> — </m:t>
                      </m:r>
                      <m:r>
                        <m:rPr>
                          <m:nor/>
                        </m:rPr>
                        <a:rPr lang="ru-RU" sz="1200" i="1"/>
                        <m:t>априорное распределение параметров (</m:t>
                      </m:r>
                      <m:r>
                        <m:rPr>
                          <m:nor/>
                        </m:rPr>
                        <a:rPr lang="ru-RU" sz="1200" i="1"/>
                        <m:t>принимаем </m:t>
                      </m:r>
                      <m:r>
                        <a:rPr lang="ru-RU" sz="1200" b="1" i="1">
                          <a:latin typeface="Cambria Math" panose="02040503050406030204" pitchFamily="18" charset="0"/>
                        </a:rPr>
                        <m:t>𝜽</m:t>
                      </m:r>
                      <m:r>
                        <m:rPr>
                          <m:nor/>
                        </m:rPr>
                        <a:rPr lang="ru-RU" sz="1200" i="1"/>
                        <m:t> как случайные переменные</m:t>
                      </m:r>
                      <m:r>
                        <m:rPr>
                          <m:nor/>
                        </m:rPr>
                        <a:rPr lang="ru-RU" sz="1200" i="1"/>
                        <m:t>)</m:t>
                      </m:r>
                    </m:oMath>
                  </m:oMathPara>
                </a14:m>
                <a:endParaRPr lang="ru-RU" sz="1200" dirty="0"/>
              </a:p>
              <a:p>
                <a:br>
                  <a:rPr lang="ru-RU" sz="1200" dirty="0"/>
                </a:br>
                <a:endParaRPr lang="ru-RU" sz="1200" dirty="0"/>
              </a:p>
              <a:p>
                <a:r>
                  <a:rPr lang="en-US" sz="1200" b="1" dirty="0"/>
                  <a:t>Posterior distribution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sz="12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200" i="1"/>
                            <m:t> 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num>
                        <m:den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den>
                      </m:f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sz="12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200" i="1"/>
                            <m:t> 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grow m:val="on"/>
                              <m:subHide m:val="on"/>
                              <m:supHide m:val="on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nary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b="1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ar-AE" sz="12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200" i="1"/>
                            <m:t> 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sz="1200" i="1"/>
                            <m:t> 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ar-AE" sz="1200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ar-AE" sz="1200" b="0" dirty="0"/>
              </a:p>
              <a:p>
                <a:br>
                  <a:rPr lang="ar-AE" sz="1200" dirty="0"/>
                </a:br>
                <a:endParaRPr lang="ar-AE" sz="1200" dirty="0"/>
              </a:p>
              <a:p>
                <a:r>
                  <a:rPr lang="en-US" sz="1200" b="1" dirty="0"/>
                  <a:t>Interpretation</a:t>
                </a:r>
              </a:p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en-US" sz="1200" b="1" dirty="0"/>
                  <a:t>likelihood</a:t>
                </a:r>
                <a:r>
                  <a:rPr lang="en-US" sz="1200" dirty="0"/>
                  <a:t>: </a:t>
                </a:r>
                <a:r>
                  <a:rPr lang="ru-RU" sz="1200" dirty="0"/>
                  <a:t>насколько хорошо параметры объясняют данные.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en-US" sz="1200" b="1" dirty="0"/>
                  <a:t>prior</a:t>
                </a:r>
                <a:r>
                  <a:rPr lang="en-US" sz="1200" dirty="0"/>
                  <a:t>: </a:t>
                </a:r>
                <a:r>
                  <a:rPr lang="ru-RU" sz="1200" dirty="0"/>
                  <a:t>наше знание о параметрах до обучения.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 i="1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en-US" sz="1200" b="1" dirty="0"/>
                  <a:t>posterior</a:t>
                </a:r>
                <a:r>
                  <a:rPr lang="en-US" sz="1200" dirty="0"/>
                  <a:t>: </a:t>
                </a:r>
                <a:r>
                  <a:rPr lang="ru-RU" sz="1200" dirty="0"/>
                  <a:t>обновлённое знание после наблюдений.</a:t>
                </a:r>
              </a:p>
              <a:p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d>
                  </m:oMath>
                </a14:m>
                <a:r>
                  <a:rPr lang="ar-AE" sz="1200" dirty="0"/>
                  <a:t>— </a:t>
                </a:r>
                <a:r>
                  <a:rPr lang="en-US" sz="1200" b="1" dirty="0"/>
                  <a:t>evidence</a:t>
                </a:r>
                <a:r>
                  <a:rPr lang="en-US" sz="1200" dirty="0"/>
                  <a:t>: </a:t>
                </a:r>
                <a:r>
                  <a:rPr lang="ru-RU" sz="1200" dirty="0"/>
                  <a:t>нормирующий множитель (не зависит от </a:t>
                </a:r>
                <a:r>
                  <a:rPr lang="el-GR" sz="1200" dirty="0"/>
                  <a:t>θ).</a:t>
                </a:r>
              </a:p>
              <a:p>
                <a:endParaRPr lang="el-GR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3CD656-41CC-68A1-2542-507468F10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63960"/>
                <a:ext cx="8540388" cy="3178242"/>
              </a:xfrm>
              <a:prstGeom prst="rect">
                <a:avLst/>
              </a:prstGeom>
              <a:blipFill>
                <a:blip r:embed="rId3"/>
                <a:stretch>
                  <a:fillRect t="-6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7580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33BB-CDAB-526B-7FDF-7C36B408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D1098A-DAD4-8623-BD03-7D3152CBE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Latent Variable Models (LVM)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32B404-079D-85B5-9BFF-D94B4E3C58E1}"/>
                  </a:ext>
                </a:extLst>
              </p:cNvPr>
              <p:cNvSpPr txBox="1"/>
              <p:nvPr/>
            </p:nvSpPr>
            <p:spPr>
              <a:xfrm>
                <a:off x="457200" y="963960"/>
                <a:ext cx="8540388" cy="4298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200" dirty="0"/>
                  <a:t>Мы ищем параметры модели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ar-AE" sz="12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ar-AE" sz="1200" dirty="0"/>
                  <a:t>, </a:t>
                </a:r>
                <a:r>
                  <a:rPr lang="ru-RU" sz="1200" dirty="0"/>
                  <a:t>которые </a:t>
                </a:r>
                <a:r>
                  <a:rPr lang="ru-RU" sz="1200" b="1" dirty="0"/>
                  <a:t>максимизируют вероятность наблюдаемых данных</a:t>
                </a:r>
                <a:r>
                  <a:rPr lang="ru-RU" sz="1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e>
                      </m:func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1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e>
                      </m:func>
                      <m:nary>
                        <m:naryPr>
                          <m:chr m:val="∏"/>
                          <m:grow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e>
                      </m:func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nary>
                            <m:naryPr>
                              <m:chr m:val="∑"/>
                              <m:grow m:val="on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</m:nary>
                        </m:fNam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2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ar-AE" sz="1200" b="0" dirty="0"/>
              </a:p>
              <a:p>
                <a:r>
                  <a:rPr lang="ru-RU" sz="1200" dirty="0"/>
                  <a:t>Проблема: распределение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1200" dirty="0"/>
                  <a:t>часто </a:t>
                </a:r>
                <a:r>
                  <a:rPr lang="ru-RU" sz="1200" b="1" dirty="0"/>
                  <a:t>сложно задать явно</a:t>
                </a:r>
                <a:r>
                  <a:rPr lang="ru-RU" sz="1200" dirty="0"/>
                  <a:t> и </a:t>
                </a:r>
                <a:r>
                  <a:rPr lang="ru-RU" sz="1200" b="1" dirty="0"/>
                  <a:t>невозможно посчитать напрямую</a:t>
                </a:r>
                <a:r>
                  <a:rPr lang="ru-RU" sz="1200" dirty="0"/>
                  <a:t> — особенно для реальных данных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ar-AE" sz="1200" dirty="0"/>
                  <a:t>.</a:t>
                </a:r>
              </a:p>
              <a:p>
                <a:br>
                  <a:rPr lang="ar-AE" sz="1200" dirty="0"/>
                </a:br>
                <a:r>
                  <a:rPr lang="en-US" sz="1200" b="1" dirty="0"/>
                  <a:t>Extended Probabilistic Model</a:t>
                </a:r>
              </a:p>
              <a:p>
                <a:r>
                  <a:rPr lang="ru-RU" sz="1200" dirty="0"/>
                  <a:t>Чтобы сделать задачу </a:t>
                </a:r>
                <a:r>
                  <a:rPr lang="en-US" sz="1200" dirty="0"/>
                  <a:t>tractable,</a:t>
                </a:r>
                <a:r>
                  <a:rPr lang="ru-RU" sz="1200" dirty="0"/>
                  <a:t> вводим </a:t>
                </a:r>
                <a:r>
                  <a:rPr lang="ru-RU" sz="1200" b="1" dirty="0"/>
                  <a:t>латентные переменные </a:t>
                </a:r>
                <a14:m>
                  <m:oMath xmlns:m="http://schemas.openxmlformats.org/officeDocument/2006/math">
                    <m:r>
                      <a:rPr lang="ru-RU" sz="1200" b="1">
                        <a:latin typeface="Cambria Math" panose="02040503050406030204" pitchFamily="18" charset="0"/>
                      </a:rPr>
                      <m:t>𝐳</m:t>
                    </m:r>
                  </m:oMath>
                </a14:m>
                <a:r>
                  <a:rPr lang="en-US" sz="1200" dirty="0"/>
                  <a:t> </a:t>
                </a:r>
                <a:r>
                  <a:rPr lang="ru-RU" sz="1200" dirty="0"/>
                  <a:t>(скрытые факторы, объясняющие наблюдения)</a:t>
                </a:r>
              </a:p>
              <a:p>
                <a:endParaRPr lang="ru-RU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nor/>
                        </m:rPr>
                        <a:rPr lang="en-US" sz="1200" i="1"/>
                        <m:t>(</m:t>
                      </m:r>
                      <m:r>
                        <a:rPr lang="ar-AE" sz="12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sz="1200" i="1"/>
                        <m:t>)</m:t>
                      </m:r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m:rPr>
                          <m:nor/>
                        </m:rPr>
                        <a:rPr lang="en-US" sz="1200" b="0" i="1" smtClean="0"/>
                        <m:t> = 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m:rPr>
                          <m:nor/>
                        </m:rPr>
                        <a:rPr lang="en-US" sz="1200" i="1"/>
                        <m:t>(</m:t>
                      </m:r>
                      <m:r>
                        <a:rPr lang="ar-AE" sz="12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sz="1200" i="1"/>
                        <m:t>)</m:t>
                      </m:r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1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</m:d>
                    </m:oMath>
                  </m:oMathPara>
                </a14:m>
                <a:endParaRPr lang="ar-AE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r>
                        <m:rPr>
                          <m:nor/>
                        </m:rPr>
                        <a:rPr lang="en-US" sz="1200" i="1"/>
                        <m:t>(</m:t>
                      </m:r>
                      <m:r>
                        <a:rPr lang="ar-AE" sz="12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sz="1200" i="1"/>
                        <m:t>)</m:t>
                      </m:r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m:rPr>
                              <m:nor/>
                            </m:rPr>
                            <a:rPr lang="en-US" sz="1200" i="1"/>
                            <m:t>(</m:t>
                          </m:r>
                          <m:r>
                            <a:rPr lang="ar-AE" sz="12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1200" b="1">
                              <a:latin typeface="Cambria Math" panose="02040503050406030204" pitchFamily="18" charset="0"/>
                            </a:rPr>
                            <m:t> ,</m:t>
                          </m:r>
                          <m:r>
                            <a:rPr lang="en-US" sz="1200" b="1">
                              <a:latin typeface="Cambria Math" panose="02040503050406030204" pitchFamily="18" charset="0"/>
                            </a:rPr>
                            <m:t>𝐳</m:t>
                          </m:r>
                          <m:r>
                            <a:rPr lang="en-US" sz="1200" b="1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m:rPr>
                              <m:nor/>
                            </m:rPr>
                            <a:rPr lang="en-US" sz="1200" i="1"/>
                            <m:t>)</m:t>
                          </m:r>
                          <m:r>
                            <m:rPr>
                              <m:nor/>
                            </m:rPr>
                            <a:rPr lang="ar-AE" sz="1200" i="1"/>
                            <m:t> </m:t>
                          </m:r>
                        </m:e>
                      </m:func>
                      <m:r>
                        <a:rPr lang="ar-AE" sz="120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func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1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</m:d>
                    </m:oMath>
                  </m:oMathPara>
                </a14:m>
                <a:endParaRPr lang="ar-AE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r>
                        <m:rPr>
                          <m:nor/>
                        </m:rPr>
                        <a:rPr lang="en-US" sz="1200" i="1"/>
                        <m:t>(</m:t>
                      </m:r>
                      <m:r>
                        <a:rPr lang="ar-AE" sz="12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sz="1200" b="1">
                          <a:latin typeface="Cambria Math" panose="02040503050406030204" pitchFamily="18" charset="0"/>
                        </a:rPr>
                        <m:t>| 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sz="1200" i="1"/>
                        <m:t>)</m:t>
                      </m:r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ar-AE" sz="1200" b="1"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grow m:val="on"/>
                          <m:subHide m:val="on"/>
                          <m:supHide m:val="on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r>
                        <m:rPr>
                          <m:nor/>
                        </m:rPr>
                        <a:rPr lang="en-US" sz="1200" b="0" i="1" smtClean="0"/>
                        <m:t>(</m:t>
                      </m:r>
                      <m:r>
                        <a:rPr lang="ar-AE" sz="12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sz="1200" b="1" i="0" smtClean="0"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sz="1200" b="0" i="1" smtClean="0"/>
                        <m:t>)</m:t>
                      </m:r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1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</m:d>
                      <m:r>
                        <m:rPr>
                          <m:nor/>
                        </m:rPr>
                        <a:rPr lang="ar-AE" sz="1200" i="1"/>
                        <m:t> 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ar-AE" sz="1200" b="1">
                          <a:latin typeface="Cambria Math" panose="02040503050406030204" pitchFamily="18" charset="0"/>
                        </a:rPr>
                        <m:t>𝐳</m:t>
                      </m:r>
                    </m:oMath>
                  </m:oMathPara>
                </a14:m>
                <a:endParaRPr lang="ru-RU" sz="1200" b="1" dirty="0"/>
              </a:p>
              <a:p>
                <a:r>
                  <a:rPr lang="en-US" sz="1200" b="1" dirty="0"/>
                  <a:t>Motivation</a:t>
                </a:r>
                <a:endParaRPr lang="ru-RU" sz="1200" b="1" dirty="0"/>
              </a:p>
              <a:p>
                <a:pPr marL="228600" indent="-228600">
                  <a:buAutoNum type="arabicParenR"/>
                </a:pPr>
                <a:r>
                  <a:rPr lang="ru-RU" sz="1200" dirty="0"/>
                  <a:t>Хотя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ru-RU" sz="1200" dirty="0"/>
                  <a:t>может быть очень сложным, распределения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nor/>
                      </m:rPr>
                      <a:rPr lang="en-US" sz="1200" i="1"/>
                      <m:t>(</m:t>
                    </m:r>
                    <m:r>
                      <a:rPr lang="ar-AE" sz="12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1200" b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200" b="1">
                        <a:latin typeface="Cambria Math" panose="02040503050406030204" pitchFamily="18" charset="0"/>
                      </a:rPr>
                      <m:t>𝐳</m:t>
                    </m:r>
                    <m:r>
                      <a:rPr lang="en-US" sz="1200" b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ar-AE" sz="1200" i="1">
                        <a:latin typeface="Cambria Math" panose="020405030504060302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en-US" sz="1200" i="1"/>
                      <m:t>)</m:t>
                    </m:r>
                    <m:r>
                      <m:rPr>
                        <m:nor/>
                      </m:rPr>
                      <a:rPr lang="ar-AE" sz="1200" i="1"/>
                      <m:t> </m:t>
                    </m:r>
                  </m:oMath>
                </a14:m>
                <a:r>
                  <a:rPr lang="ru-RU" sz="1200" dirty="0"/>
                  <a:t>и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d>
                    <m:r>
                      <a:rPr lang="ru-RU" sz="1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200" dirty="0"/>
                  <a:t>часто можно сделать </a:t>
                </a:r>
                <a:r>
                  <a:rPr lang="ru-RU" sz="1200" b="1" dirty="0"/>
                  <a:t>простыми и интерпретируемыми</a:t>
                </a:r>
                <a:r>
                  <a:rPr lang="ru-RU" sz="1200" dirty="0"/>
                  <a:t>.</a:t>
                </a:r>
              </a:p>
              <a:p>
                <a:pPr marL="228600" indent="-228600">
                  <a:buAutoNum type="arabicParenR"/>
                </a:pPr>
                <a:r>
                  <a:rPr lang="ru-RU" sz="1200" dirty="0"/>
                  <a:t>Латентная переменная </a:t>
                </a:r>
                <a14:m>
                  <m:oMath xmlns:m="http://schemas.openxmlformats.org/officeDocument/2006/math">
                    <m:r>
                      <a:rPr lang="ru-RU" sz="1200" b="1">
                        <a:latin typeface="Cambria Math" panose="02040503050406030204" pitchFamily="18" charset="0"/>
                      </a:rPr>
                      <m:t>𝐳</m:t>
                    </m:r>
                  </m:oMath>
                </a14:m>
                <a:r>
                  <a:rPr lang="en-US" sz="1200" dirty="0"/>
                  <a:t> </a:t>
                </a:r>
                <a:r>
                  <a:rPr lang="ru-RU" sz="1200" dirty="0"/>
                  <a:t>выступает как </a:t>
                </a:r>
                <a:r>
                  <a:rPr lang="ru-RU" sz="1200" i="1" dirty="0"/>
                  <a:t>скрытое представление</a:t>
                </a:r>
                <a:r>
                  <a:rPr lang="ru-RU" sz="1200" dirty="0"/>
                  <a:t> — компактное и структурированное описание данных.</a:t>
                </a:r>
              </a:p>
              <a:p>
                <a:endParaRPr lang="ru-RU" sz="1200" b="1" dirty="0"/>
              </a:p>
              <a:p>
                <a:r>
                  <a:rPr lang="ru-RU" sz="1200" b="1" dirty="0"/>
                  <a:t>Ключевая идея</a:t>
                </a:r>
              </a:p>
              <a:p>
                <a:r>
                  <a:rPr lang="ru-RU" sz="1200" dirty="0"/>
                  <a:t>Вместо того чтобы напрямую моделировать сложное распределение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b="1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ar-AE" sz="1200" dirty="0"/>
                  <a:t>,</a:t>
                </a:r>
                <a:r>
                  <a:rPr lang="ru-RU" sz="1200" dirty="0"/>
                  <a:t> мы описываем его через </a:t>
                </a:r>
                <a:r>
                  <a:rPr lang="ru-RU" sz="1200" i="1" dirty="0"/>
                  <a:t>простые распределения</a:t>
                </a:r>
                <a:r>
                  <a:rPr lang="ru-RU" sz="1200" dirty="0"/>
                  <a:t> над скрытыми переменными </a:t>
                </a:r>
                <a14:m>
                  <m:oMath xmlns:m="http://schemas.openxmlformats.org/officeDocument/2006/math">
                    <m:r>
                      <a:rPr lang="ru-RU" sz="1200" b="1">
                        <a:latin typeface="Cambria Math" panose="02040503050406030204" pitchFamily="18" charset="0"/>
                      </a:rPr>
                      <m:t>𝐳</m:t>
                    </m:r>
                  </m:oMath>
                </a14:m>
                <a:r>
                  <a:rPr lang="ru-RU" sz="1200" dirty="0"/>
                  <a:t>.</a:t>
                </a:r>
              </a:p>
              <a:p>
                <a:endParaRPr lang="el-GR" sz="1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E32B404-079D-85B5-9BFF-D94B4E3C5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63960"/>
                <a:ext cx="8540388" cy="4298100"/>
              </a:xfrm>
              <a:prstGeom prst="rect">
                <a:avLst/>
              </a:prstGeom>
              <a:blipFill>
                <a:blip r:embed="rId3"/>
                <a:stretch>
                  <a:fillRect l="-71" t="-9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548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99E55-9715-3BB1-861C-DD2852139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21938-9DAA-59E8-55AA-7710AEAFA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Latent Variable Models (LVM)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926B88-ECA6-2930-3039-6AAEA0FAA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090" y="1250471"/>
            <a:ext cx="5928874" cy="31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339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ED520-6F7D-BB15-A478-C3EE76B83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E1E6D84-AABC-16C8-E8CB-E6CD5E4A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Variational Lower Bound (ELBO)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207BF64-EDBC-BC68-C053-E05B53F9C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899" y="1172880"/>
            <a:ext cx="4729890" cy="96373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B84E296-66C9-0B72-C0F8-EAD9990EB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899" y="2457200"/>
            <a:ext cx="4626328" cy="119710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3D67178-A901-2C46-B9ED-7B8C8F774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420" y="4022004"/>
            <a:ext cx="4595258" cy="55630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2EB53A-0D48-D6F3-95FB-086E0F9CB662}"/>
              </a:ext>
            </a:extLst>
          </p:cNvPr>
          <p:cNvSpPr txBox="1"/>
          <p:nvPr/>
        </p:nvSpPr>
        <p:spPr>
          <a:xfrm>
            <a:off x="457200" y="963960"/>
            <a:ext cx="85403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Вывод </a:t>
            </a:r>
            <a:r>
              <a:rPr lang="en-US" sz="1200" dirty="0"/>
              <a:t>ELBO 1</a:t>
            </a:r>
            <a:endParaRPr lang="ru-RU" sz="1200" dirty="0"/>
          </a:p>
          <a:p>
            <a:endParaRPr lang="ru-RU" sz="1200" dirty="0"/>
          </a:p>
          <a:p>
            <a:pPr marL="228600" indent="-228600">
              <a:buAutoNum type="arabicParenBoth"/>
            </a:pPr>
            <a:r>
              <a:rPr lang="ru-RU" sz="1200" dirty="0"/>
              <a:t>Распишем по определению</a:t>
            </a:r>
          </a:p>
          <a:p>
            <a:pPr marL="228600" indent="-228600">
              <a:buAutoNum type="arabicParenBoth"/>
            </a:pPr>
            <a:r>
              <a:rPr lang="ru-RU" sz="1200" dirty="0"/>
              <a:t>Умножим и разделим на </a:t>
            </a:r>
            <a:r>
              <a:rPr lang="en-US" sz="1200" dirty="0"/>
              <a:t>q(z)</a:t>
            </a:r>
          </a:p>
          <a:p>
            <a:pPr marL="228600" indent="-228600">
              <a:buAutoNum type="arabicParenBoth"/>
            </a:pPr>
            <a:r>
              <a:rPr lang="ru-RU" sz="1200" dirty="0"/>
              <a:t>По определению </a:t>
            </a:r>
            <a:r>
              <a:rPr lang="en-US" sz="1200" b="1" dirty="0"/>
              <a:t>LOTUS</a:t>
            </a:r>
            <a:endParaRPr lang="ru-RU" sz="1200" b="1" dirty="0"/>
          </a:p>
          <a:p>
            <a:pPr marL="228600" indent="-228600">
              <a:buFontTx/>
              <a:buAutoNum type="arabicParenBoth"/>
            </a:pPr>
            <a:r>
              <a:rPr lang="en-US" sz="1200" b="1" dirty="0"/>
              <a:t>Jensen’s Inequality</a:t>
            </a:r>
          </a:p>
          <a:p>
            <a:pPr marL="228600" indent="-228600">
              <a:buAutoNum type="arabicParenBoth"/>
            </a:pPr>
            <a:r>
              <a:rPr lang="en-US" sz="1200" dirty="0"/>
              <a:t>ELBO</a:t>
            </a:r>
            <a:r>
              <a:rPr lang="ru-RU" sz="1200" dirty="0"/>
              <a:t> </a:t>
            </a:r>
            <a:endParaRPr lang="el-GR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3E2A79-F0EB-E217-2835-8DB195468896}"/>
              </a:ext>
            </a:extLst>
          </p:cNvPr>
          <p:cNvSpPr txBox="1"/>
          <p:nvPr/>
        </p:nvSpPr>
        <p:spPr>
          <a:xfrm>
            <a:off x="4780154" y="1119482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(1)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A51DEB-78EA-E236-388C-3CD6EE848CD5}"/>
              </a:ext>
            </a:extLst>
          </p:cNvPr>
          <p:cNvSpPr txBox="1"/>
          <p:nvPr/>
        </p:nvSpPr>
        <p:spPr>
          <a:xfrm>
            <a:off x="6200077" y="1119482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88241B-690A-E77C-A0F6-A2CEEF29C5C5}"/>
              </a:ext>
            </a:extLst>
          </p:cNvPr>
          <p:cNvSpPr txBox="1"/>
          <p:nvPr/>
        </p:nvSpPr>
        <p:spPr>
          <a:xfrm>
            <a:off x="7898779" y="1119482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E04091-9C6F-84B0-08BF-255AD19586F0}"/>
              </a:ext>
            </a:extLst>
          </p:cNvPr>
          <p:cNvSpPr txBox="1"/>
          <p:nvPr/>
        </p:nvSpPr>
        <p:spPr>
          <a:xfrm>
            <a:off x="6371062" y="1559234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(4)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FD529E-67ED-1B2F-2E83-3F346484B5D4}"/>
              </a:ext>
            </a:extLst>
          </p:cNvPr>
          <p:cNvSpPr txBox="1"/>
          <p:nvPr/>
        </p:nvSpPr>
        <p:spPr>
          <a:xfrm>
            <a:off x="7653452" y="1553580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(5)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211957-4685-78F3-B630-BB0FB0E52C86}"/>
              </a:ext>
            </a:extLst>
          </p:cNvPr>
          <p:cNvSpPr txBox="1"/>
          <p:nvPr/>
        </p:nvSpPr>
        <p:spPr>
          <a:xfrm>
            <a:off x="457200" y="2321935"/>
            <a:ext cx="35126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Вывод </a:t>
            </a:r>
            <a:r>
              <a:rPr lang="en-US" sz="1200" dirty="0"/>
              <a:t>ELBO 2</a:t>
            </a:r>
            <a:endParaRPr lang="ru-RU" sz="1200" dirty="0"/>
          </a:p>
          <a:p>
            <a:endParaRPr lang="ru-RU" sz="1200" dirty="0"/>
          </a:p>
          <a:p>
            <a:pPr marL="228600" indent="-228600">
              <a:buFontTx/>
              <a:buAutoNum type="arabicParenBoth"/>
            </a:pPr>
            <a:r>
              <a:rPr lang="ru-RU" sz="1200" dirty="0"/>
              <a:t>Распишем по определению</a:t>
            </a:r>
            <a:r>
              <a:rPr lang="en-US" sz="1200" dirty="0"/>
              <a:t> (</a:t>
            </a:r>
            <a:r>
              <a:rPr lang="en-US" sz="1200" b="1" dirty="0"/>
              <a:t>Jensen’s Inequality)</a:t>
            </a:r>
            <a:endParaRPr lang="ru-RU" sz="1200" dirty="0"/>
          </a:p>
          <a:p>
            <a:pPr marL="228600" indent="-228600">
              <a:buAutoNum type="arabicParenBoth"/>
            </a:pPr>
            <a:r>
              <a:rPr lang="ru-RU" sz="1200" dirty="0"/>
              <a:t>Расписали совместное распределение</a:t>
            </a:r>
            <a:endParaRPr lang="en-US" sz="1200" dirty="0"/>
          </a:p>
          <a:p>
            <a:pPr marL="228600" indent="-228600">
              <a:buAutoNum type="arabicParenBoth"/>
            </a:pPr>
            <a:r>
              <a:rPr lang="ru-RU" sz="1200" dirty="0"/>
              <a:t>По правилу умножения в логарифме</a:t>
            </a:r>
            <a:endParaRPr lang="ru-RU" sz="1200" b="1" dirty="0"/>
          </a:p>
          <a:p>
            <a:pPr marL="228600" indent="-228600">
              <a:buAutoNum type="arabicParenBoth"/>
            </a:pPr>
            <a:r>
              <a:rPr lang="ru-RU" sz="1200" dirty="0"/>
              <a:t>Левый множитель с логарифмом выносим за интеграл, потому что от </a:t>
            </a:r>
            <a:r>
              <a:rPr lang="en-US" sz="1200" dirty="0"/>
              <a:t>z </a:t>
            </a:r>
            <a:r>
              <a:rPr lang="ru-RU" sz="1200" dirty="0"/>
              <a:t>не зависит, а то что осталось в интеграле рано 1</a:t>
            </a:r>
          </a:p>
          <a:p>
            <a:pPr marL="228600" indent="-228600">
              <a:buAutoNum type="arabicParenBoth"/>
            </a:pPr>
            <a:r>
              <a:rPr lang="ru-RU" sz="1200" dirty="0"/>
              <a:t>Правый множитель это </a:t>
            </a:r>
            <a:r>
              <a:rPr lang="en-US" sz="1200" dirty="0"/>
              <a:t>KL </a:t>
            </a:r>
            <a:r>
              <a:rPr lang="ru-RU" sz="1200" dirty="0"/>
              <a:t>по определению</a:t>
            </a:r>
          </a:p>
          <a:p>
            <a:pPr marL="228600" indent="-228600">
              <a:buAutoNum type="arabicParenBoth"/>
            </a:pPr>
            <a:endParaRPr lang="ru-RU" sz="1200" dirty="0"/>
          </a:p>
          <a:p>
            <a:pPr marL="228600" indent="-228600">
              <a:buAutoNum type="arabicParenBoth"/>
            </a:pPr>
            <a:endParaRPr lang="el-GR" sz="12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C81B9BD7-0717-B757-344A-5CA85CEF98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829"/>
          <a:stretch>
            <a:fillRect/>
          </a:stretch>
        </p:blipFill>
        <p:spPr>
          <a:xfrm>
            <a:off x="2658068" y="3824591"/>
            <a:ext cx="1120237" cy="19741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6C6CB91-0E83-7BD8-C566-53A5DB9EBA9D}"/>
              </a:ext>
            </a:extLst>
          </p:cNvPr>
          <p:cNvSpPr txBox="1"/>
          <p:nvPr/>
        </p:nvSpPr>
        <p:spPr>
          <a:xfrm>
            <a:off x="4501374" y="2417864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(1)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2D62D7-62FB-EAD1-ED46-395E5AF9252A}"/>
              </a:ext>
            </a:extLst>
          </p:cNvPr>
          <p:cNvSpPr txBox="1"/>
          <p:nvPr/>
        </p:nvSpPr>
        <p:spPr>
          <a:xfrm>
            <a:off x="6250829" y="2377505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</a:t>
            </a:r>
            <a:r>
              <a:rPr lang="ru-RU" sz="900" dirty="0"/>
              <a:t>2</a:t>
            </a:r>
            <a:r>
              <a:rPr lang="en-US" sz="900" dirty="0"/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8706BC-15BB-8471-7237-BB69B78D3F3F}"/>
              </a:ext>
            </a:extLst>
          </p:cNvPr>
          <p:cNvSpPr txBox="1"/>
          <p:nvPr/>
        </p:nvSpPr>
        <p:spPr>
          <a:xfrm>
            <a:off x="8430321" y="2398020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</a:t>
            </a:r>
            <a:r>
              <a:rPr lang="ru-RU" sz="900" dirty="0"/>
              <a:t>3</a:t>
            </a:r>
            <a:r>
              <a:rPr lang="en-US" sz="900" dirty="0"/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B0C900-BF3C-351A-8005-FA288E2C7446}"/>
              </a:ext>
            </a:extLst>
          </p:cNvPr>
          <p:cNvSpPr txBox="1"/>
          <p:nvPr/>
        </p:nvSpPr>
        <p:spPr>
          <a:xfrm>
            <a:off x="5274526" y="2824922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</a:t>
            </a:r>
            <a:r>
              <a:rPr lang="ru-RU" sz="900" dirty="0"/>
              <a:t>4</a:t>
            </a:r>
            <a:r>
              <a:rPr lang="en-US" sz="900" dirty="0"/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4B4AF0-C42A-A83A-F4BE-55E79E00F8BD}"/>
              </a:ext>
            </a:extLst>
          </p:cNvPr>
          <p:cNvSpPr txBox="1"/>
          <p:nvPr/>
        </p:nvSpPr>
        <p:spPr>
          <a:xfrm>
            <a:off x="6637405" y="2824922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</a:t>
            </a:r>
            <a:r>
              <a:rPr lang="ru-RU" sz="900" dirty="0"/>
              <a:t>5</a:t>
            </a:r>
            <a:r>
              <a:rPr lang="en-US" sz="900" dirty="0"/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A34C15-C7D7-2197-2476-7D07E1C24160}"/>
              </a:ext>
            </a:extLst>
          </p:cNvPr>
          <p:cNvSpPr txBox="1"/>
          <p:nvPr/>
        </p:nvSpPr>
        <p:spPr>
          <a:xfrm>
            <a:off x="1346303" y="4252345"/>
            <a:ext cx="2623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Связь между </a:t>
            </a:r>
            <a:r>
              <a:rPr lang="en-US" sz="1200" b="1" dirty="0"/>
              <a:t>Likelihood </a:t>
            </a:r>
            <a:r>
              <a:rPr lang="ru-RU" sz="1200" b="1" dirty="0"/>
              <a:t>и </a:t>
            </a:r>
            <a:r>
              <a:rPr lang="en-US" sz="1200" b="1" dirty="0"/>
              <a:t>ELBO:</a:t>
            </a:r>
            <a:endParaRPr lang="el-GR" sz="1200" b="1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EA196AF4-63AA-975D-8473-8386ADAB0314}"/>
              </a:ext>
            </a:extLst>
          </p:cNvPr>
          <p:cNvSpPr/>
          <p:nvPr/>
        </p:nvSpPr>
        <p:spPr>
          <a:xfrm>
            <a:off x="457200" y="963960"/>
            <a:ext cx="2623531" cy="138499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F7B1B14A-2894-0592-0CCD-01D357CDE84E}"/>
              </a:ext>
            </a:extLst>
          </p:cNvPr>
          <p:cNvSpPr/>
          <p:nvPr/>
        </p:nvSpPr>
        <p:spPr>
          <a:xfrm>
            <a:off x="457199" y="2348955"/>
            <a:ext cx="3371386" cy="181963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635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76AD9-B6B6-D75E-AA27-69DF4AAC1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9DE2B0-6F05-52A5-E0D8-8E01E017D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374" y="1053457"/>
            <a:ext cx="3656530" cy="1186058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CFEDAA8-5E0E-1741-DE27-D29D5E1F2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Variational Lower Bound (ELBO)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CE9644-EC6B-6911-6B4D-F1B70013FCAF}"/>
              </a:ext>
            </a:extLst>
          </p:cNvPr>
          <p:cNvSpPr txBox="1"/>
          <p:nvPr/>
        </p:nvSpPr>
        <p:spPr>
          <a:xfrm>
            <a:off x="457200" y="963960"/>
            <a:ext cx="3321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Вывод </a:t>
            </a:r>
            <a:r>
              <a:rPr lang="en-US" sz="1200" dirty="0"/>
              <a:t>ELBO </a:t>
            </a:r>
            <a:r>
              <a:rPr lang="ru-RU" sz="1200" dirty="0"/>
              <a:t>3</a:t>
            </a:r>
          </a:p>
          <a:p>
            <a:endParaRPr lang="ru-RU" sz="1200" dirty="0"/>
          </a:p>
          <a:p>
            <a:pPr marL="228600" indent="-228600">
              <a:buAutoNum type="arabicParenBoth"/>
            </a:pPr>
            <a:r>
              <a:rPr lang="ru-RU" sz="1200" dirty="0"/>
              <a:t>Расписали совместное распределение</a:t>
            </a:r>
          </a:p>
          <a:p>
            <a:pPr marL="228600" indent="-228600">
              <a:buAutoNum type="arabicParenBoth"/>
            </a:pPr>
            <a:r>
              <a:rPr lang="ru-RU" sz="1200" dirty="0"/>
              <a:t>По определению </a:t>
            </a:r>
            <a:r>
              <a:rPr lang="en-US" sz="1200" b="1" dirty="0"/>
              <a:t>LOTUS</a:t>
            </a:r>
            <a:endParaRPr lang="ru-RU" sz="1200" b="1" dirty="0"/>
          </a:p>
          <a:p>
            <a:pPr marL="228600" indent="-228600">
              <a:buFontTx/>
              <a:buAutoNum type="arabicParenBoth"/>
            </a:pPr>
            <a:r>
              <a:rPr lang="en-US" sz="1200" dirty="0"/>
              <a:t>KL</a:t>
            </a:r>
            <a:r>
              <a:rPr lang="ru-RU" sz="1200" dirty="0"/>
              <a:t> </a:t>
            </a:r>
            <a:endParaRPr lang="el-GR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1CE876-01E3-527B-3D5D-F759B65FF238}"/>
              </a:ext>
            </a:extLst>
          </p:cNvPr>
          <p:cNvSpPr txBox="1"/>
          <p:nvPr/>
        </p:nvSpPr>
        <p:spPr>
          <a:xfrm>
            <a:off x="6569210" y="1015903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(1)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5895FF-CF96-7D31-D840-6A8B680CF30A}"/>
              </a:ext>
            </a:extLst>
          </p:cNvPr>
          <p:cNvSpPr txBox="1"/>
          <p:nvPr/>
        </p:nvSpPr>
        <p:spPr>
          <a:xfrm>
            <a:off x="5564255" y="2118123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</a:t>
            </a:r>
            <a:r>
              <a:rPr lang="ru-RU" sz="900" dirty="0"/>
              <a:t>2</a:t>
            </a:r>
            <a:r>
              <a:rPr lang="en-US" sz="900" dirty="0"/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E1B9AD-CE0A-417B-9D87-6E2AB6E61D5E}"/>
              </a:ext>
            </a:extLst>
          </p:cNvPr>
          <p:cNvSpPr txBox="1"/>
          <p:nvPr/>
        </p:nvSpPr>
        <p:spPr>
          <a:xfrm>
            <a:off x="6637405" y="2100706"/>
            <a:ext cx="3419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(</a:t>
            </a:r>
            <a:r>
              <a:rPr lang="ru-RU" sz="900" dirty="0"/>
              <a:t>3</a:t>
            </a:r>
            <a:r>
              <a:rPr lang="en-US" sz="900" dirty="0"/>
              <a:t>)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35304FC-AFAC-C69D-59B5-CD81B6DD2E05}"/>
              </a:ext>
            </a:extLst>
          </p:cNvPr>
          <p:cNvSpPr/>
          <p:nvPr/>
        </p:nvSpPr>
        <p:spPr>
          <a:xfrm>
            <a:off x="457200" y="963960"/>
            <a:ext cx="2947639" cy="101566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77C556-8797-7624-7A69-E60B7BAE3F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028" y="2708980"/>
            <a:ext cx="5319221" cy="6706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440EF7-F859-C312-FC75-0836FC17A196}"/>
              </a:ext>
            </a:extLst>
          </p:cNvPr>
          <p:cNvSpPr txBox="1"/>
          <p:nvPr/>
        </p:nvSpPr>
        <p:spPr>
          <a:xfrm>
            <a:off x="863083" y="2966238"/>
            <a:ext cx="2623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/>
              <a:t>Связь между </a:t>
            </a:r>
            <a:r>
              <a:rPr lang="en-US" sz="1200" b="1" dirty="0"/>
              <a:t>Likelihood </a:t>
            </a:r>
            <a:r>
              <a:rPr lang="ru-RU" sz="1200" b="1" dirty="0"/>
              <a:t>и </a:t>
            </a:r>
            <a:r>
              <a:rPr lang="en-US" sz="1200" b="1" dirty="0"/>
              <a:t>ELBO:</a:t>
            </a:r>
            <a:endParaRPr lang="el-GR" sz="1200" b="1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BF0E24B-1551-05F7-74D8-9043AA9CA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8397" y="3535730"/>
            <a:ext cx="4085954" cy="137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943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23D7C-2ABD-171B-07D6-EEA3A17ED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Связь между </a:t>
            </a:r>
            <a:r>
              <a:rPr lang="en-US" dirty="0"/>
              <a:t>Likelihood </a:t>
            </a:r>
            <a:r>
              <a:rPr lang="ru-RU" dirty="0"/>
              <a:t>и </a:t>
            </a:r>
            <a:r>
              <a:rPr lang="en-US" dirty="0"/>
              <a:t>ELBO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D83F3BFC-1217-F496-61E2-3AC9EF78F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49" y="1314015"/>
            <a:ext cx="6155473" cy="324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6937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44A76-8D0A-6368-99A6-04437F3BD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542A104-26F8-4CB0-9615-F1D592DAB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293" y="105713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en-US" dirty="0"/>
              <a:t>Expectation–Maximization (EM)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04FADD-DDD4-C287-16CF-83742A857708}"/>
                  </a:ext>
                </a:extLst>
              </p:cNvPr>
              <p:cNvSpPr txBox="1"/>
              <p:nvPr/>
            </p:nvSpPr>
            <p:spPr>
              <a:xfrm>
                <a:off x="457200" y="703892"/>
                <a:ext cx="7922415" cy="49351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ru-RU" sz="1200" b="1" dirty="0"/>
                  <a:t>Основная идея</a:t>
                </a:r>
              </a:p>
              <a:p>
                <a:pPr>
                  <a:buNone/>
                </a:pPr>
                <a:r>
                  <a:rPr lang="ru-RU" sz="1200" dirty="0"/>
                  <a:t>Мы хотим </a:t>
                </a:r>
                <a:r>
                  <a:rPr lang="ru-RU" sz="1200" b="1" dirty="0"/>
                  <a:t>максимизировать </a:t>
                </a:r>
                <a:r>
                  <a:rPr lang="en-US" sz="1200" b="1" dirty="0"/>
                  <a:t>ELBO, </a:t>
                </a:r>
                <a:r>
                  <a:rPr lang="ru-RU" sz="1200" dirty="0"/>
                  <a:t>но напрямую делать это сложно.</a:t>
                </a:r>
                <a:endParaRPr lang="en-US" sz="12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12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ar-AE" sz="12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m:rPr>
                                  <m:nor/>
                                </m:rPr>
                                <a:rPr lang="en-US" sz="1200" i="1"/>
                                <m:t>(</m:t>
                              </m:r>
                              <m:r>
                                <a:rPr lang="ar-AE" sz="12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sz="12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00" b="1" i="0" smtClean="0"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r>
                                <a:rPr lang="en-US" sz="1200" b="1"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  <m:r>
                                <a:rPr lang="en-US" sz="1200" b="1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m:rPr>
                                  <m:nor/>
                                </m:rPr>
                                <a:rPr lang="en-US" sz="1200" i="1"/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ar-AE" sz="1200" i="1"/>
                                <m:t> </m:t>
                              </m:r>
                            </m:e>
                          </m:func>
                        </m:e>
                      </m:d>
                      <m:r>
                        <a:rPr lang="ar-AE" sz="12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1200" b="0" i="1">
                          <a:latin typeface="Cambria Math" panose="02040503050406030204" pitchFamily="18" charset="0"/>
                        </a:rPr>
                        <m:t>𝐾𝐿</m:t>
                      </m:r>
                      <m:d>
                        <m:dPr>
                          <m:ctrlPr>
                            <a:rPr lang="ar-AE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ar-AE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b="1" i="0"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</m:d>
                          <m:r>
                            <a:rPr lang="ar-AE" sz="1200" b="0" i="0">
                              <a:latin typeface="Cambria Math" panose="02040503050406030204" pitchFamily="18" charset="0"/>
                            </a:rPr>
                            <m:t>∣∣</m:t>
                          </m:r>
                          <m:r>
                            <a:rPr lang="ar-AE" sz="1200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ar-AE" sz="1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200" b="1" i="0"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1200" b="0" dirty="0"/>
              </a:p>
              <a:p>
                <a:pPr>
                  <a:buNone/>
                </a:pPr>
                <a:br>
                  <a:rPr lang="ru-RU" sz="1200" dirty="0"/>
                </a:br>
                <a:r>
                  <a:rPr lang="ru-RU" sz="1200" dirty="0"/>
                  <a:t>Поэтому используем </a:t>
                </a:r>
                <a:r>
                  <a:rPr lang="ru-RU" sz="1200" b="1" dirty="0"/>
                  <a:t>покоординатную оптимизацию (</a:t>
                </a:r>
                <a:r>
                  <a:rPr lang="en-US" sz="1200" b="1" dirty="0"/>
                  <a:t>block-coordinate optimization)</a:t>
                </a:r>
                <a:r>
                  <a:rPr lang="en-US" sz="1200" dirty="0"/>
                  <a:t>:  </a:t>
                </a:r>
                <a:r>
                  <a:rPr lang="ru-RU" sz="1200" dirty="0"/>
                  <a:t>чередуем обновление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ru-RU" sz="1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200" dirty="0"/>
                  <a:t>и </a:t>
                </a:r>
                <a14:m>
                  <m:oMath xmlns:m="http://schemas.openxmlformats.org/officeDocument/2006/math">
                    <m:r>
                      <a:rPr lang="ru-RU" sz="12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sz="1200" dirty="0"/>
                  <a:t>.</a:t>
                </a:r>
              </a:p>
              <a:p>
                <a:endParaRPr lang="en-US" sz="1200" dirty="0"/>
              </a:p>
              <a:p>
                <a:r>
                  <a:rPr lang="en-US" sz="1200" b="1" dirty="0"/>
                  <a:t>1.  </a:t>
                </a:r>
                <a:r>
                  <a:rPr lang="ru-RU" sz="1200" b="1" dirty="0"/>
                  <a:t>Инициализация</a:t>
                </a:r>
              </a:p>
              <a:p>
                <a:r>
                  <a:rPr lang="ru-RU" sz="1200" dirty="0"/>
                  <a:t>Выбираем начальное приближение параметров:</a:t>
                </a:r>
                <a:r>
                  <a:rPr lang="en-US" sz="1200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/>
                        </m:ctrlPr>
                      </m:sSupPr>
                      <m:e>
                        <m:r>
                          <a:rPr lang="ar-AE" sz="1200" i="1"/>
                          <m:t>𝜃</m:t>
                        </m:r>
                      </m:e>
                      <m:sup>
                        <m:d>
                          <m:dPr>
                            <m:ctrlPr>
                              <a:rPr lang="ar-AE" sz="1200" i="1"/>
                            </m:ctrlPr>
                          </m:dPr>
                          <m:e>
                            <m:r>
                              <a:rPr lang="ar-AE" sz="1200"/>
                              <m:t>0</m:t>
                            </m:r>
                          </m:e>
                        </m:d>
                      </m:sup>
                    </m:sSup>
                  </m:oMath>
                </a14:m>
                <a:endParaRPr lang="ar-AE" sz="1200" dirty="0"/>
              </a:p>
              <a:p>
                <a:endParaRPr lang="en-US" sz="1200" b="1" dirty="0"/>
              </a:p>
              <a:p>
                <a:r>
                  <a:rPr lang="en-US" sz="1200" b="1" dirty="0"/>
                  <a:t>2. E-step (Expectation step)</a:t>
                </a:r>
              </a:p>
              <a:p>
                <a:r>
                  <a:rPr lang="ru-RU" sz="1200" dirty="0"/>
                  <a:t>Максимизируем </a:t>
                </a:r>
                <a:r>
                  <a:rPr lang="en-US" sz="1200" dirty="0"/>
                  <a:t>ELBO </a:t>
                </a:r>
                <a:r>
                  <a:rPr lang="ru-RU" sz="1200" dirty="0"/>
                  <a:t>по </a:t>
                </a:r>
                <a14:m>
                  <m:oMath xmlns:m="http://schemas.openxmlformats.org/officeDocument/2006/math">
                    <m:r>
                      <a:rPr lang="ru-RU" sz="1200" i="1"/>
                      <m:t>𝑞</m:t>
                    </m:r>
                  </m:oMath>
                </a14:m>
                <a:r>
                  <a:rPr lang="ru-RU" sz="1200" dirty="0"/>
                  <a:t>при фиксированном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/>
                        </m:ctrlPr>
                      </m:sSupPr>
                      <m:e>
                        <m:r>
                          <a:rPr lang="ar-AE" sz="1200" i="1"/>
                          <m:t>𝜃</m:t>
                        </m:r>
                      </m:e>
                      <m:sup>
                        <m:r>
                          <a:rPr lang="ar-AE" sz="1200"/>
                          <m:t>∗</m:t>
                        </m:r>
                      </m:sup>
                    </m:sSup>
                  </m:oMath>
                </a14:m>
                <a:r>
                  <a:rPr lang="ar-AE" sz="1200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200"/>
                          </m:ctrlPr>
                        </m:sSupPr>
                        <m:e>
                          <m:r>
                            <a:rPr lang="ar-AE" sz="1200" i="1"/>
                            <m:t>𝑞</m:t>
                          </m:r>
                        </m:e>
                        <m:sup>
                          <m:r>
                            <a:rPr lang="ar-AE" sz="1200"/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ar-AE" sz="1200" i="1"/>
                          </m:ctrlPr>
                        </m:dPr>
                        <m:e>
                          <m:r>
                            <a:rPr lang="ar-AE" sz="1200" b="1"/>
                            <m:t>𝐳</m:t>
                          </m:r>
                        </m:e>
                      </m:d>
                      <m:r>
                        <a:rPr lang="ar-AE" sz="1200"/>
                        <m:t>=</m:t>
                      </m:r>
                      <m:func>
                        <m:funcPr>
                          <m:ctrlPr>
                            <a:rPr lang="ar-AE" sz="1200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/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200" i="1"/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200" i="1"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/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200" i="1"/>
                                <m:t>𝑞</m:t>
                              </m:r>
                            </m:lim>
                          </m:limLow>
                        </m:e>
                      </m:func>
                      <m:r>
                        <a:rPr lang="ar-AE" sz="1200"/>
                        <m:t>ℒ</m:t>
                      </m:r>
                      <m:d>
                        <m:dPr>
                          <m:sepChr m:val=","/>
                          <m:ctrlPr>
                            <a:rPr lang="ar-AE" sz="1200" i="1"/>
                          </m:ctrlPr>
                        </m:dPr>
                        <m:e>
                          <m:r>
                            <a:rPr lang="ar-AE" sz="1200" i="1"/>
                            <m:t>𝑞</m:t>
                          </m:r>
                        </m:e>
                        <m:e>
                          <m:sSup>
                            <m:sSupPr>
                              <m:ctrlPr>
                                <a:rPr lang="ar-AE" sz="1200" i="1"/>
                              </m:ctrlPr>
                            </m:sSupPr>
                            <m:e>
                              <m:r>
                                <a:rPr lang="ar-AE" sz="1200" i="1"/>
                                <m:t>𝜃</m:t>
                              </m:r>
                            </m:e>
                            <m:sup>
                              <m:r>
                                <a:rPr lang="ar-AE" sz="1200"/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ar-AE" sz="1200"/>
                        <m:t>=</m:t>
                      </m:r>
                      <m:func>
                        <m:funcPr>
                          <m:ctrlPr>
                            <a:rPr lang="ar-AE" sz="1200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/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200" i="1"/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200" i="1"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/>
                                    <m:t>min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200" i="1"/>
                                <m:t>𝑞</m:t>
                              </m:r>
                            </m:lim>
                          </m:limLow>
                        </m:e>
                      </m:func>
                      <m:r>
                        <a:rPr lang="ar-AE" sz="1200" i="1"/>
                        <m:t>𝐾𝐿</m:t>
                      </m:r>
                      <m:d>
                        <m:dPr>
                          <m:ctrlPr>
                            <a:rPr lang="ar-AE" sz="1200" i="1"/>
                          </m:ctrlPr>
                        </m:dPr>
                        <m:e>
                          <m:r>
                            <a:rPr lang="ar-AE" sz="1200" i="1"/>
                            <m:t>𝑞</m:t>
                          </m:r>
                          <m:d>
                            <m:dPr>
                              <m:ctrlPr>
                                <a:rPr lang="ar-AE" sz="1200" i="1"/>
                              </m:ctrlPr>
                            </m:dPr>
                            <m:e>
                              <m:r>
                                <a:rPr lang="ar-AE" sz="1200" b="1"/>
                                <m:t>𝐳</m:t>
                              </m:r>
                            </m:e>
                          </m:d>
                          <m:r>
                            <a:rPr lang="ar-AE" sz="1200"/>
                            <m:t>∣∣</m:t>
                          </m:r>
                          <m:r>
                            <a:rPr lang="ar-AE" sz="1200" i="1"/>
                            <m:t>𝑝</m:t>
                          </m:r>
                          <m:d>
                            <m:dPr>
                              <m:endChr m:val="|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ar-AE" sz="12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ar-AE" sz="120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ar-AE" sz="1200" b="0" dirty="0"/>
              </a:p>
              <a:p>
                <a:r>
                  <a:rPr lang="ru-RU" sz="1200" dirty="0"/>
                  <a:t>То есть ищем апостериорное распределение скрытых переменных</a:t>
                </a:r>
                <a:r>
                  <a:rPr lang="en-US" sz="1200" dirty="0"/>
                  <a:t>  </a:t>
                </a:r>
                <a:r>
                  <a:rPr lang="ru-RU" sz="1200" dirty="0"/>
                  <a:t>(в идеале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/>
                        </m:ctrlPr>
                      </m:sSupPr>
                      <m:e>
                        <m:r>
                          <a:rPr lang="ar-AE" sz="1200" i="1"/>
                          <m:t>𝑞</m:t>
                        </m:r>
                      </m:e>
                      <m:sup>
                        <m:r>
                          <a:rPr lang="ar-AE" sz="1200"/>
                          <m:t>∗</m:t>
                        </m:r>
                      </m:sup>
                    </m:sSup>
                    <m:d>
                      <m:dPr>
                        <m:ctrlPr>
                          <a:rPr lang="ar-AE" sz="1200" i="1"/>
                        </m:ctrlPr>
                      </m:dPr>
                      <m:e>
                        <m:r>
                          <a:rPr lang="ar-AE" sz="1200" b="1"/>
                          <m:t>𝐳</m:t>
                        </m:r>
                      </m:e>
                    </m:d>
                    <m:r>
                      <a:rPr lang="ar-AE" sz="1200"/>
                      <m:t>=</m:t>
                    </m:r>
                    <m:r>
                      <a:rPr lang="ar-AE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ar-AE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ar-AE" sz="12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2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)</a:t>
                </a:r>
                <a:br>
                  <a:rPr lang="ar-AE" sz="1200" dirty="0"/>
                </a:br>
                <a:endParaRPr lang="ar-AE" sz="1200" dirty="0"/>
              </a:p>
              <a:p>
                <a:r>
                  <a:rPr lang="en-US" sz="1200" b="1" dirty="0"/>
                  <a:t>3. M-step (Maximization step)</a:t>
                </a:r>
              </a:p>
              <a:p>
                <a:r>
                  <a:rPr lang="ru-RU" sz="1200" dirty="0"/>
                  <a:t>Максимизируем </a:t>
                </a:r>
                <a:r>
                  <a:rPr lang="en-US" sz="1200" dirty="0"/>
                  <a:t>ELBO </a:t>
                </a:r>
                <a:r>
                  <a:rPr lang="ru-RU" sz="1200" dirty="0"/>
                  <a:t>по параметрам модели при фиксированном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200"/>
                        </m:ctrlPr>
                      </m:sSupPr>
                      <m:e>
                        <m:r>
                          <a:rPr lang="ar-AE" sz="1200" i="1"/>
                          <m:t>𝑞</m:t>
                        </m:r>
                      </m:e>
                      <m:sup>
                        <m:r>
                          <a:rPr lang="ar-AE" sz="1200"/>
                          <m:t>∗</m:t>
                        </m:r>
                      </m:sup>
                    </m:sSup>
                  </m:oMath>
                </a14:m>
                <a:r>
                  <a:rPr lang="ar-AE" sz="1200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200"/>
                          </m:ctrlPr>
                        </m:sSupPr>
                        <m:e>
                          <m:r>
                            <a:rPr lang="ar-AE" sz="1200" i="1"/>
                            <m:t>𝜃</m:t>
                          </m:r>
                        </m:e>
                        <m:sup>
                          <m:r>
                            <a:rPr lang="ar-AE" sz="1200"/>
                            <m:t>∗</m:t>
                          </m:r>
                        </m:sup>
                      </m:sSup>
                      <m:r>
                        <a:rPr lang="ar-AE" sz="1200"/>
                        <m:t>=</m:t>
                      </m:r>
                      <m:func>
                        <m:funcPr>
                          <m:ctrlPr>
                            <a:rPr lang="ar-AE" sz="1200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/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ar-AE" sz="1200" i="1"/>
                              </m:ctrlPr>
                            </m:limLowPr>
                            <m:e>
                              <m:func>
                                <m:funcPr>
                                  <m:ctrlPr>
                                    <a:rPr lang="ar-AE" sz="1200" i="1"/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200"/>
                                    <m:t>max</m:t>
                                  </m:r>
                                </m:fName>
                                <m:e/>
                              </m:func>
                            </m:e>
                            <m:lim>
                              <m:r>
                                <a:rPr lang="ar-AE" sz="1200" i="1"/>
                                <m:t>𝜃</m:t>
                              </m:r>
                            </m:lim>
                          </m:limLow>
                        </m:e>
                      </m:func>
                      <m:r>
                        <a:rPr lang="ar-AE" sz="1200"/>
                        <m:t>ℒ</m:t>
                      </m:r>
                      <m:d>
                        <m:dPr>
                          <m:sepChr m:val=","/>
                          <m:ctrlPr>
                            <a:rPr lang="ar-AE" sz="1200" i="1" smtClean="0"/>
                          </m:ctrlPr>
                        </m:dPr>
                        <m:e>
                          <m:sSup>
                            <m:sSupPr>
                              <m:ctrlPr>
                                <a:rPr lang="ar-AE" sz="1200" i="1"/>
                              </m:ctrlPr>
                            </m:sSupPr>
                            <m:e>
                              <m:r>
                                <a:rPr lang="ar-AE" sz="1200" i="1"/>
                                <m:t>𝑞</m:t>
                              </m:r>
                            </m:e>
                            <m:sup>
                              <m:r>
                                <a:rPr lang="ar-AE" sz="1200"/>
                                <m:t>∗</m:t>
                              </m:r>
                            </m:sup>
                          </m:sSup>
                        </m:e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ar-AE" sz="1200" dirty="0"/>
              </a:p>
              <a:p>
                <a:r>
                  <a:rPr lang="ru-RU" sz="1200" dirty="0"/>
                  <a:t>Обновляем параметры, чтобы увеличить вероятность наблюдаемых данных.</a:t>
                </a:r>
              </a:p>
              <a:p>
                <a:endParaRPr lang="ru-RU" sz="1200" dirty="0"/>
              </a:p>
              <a:p>
                <a:r>
                  <a:rPr lang="en-US" sz="1200" b="1" dirty="0"/>
                  <a:t>4. </a:t>
                </a:r>
                <a:r>
                  <a:rPr lang="ru-RU" sz="1200" b="1" dirty="0"/>
                  <a:t>Повторение</a:t>
                </a:r>
              </a:p>
              <a:p>
                <a:r>
                  <a:rPr lang="ru-RU" sz="1200" dirty="0"/>
                  <a:t>Повторяем </a:t>
                </a:r>
                <a:r>
                  <a:rPr lang="en-US" sz="1200" dirty="0"/>
                  <a:t>E-step </a:t>
                </a:r>
                <a:r>
                  <a:rPr lang="ru-RU" sz="1200" dirty="0"/>
                  <a:t>и </a:t>
                </a:r>
                <a:r>
                  <a:rPr lang="en-US" sz="1200" dirty="0"/>
                  <a:t>M-step </a:t>
                </a:r>
                <a:r>
                  <a:rPr lang="ru-RU" sz="1200" dirty="0"/>
                  <a:t>до сходимости</a:t>
                </a:r>
                <a:br>
                  <a:rPr lang="ru-RU" sz="1200" dirty="0"/>
                </a:br>
                <a:r>
                  <a:rPr lang="ru-RU" sz="1200" dirty="0"/>
                  <a:t>(изменение </a:t>
                </a:r>
                <a14:m>
                  <m:oMath xmlns:m="http://schemas.openxmlformats.org/officeDocument/2006/math">
                    <m:r>
                      <a:rPr lang="ru-RU" sz="1200"/>
                      <m:t>ℒ</m:t>
                    </m:r>
                    <m:d>
                      <m:dPr>
                        <m:sepChr m:val=","/>
                        <m:ctrlPr>
                          <a:rPr lang="ar-AE" sz="1200" i="1"/>
                        </m:ctrlPr>
                      </m:dPr>
                      <m:e>
                        <m:r>
                          <a:rPr lang="ar-AE" sz="1200" i="1"/>
                          <m:t>𝑞</m:t>
                        </m:r>
                      </m:e>
                      <m:e>
                        <m:r>
                          <a:rPr lang="ar-AE" sz="1200" i="1"/>
                          <m:t>𝜃</m:t>
                        </m:r>
                      </m:e>
                    </m:d>
                  </m:oMath>
                </a14:m>
                <a:r>
                  <a:rPr lang="ru-RU" sz="1200" dirty="0"/>
                  <a:t>становится незначительным).</a:t>
                </a:r>
              </a:p>
              <a:p>
                <a:br>
                  <a:rPr lang="ru-RU" sz="1200" dirty="0"/>
                </a:br>
                <a:endParaRPr lang="ru-RU" sz="1200" dirty="0"/>
              </a:p>
              <a:p>
                <a:pPr>
                  <a:buNone/>
                </a:pPr>
                <a:endParaRPr lang="ru-RU" sz="1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04FADD-DDD4-C287-16CF-83742A857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703892"/>
                <a:ext cx="7922415" cy="49351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2EB10D6-B58B-1F92-EA06-28629ACC725D}"/>
              </a:ext>
            </a:extLst>
          </p:cNvPr>
          <p:cNvSpPr txBox="1"/>
          <p:nvPr/>
        </p:nvSpPr>
        <p:spPr>
          <a:xfrm>
            <a:off x="5917581" y="3480602"/>
            <a:ext cx="35535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b="1" dirty="0"/>
              <a:t>Интуиция</a:t>
            </a:r>
            <a:endParaRPr lang="en-US" sz="1000" b="1" dirty="0"/>
          </a:p>
          <a:p>
            <a:endParaRPr lang="ru-RU" sz="1000" b="1" dirty="0"/>
          </a:p>
          <a:p>
            <a:r>
              <a:rPr lang="en-US" sz="1000" b="1" dirty="0"/>
              <a:t>E-step:</a:t>
            </a:r>
            <a:r>
              <a:rPr lang="en-US" sz="1000" dirty="0"/>
              <a:t> </a:t>
            </a:r>
            <a:r>
              <a:rPr lang="ru-RU" sz="1000" dirty="0"/>
              <a:t>оцениваем «ожидаемые» скрытые переменные,</a:t>
            </a:r>
            <a:br>
              <a:rPr lang="ru-RU" sz="1000" dirty="0"/>
            </a:br>
            <a:r>
              <a:rPr lang="ru-RU" sz="1000" dirty="0"/>
              <a:t>используя текущие параметры модели.</a:t>
            </a:r>
            <a:endParaRPr lang="en-US" sz="1000" dirty="0"/>
          </a:p>
          <a:p>
            <a:endParaRPr lang="ru-RU" sz="1000" dirty="0"/>
          </a:p>
          <a:p>
            <a:r>
              <a:rPr lang="en-US" sz="1000" b="1" dirty="0"/>
              <a:t>M-step:</a:t>
            </a:r>
            <a:r>
              <a:rPr lang="en-US" sz="1000" dirty="0"/>
              <a:t> </a:t>
            </a:r>
            <a:r>
              <a:rPr lang="ru-RU" sz="1000" dirty="0"/>
              <a:t>обновляем параметры, чтобы сделать сэмплы</a:t>
            </a:r>
            <a:br>
              <a:rPr lang="ru-RU" sz="1000" dirty="0"/>
            </a:br>
            <a:r>
              <a:rPr lang="ru-RU" sz="1000" dirty="0"/>
              <a:t>максимально вероятными при этих скрытых оценках.</a:t>
            </a:r>
          </a:p>
          <a:p>
            <a:endParaRPr lang="en-US" sz="1000" dirty="0"/>
          </a:p>
          <a:p>
            <a:r>
              <a:rPr lang="ru-RU" sz="1000" dirty="0"/>
              <a:t>С каждым шагом </a:t>
            </a:r>
            <a:r>
              <a:rPr lang="en-US" sz="1000" b="1" dirty="0"/>
              <a:t>ELBO </a:t>
            </a:r>
            <a:r>
              <a:rPr lang="ru-RU" sz="1000" b="1" dirty="0"/>
              <a:t>не убывает</a:t>
            </a:r>
            <a:r>
              <a:rPr lang="ru-RU" sz="1000" dirty="0"/>
              <a:t>,</a:t>
            </a:r>
            <a:br>
              <a:rPr lang="ru-RU" sz="1000" dirty="0"/>
            </a:br>
            <a:r>
              <a:rPr lang="ru-RU" sz="1000" dirty="0"/>
              <a:t>поэтому алгоритм гарантированно сходится (локально).</a:t>
            </a:r>
          </a:p>
          <a:p>
            <a:endParaRPr lang="en-US" sz="1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2570493-5842-0ACD-C7C4-AFA4FCA99374}"/>
              </a:ext>
            </a:extLst>
          </p:cNvPr>
          <p:cNvSpPr/>
          <p:nvPr/>
        </p:nvSpPr>
        <p:spPr>
          <a:xfrm>
            <a:off x="5917580" y="3480602"/>
            <a:ext cx="3226420" cy="166289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456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50B10-6A99-42E5-56CE-BB08757F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99B1AD07-6C1F-3CB3-D147-352D498CE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293" y="105713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От </a:t>
            </a:r>
            <a:r>
              <a:rPr lang="en-US" dirty="0"/>
              <a:t>EM </a:t>
            </a:r>
            <a:r>
              <a:rPr lang="ru-RU" dirty="0"/>
              <a:t>к </a:t>
            </a:r>
            <a:r>
              <a:rPr lang="en-US" dirty="0"/>
              <a:t>VAE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920E42-8731-5D25-668B-8ABDE0AF228C}"/>
                  </a:ext>
                </a:extLst>
              </p:cNvPr>
              <p:cNvSpPr txBox="1"/>
              <p:nvPr/>
            </p:nvSpPr>
            <p:spPr>
              <a:xfrm>
                <a:off x="457200" y="703892"/>
                <a:ext cx="7922415" cy="4441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200" b="1" dirty="0"/>
                  <a:t>Идея</a:t>
                </a:r>
              </a:p>
              <a:p>
                <a:r>
                  <a:rPr lang="ru-RU" sz="1200" dirty="0"/>
                  <a:t>В классическом </a:t>
                </a:r>
                <a:r>
                  <a:rPr lang="en-US" sz="1200" dirty="0"/>
                  <a:t>EM / </a:t>
                </a:r>
                <a:r>
                  <a:rPr lang="ru-RU" sz="1200" dirty="0"/>
                  <a:t>вариационном выводе для каждого объекта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𝑥</m:t>
                        </m:r>
                      </m:e>
                      <m:sub>
                        <m:r>
                          <a:rPr lang="ar-AE" sz="1200" i="1"/>
                          <m:t>𝑖</m:t>
                        </m:r>
                      </m:sub>
                    </m:sSub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200" dirty="0"/>
                  <a:t>мы ищем </a:t>
                </a:r>
                <a:r>
                  <a:rPr lang="ru-RU" sz="1200" b="1" dirty="0"/>
                  <a:t>свой</a:t>
                </a:r>
                <a:r>
                  <a:rPr lang="ru-RU" sz="1200" dirty="0"/>
                  <a:t> вариационный </a:t>
                </a:r>
                <a:r>
                  <a:rPr lang="ru-RU" sz="1200" dirty="0" err="1"/>
                  <a:t>постериор</a:t>
                </a:r>
                <a:r>
                  <a:rPr lang="ru-RU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𝑞</m:t>
                        </m:r>
                      </m:e>
                      <m:sub>
                        <m:r>
                          <a:rPr lang="ar-AE" sz="1200" i="1"/>
                          <m:t>𝑖</m:t>
                        </m:r>
                      </m:sub>
                    </m:sSub>
                    <m:d>
                      <m:dPr>
                        <m:ctrlPr>
                          <a:rPr lang="ar-AE" sz="1200" i="1"/>
                        </m:ctrlPr>
                      </m:dPr>
                      <m:e>
                        <m:r>
                          <a:rPr lang="ar-AE" sz="1200" i="1"/>
                          <m:t>𝑧</m:t>
                        </m:r>
                      </m:e>
                    </m:d>
                  </m:oMath>
                </a14:m>
                <a:r>
                  <a:rPr lang="ar-AE" sz="1200" dirty="0"/>
                  <a:t>.</a:t>
                </a:r>
                <a:br>
                  <a:rPr lang="ar-AE" sz="1200" dirty="0"/>
                </a:br>
                <a:r>
                  <a:rPr lang="ru-RU" sz="1200" dirty="0"/>
                  <a:t>Это очень дорого, потому что приходится оптимизировать каждый</a:t>
                </a:r>
                <a:r>
                  <a:rPr lang="en-US" sz="1200" dirty="0"/>
                  <a:t> </a:t>
                </a:r>
                <a:r>
                  <a:rPr lang="ru-RU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𝑞</m:t>
                        </m:r>
                      </m:e>
                      <m:sub>
                        <m:r>
                          <a:rPr lang="ar-AE" sz="1200" i="1"/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</a:t>
                </a:r>
                <a:r>
                  <a:rPr lang="ru-RU" sz="1200" dirty="0"/>
                  <a:t>отдельно.</a:t>
                </a:r>
              </a:p>
              <a:p>
                <a:br>
                  <a:rPr lang="ru-RU" sz="1200" dirty="0"/>
                </a:br>
                <a:endParaRPr lang="ru-RU" sz="1200" dirty="0"/>
              </a:p>
              <a:p>
                <a:r>
                  <a:rPr lang="ru-RU" sz="1200" b="1" dirty="0"/>
                  <a:t>Амортизированный вывод</a:t>
                </a:r>
              </a:p>
              <a:p>
                <a:r>
                  <a:rPr lang="ru-RU" sz="1200" dirty="0"/>
                  <a:t>Чтобы избежать этого,</a:t>
                </a:r>
                <a:r>
                  <a:rPr lang="en-US" sz="1200" dirty="0"/>
                  <a:t> </a:t>
                </a:r>
                <a:r>
                  <a:rPr lang="ru-RU" sz="1200" dirty="0"/>
                  <a:t>мы </a:t>
                </a:r>
                <a:r>
                  <a:rPr lang="ru-RU" sz="1200" dirty="0" err="1"/>
                  <a:t>параметризуем</a:t>
                </a:r>
                <a:r>
                  <a:rPr lang="ru-RU" sz="1200" dirty="0"/>
                  <a:t> все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𝑞</m:t>
                        </m:r>
                      </m:e>
                      <m:sub>
                        <m:r>
                          <a:rPr lang="ar-AE" sz="1200" i="1"/>
                          <m:t>𝑖</m:t>
                        </m:r>
                      </m:sub>
                    </m:sSub>
                    <m:d>
                      <m:dPr>
                        <m:ctrlPr>
                          <a:rPr lang="ar-AE" sz="1200" i="1"/>
                        </m:ctrlPr>
                      </m:dPr>
                      <m:e>
                        <m:r>
                          <a:rPr lang="ar-AE" sz="1200" i="1"/>
                          <m:t>𝑧</m:t>
                        </m:r>
                      </m:e>
                    </m:d>
                  </m:oMath>
                </a14:m>
                <a:r>
                  <a:rPr lang="en-US" sz="1200" b="1" dirty="0"/>
                  <a:t> </a:t>
                </a:r>
                <a:r>
                  <a:rPr lang="ru-RU" sz="1200" b="1" dirty="0"/>
                  <a:t>одной нейросетью</a:t>
                </a:r>
                <a:r>
                  <a:rPr lang="ru-RU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𝑞</m:t>
                        </m:r>
                      </m:e>
                      <m:sub>
                        <m:r>
                          <a:rPr lang="ar-AE" sz="1200" i="1"/>
                          <m:t>𝜙</m:t>
                        </m:r>
                      </m:sub>
                    </m:sSub>
                    <m:d>
                      <m:dPr>
                        <m:ctrlPr>
                          <a:rPr lang="ar-AE" sz="1200" i="1"/>
                        </m:ctrlPr>
                      </m:dPr>
                      <m:e>
                        <m:r>
                          <a:rPr lang="ar-AE" sz="1200" i="1"/>
                          <m:t>𝑧</m:t>
                        </m:r>
                        <m:r>
                          <a:rPr lang="ar-AE" sz="1200"/>
                          <m:t>∣</m:t>
                        </m:r>
                        <m:r>
                          <a:rPr lang="ar-AE" sz="1200" i="1"/>
                          <m:t>𝑥</m:t>
                        </m:r>
                      </m:e>
                    </m:d>
                  </m:oMath>
                </a14:m>
                <a:r>
                  <a:rPr lang="ar-AE" sz="1200" dirty="0"/>
                  <a:t>.</a:t>
                </a:r>
                <a:endParaRPr lang="en-US" sz="1200" dirty="0"/>
              </a:p>
              <a:p>
                <a:endParaRPr lang="ar-AE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200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  <m:sup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  <a:p>
                <a:r>
                  <a:rPr lang="en-US" sz="1200" dirty="0"/>
                  <a:t> -	Encoder (</a:t>
                </a:r>
                <a:r>
                  <a:rPr lang="ru-RU" sz="1200" dirty="0" err="1"/>
                  <a:t>инференс</a:t>
                </a:r>
                <a:r>
                  <a:rPr lang="ru-RU" sz="1200" dirty="0"/>
                  <a:t>-сеть) выдаёт параметры распределения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/>
                        </m:ctrlPr>
                      </m:sSubPr>
                      <m:e>
                        <m:r>
                          <a:rPr lang="ar-AE" sz="1200" i="1"/>
                          <m:t>𝑞</m:t>
                        </m:r>
                      </m:e>
                      <m:sub>
                        <m:r>
                          <a:rPr lang="ar-AE" sz="1200" i="1"/>
                          <m:t>𝜙</m:t>
                        </m:r>
                      </m:sub>
                    </m:sSub>
                    <m:d>
                      <m:dPr>
                        <m:ctrlPr>
                          <a:rPr lang="ar-AE" sz="1200" i="1"/>
                        </m:ctrlPr>
                      </m:dPr>
                      <m:e>
                        <m:r>
                          <a:rPr lang="ar-AE" sz="1200" i="1"/>
                          <m:t>𝑧</m:t>
                        </m:r>
                        <m:r>
                          <a:rPr lang="ar-AE" sz="1200"/>
                          <m:t>∣</m:t>
                        </m:r>
                        <m:r>
                          <a:rPr lang="ar-AE" sz="1200" i="1"/>
                          <m:t>𝑥</m:t>
                        </m:r>
                      </m:e>
                    </m:d>
                  </m:oMath>
                </a14:m>
                <a:r>
                  <a:rPr lang="ar-AE" sz="1200" dirty="0"/>
                  <a:t>.</a:t>
                </a:r>
                <a:br>
                  <a:rPr lang="ar-AE" sz="1200" dirty="0"/>
                </a:br>
                <a:r>
                  <a:rPr lang="en-US" sz="1200" dirty="0"/>
                  <a:t>-	</a:t>
                </a:r>
                <a:r>
                  <a:rPr lang="ru-RU" sz="1200" dirty="0"/>
                  <a:t>Тем самым “</a:t>
                </a:r>
                <a:r>
                  <a:rPr lang="en-US" sz="1200" dirty="0"/>
                  <a:t>E-step” </a:t>
                </a:r>
                <a:r>
                  <a:rPr lang="ru-RU" sz="1200" dirty="0"/>
                  <a:t>заменяется </a:t>
                </a:r>
                <a:r>
                  <a:rPr lang="ru-RU" sz="1200" b="1" dirty="0"/>
                  <a:t>одним проходом через сеть</a:t>
                </a:r>
                <a:r>
                  <a:rPr lang="ru-RU" sz="1200" dirty="0"/>
                  <a:t>.</a:t>
                </a:r>
                <a:br>
                  <a:rPr lang="ru-RU" sz="1200" dirty="0"/>
                </a:br>
                <a:r>
                  <a:rPr lang="en-US" sz="1200" dirty="0"/>
                  <a:t>-	</a:t>
                </a:r>
                <a:r>
                  <a:rPr lang="ru-RU" sz="1200" dirty="0"/>
                  <a:t>Это и называется </a:t>
                </a:r>
                <a:r>
                  <a:rPr lang="en-US" sz="1200" b="1" dirty="0"/>
                  <a:t>amortization</a:t>
                </a:r>
                <a:r>
                  <a:rPr lang="en-US" sz="1200" dirty="0"/>
                  <a:t> — </a:t>
                </a:r>
                <a:r>
                  <a:rPr lang="ru-RU" sz="1200" dirty="0"/>
                  <a:t>мы "амортизируем" стоимость </a:t>
                </a:r>
                <a:r>
                  <a:rPr lang="en-US" sz="1200" dirty="0"/>
                  <a:t>E-step </a:t>
                </a:r>
                <a:r>
                  <a:rPr lang="ru-RU" sz="1200" dirty="0"/>
                  <a:t>через общие параметры </a:t>
                </a:r>
                <a14:m>
                  <m:oMath xmlns:m="http://schemas.openxmlformats.org/officeDocument/2006/math">
                    <m:r>
                      <a:rPr lang="ru-RU" sz="1200" i="1"/>
                      <m:t>𝜙</m:t>
                    </m:r>
                  </m:oMath>
                </a14:m>
                <a:r>
                  <a:rPr lang="ru-RU" sz="1200" dirty="0"/>
                  <a:t>.</a:t>
                </a:r>
              </a:p>
              <a:p>
                <a:br>
                  <a:rPr lang="ru-RU" sz="1200" dirty="0"/>
                </a:br>
                <a:endParaRPr lang="ru-RU" sz="1200" dirty="0"/>
              </a:p>
              <a:p>
                <a:r>
                  <a:rPr lang="en-US" sz="1200" b="1" dirty="0"/>
                  <a:t>Variational Bayes Training</a:t>
                </a:r>
              </a:p>
              <a:p>
                <a:r>
                  <a:rPr lang="ru-RU" sz="1200" dirty="0"/>
                  <a:t>Теперь обучаем обе сети одновременно: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ar-AE" sz="1200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200"/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1200"/>
                                    </m:ctrlPr>
                                  </m:sSubPr>
                                  <m:e>
                                    <m:r>
                                      <a:rPr lang="ar-AE" sz="1200" i="1"/>
                                      <m:t>𝜙</m:t>
                                    </m:r>
                                  </m:e>
                                  <m:sub>
                                    <m:r>
                                      <a:rPr lang="ar-AE" sz="1200" i="1"/>
                                      <m:t>𝑘</m:t>
                                    </m:r>
                                  </m:sub>
                                </m:sSub>
                                <m:r>
                                  <a:rPr lang="ar-AE" sz="1200"/>
                                  <m:t>=</m:t>
                                </m:r>
                                <m:sSub>
                                  <m:sSubPr>
                                    <m:ctrlPr>
                                      <a:rPr lang="ar-AE" sz="1200" i="1"/>
                                    </m:ctrlPr>
                                  </m:sSubPr>
                                  <m:e>
                                    <m:r>
                                      <a:rPr lang="ar-AE" sz="1200" i="1"/>
                                      <m:t>𝜙</m:t>
                                    </m:r>
                                  </m:e>
                                  <m:sub>
                                    <m:r>
                                      <a:rPr lang="ar-AE" sz="1200" i="1"/>
                                      <m:t>𝑘</m:t>
                                    </m:r>
                                    <m:r>
                                      <a:rPr lang="ar-AE" sz="1200"/>
                                      <m:t>−</m:t>
                                    </m:r>
                                    <m:r>
                                      <a:rPr lang="ar-AE" sz="1200"/>
                                      <m:t>1</m:t>
                                    </m:r>
                                  </m:sub>
                                </m:sSub>
                                <m:r>
                                  <a:rPr lang="ar-AE" sz="1200"/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1200" i="1"/>
                                    </m:ctrlPr>
                                  </m:sSubPr>
                                  <m:e>
                                    <m:r>
                                      <a:rPr lang="ar-AE" sz="1200" i="1"/>
                                      <m:t>𝜂</m:t>
                                    </m:r>
                                  </m:e>
                                  <m:sub>
                                    <m:r>
                                      <a:rPr lang="ar-AE" sz="1200" i="1"/>
                                      <m:t>𝜙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sz="1200" i="1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ar-AE" sz="1200"/>
                                      <m:t>∇</m:t>
                                    </m:r>
                                  </m:e>
                                  <m:sub>
                                    <m:r>
                                      <a:rPr lang="ar-AE" sz="1200" i="1"/>
                                      <m:t>𝜙</m:t>
                                    </m:r>
                                  </m:sub>
                                </m:sSub>
                                <m:r>
                                  <a:rPr lang="ar-AE" sz="1200"/>
                                  <m:t>ℒ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sz="1200" i="1"/>
                                    </m:ctrlPr>
                                  </m:dPr>
                                  <m:e>
                                    <m:r>
                                      <a:rPr lang="ar-AE" sz="1200" i="1"/>
                                      <m:t>𝜙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ar-AE" sz="1200" i="1"/>
                                        </m:ctrlPr>
                                      </m:sSubPr>
                                      <m:e>
                                        <m:r>
                                          <a:rPr lang="ar-AE" sz="1200" i="1"/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ar-AE" sz="1200" i="1"/>
                                          <m:t>𝑘</m:t>
                                        </m:r>
                                        <m:r>
                                          <a:rPr lang="ar-AE" sz="1200"/>
                                          <m:t>−</m:t>
                                        </m:r>
                                        <m:r>
                                          <a:rPr lang="ar-AE" sz="1200"/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ar-AE" sz="1200" i="1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1"/>
                                  <m:t>E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1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1"/>
                                  <m:t>step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1"/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1200" i="1"/>
                                    </m:ctrlPr>
                                  </m:sSubPr>
                                  <m:e>
                                    <m:r>
                                      <a:rPr lang="ar-AE" sz="1200" i="1"/>
                                      <m:t>𝜃</m:t>
                                    </m:r>
                                  </m:e>
                                  <m:sub>
                                    <m:r>
                                      <a:rPr lang="ar-AE" sz="1200" i="1"/>
                                      <m:t>𝑘</m:t>
                                    </m:r>
                                  </m:sub>
                                </m:sSub>
                                <m:r>
                                  <a:rPr lang="ar-AE" sz="1200"/>
                                  <m:t>=</m:t>
                                </m:r>
                                <m:sSub>
                                  <m:sSubPr>
                                    <m:ctrlPr>
                                      <a:rPr lang="ar-AE" sz="1200" i="1"/>
                                    </m:ctrlPr>
                                  </m:sSubPr>
                                  <m:e>
                                    <m:r>
                                      <a:rPr lang="ar-AE" sz="1200" i="1"/>
                                      <m:t>𝜃</m:t>
                                    </m:r>
                                  </m:e>
                                  <m:sub>
                                    <m:r>
                                      <a:rPr lang="ar-AE" sz="1200" i="1"/>
                                      <m:t>𝑘</m:t>
                                    </m:r>
                                    <m:r>
                                      <a:rPr lang="ar-AE" sz="1200"/>
                                      <m:t>−</m:t>
                                    </m:r>
                                    <m:r>
                                      <a:rPr lang="ar-AE" sz="1200"/>
                                      <m:t>1</m:t>
                                    </m:r>
                                  </m:sub>
                                </m:sSub>
                                <m:r>
                                  <a:rPr lang="ar-AE" sz="1200"/>
                                  <m:t>+</m:t>
                                </m:r>
                                <m:sSub>
                                  <m:sSubPr>
                                    <m:ctrlPr>
                                      <a:rPr lang="ar-AE" sz="1200" i="1"/>
                                    </m:ctrlPr>
                                  </m:sSubPr>
                                  <m:e>
                                    <m:r>
                                      <a:rPr lang="ar-AE" sz="1200" i="1"/>
                                      <m:t>𝜂</m:t>
                                    </m:r>
                                  </m:e>
                                  <m:sub>
                                    <m:r>
                                      <a:rPr lang="ar-AE" sz="1200" i="1"/>
                                      <m:t>𝜃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ar-AE" sz="1200" i="1"/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ar-AE" sz="1200"/>
                                      <m:t>∇</m:t>
                                    </m:r>
                                  </m:e>
                                  <m:sub>
                                    <m:r>
                                      <a:rPr lang="ar-AE" sz="1200" i="1"/>
                                      <m:t>𝜃</m:t>
                                    </m:r>
                                  </m:sub>
                                </m:sSub>
                                <m:r>
                                  <a:rPr lang="ar-AE" sz="1200"/>
                                  <m:t>ℒ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sz="1200" i="1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sz="1200" i="1"/>
                                        </m:ctrlPr>
                                      </m:sSubPr>
                                      <m:e>
                                        <m:r>
                                          <a:rPr lang="ar-AE" sz="1200" i="1"/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ar-AE" sz="1200" i="1"/>
                                          <m:t>𝑘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ar-AE" sz="1200" i="1"/>
                                      <m:t>𝜃</m:t>
                                    </m:r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ar-AE" sz="1200" i="1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1"/>
                                  <m:t>M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1"/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1"/>
                                  <m:t>step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1"/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1200" b="0" dirty="0"/>
              </a:p>
              <a:p>
                <a:br>
                  <a:rPr lang="ar-AE" sz="1200" dirty="0"/>
                </a:br>
                <a:br>
                  <a:rPr lang="ru-RU" sz="1200" dirty="0"/>
                </a:br>
                <a:endParaRPr lang="ru-RU" sz="1200" dirty="0"/>
              </a:p>
              <a:p>
                <a:pPr>
                  <a:buNone/>
                </a:pPr>
                <a:endParaRPr lang="ru-RU" sz="1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9920E42-8731-5D25-668B-8ABDE0AF2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703892"/>
                <a:ext cx="7922415" cy="44419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6104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3C2FB-B71B-087C-17DF-E933AFDC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EBD4AEC-B918-AA0A-0090-D18927BB2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Построим </a:t>
            </a:r>
            <a:r>
              <a:rPr lang="en-US" dirty="0"/>
              <a:t>VAE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F07941-9F81-8638-84FD-700B306A87DC}"/>
              </a:ext>
            </a:extLst>
          </p:cNvPr>
          <p:cNvSpPr txBox="1"/>
          <p:nvPr/>
        </p:nvSpPr>
        <p:spPr>
          <a:xfrm>
            <a:off x="594733" y="1018478"/>
            <a:ext cx="1545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Loss function: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316C95-9841-D112-3982-DDC7123F417F}"/>
                  </a:ext>
                </a:extLst>
              </p:cNvPr>
              <p:cNvSpPr txBox="1"/>
              <p:nvPr/>
            </p:nvSpPr>
            <p:spPr>
              <a:xfrm>
                <a:off x="2104280" y="1910576"/>
                <a:ext cx="69430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n"/>
                </a:pPr>
                <a:r>
                  <a:rPr lang="en-US" sz="1200" dirty="0"/>
                  <a:t>P</a:t>
                </a:r>
                <a14:m>
                  <m:oMath xmlns:m="http://schemas.openxmlformats.org/officeDocument/2006/math">
                    <m:r>
                      <a:rPr lang="en-US" sz="12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sz="12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1200" b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200" b="1">
                        <a:latin typeface="Cambria Math" panose="02040503050406030204" pitchFamily="18" charset="0"/>
                      </a:rPr>
                      <m:t>𝐳</m:t>
                    </m:r>
                    <m:r>
                      <a:rPr lang="en-US" sz="1200" b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ar-AE" sz="12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ar-AE" sz="1200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sz="1200" dirty="0"/>
                  <a:t>-- </a:t>
                </a:r>
                <a:r>
                  <a:rPr lang="ru-RU" sz="1200" dirty="0"/>
                  <a:t>Нейросеть генератор, которая принимает на вход </a:t>
                </a:r>
                <a:r>
                  <a:rPr lang="en-US" sz="1200" dirty="0"/>
                  <a:t>z </a:t>
                </a:r>
                <a:r>
                  <a:rPr lang="ru-RU" sz="1200" dirty="0"/>
                  <a:t>и генерирует </a:t>
                </a:r>
                <a:r>
                  <a:rPr lang="en-US" sz="1200" dirty="0"/>
                  <a:t>x</a:t>
                </a:r>
                <a:endParaRPr lang="ru-RU" sz="1200" dirty="0"/>
              </a:p>
              <a:p>
                <a:pPr marL="285750" indent="-285750">
                  <a:buFont typeface="Wingdings" panose="05000000000000000000" pitchFamily="2" charset="2"/>
                  <a:buChar char="n"/>
                </a:pPr>
                <a:endParaRPr lang="ru-RU" sz="1200" dirty="0"/>
              </a:p>
              <a:p>
                <a:pPr marL="285750" indent="-285750">
                  <a:buFont typeface="Wingdings" panose="05000000000000000000" pitchFamily="2" charset="2"/>
                  <a:buChar char="n"/>
                </a:pPr>
                <a:r>
                  <a:rPr lang="ru-RU" sz="1200" dirty="0"/>
                  <a:t>Часто во время обучения заменяется на </a:t>
                </a:r>
                <a:r>
                  <a:rPr lang="en-US" sz="1200" dirty="0"/>
                  <a:t>MSE (</a:t>
                </a:r>
                <a:r>
                  <a:rPr lang="en-US" sz="1200" dirty="0" err="1"/>
                  <a:t>x_true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x_pred</a:t>
                </a:r>
                <a:r>
                  <a:rPr lang="en-US" sz="1200" dirty="0"/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8316C95-9841-D112-3982-DDC7123F4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280" y="1910576"/>
                <a:ext cx="6943075" cy="646331"/>
              </a:xfrm>
              <a:prstGeom prst="rect">
                <a:avLst/>
              </a:prstGeom>
              <a:blipFill>
                <a:blip r:embed="rId4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BC6509B-C9CA-3202-2250-8BB88F240D0D}"/>
                  </a:ext>
                </a:extLst>
              </p:cNvPr>
              <p:cNvSpPr txBox="1"/>
              <p:nvPr/>
            </p:nvSpPr>
            <p:spPr>
              <a:xfrm>
                <a:off x="2140199" y="2855653"/>
                <a:ext cx="6943075" cy="847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n"/>
                </a:pPr>
                <a:r>
                  <a:rPr lang="ru-RU" sz="1200" dirty="0"/>
                  <a:t>Чаще всего </a:t>
                </a:r>
                <a:r>
                  <a:rPr lang="en-US" sz="1200" dirty="0"/>
                  <a:t>p(z) = N(0;I)</a:t>
                </a:r>
                <a:endParaRPr lang="ru-RU" sz="1200" dirty="0"/>
              </a:p>
              <a:p>
                <a:pPr marL="285750" indent="-285750">
                  <a:buFont typeface="Wingdings" panose="05000000000000000000" pitchFamily="2" charset="2"/>
                  <a:buChar char="n"/>
                </a:pPr>
                <a:endParaRPr lang="ru-RU" sz="1200" dirty="0"/>
              </a:p>
              <a:p>
                <a:pPr marL="285750" indent="-285750">
                  <a:buFont typeface="Wingdings" panose="05000000000000000000" pitchFamily="2" charset="2"/>
                  <a:buChar char="n"/>
                </a:pPr>
                <a:r>
                  <a:rPr lang="ru-RU" sz="1200" dirty="0"/>
                  <a:t>И тогда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ar-AE" sz="12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sz="1200" dirty="0"/>
                  <a:t>– </a:t>
                </a:r>
                <a:r>
                  <a:rPr lang="ru-RU" sz="1200" dirty="0"/>
                  <a:t>другая нейросеть, которая представляется в следующем виде </a:t>
                </a:r>
                <a:endParaRPr lang="en-US" sz="1200" dirty="0"/>
              </a:p>
              <a:p>
                <a:pPr marL="285750" indent="-285750">
                  <a:buFont typeface="Wingdings" panose="05000000000000000000" pitchFamily="2" charset="2"/>
                  <a:buChar char="n"/>
                </a:pPr>
                <a:r>
                  <a:rPr lang="ru-RU" sz="1200" dirty="0"/>
                  <a:t>Тогда </a:t>
                </a:r>
                <a:r>
                  <a:rPr lang="en-US" sz="1200" dirty="0"/>
                  <a:t>KL </a:t>
                </a:r>
                <a:r>
                  <a:rPr lang="ru-RU" sz="1200" dirty="0"/>
                  <a:t>просто выражается просто по формуле между двумя нормальными распределениями</a:t>
                </a:r>
                <a:endParaRPr lang="en-US" sz="1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BC6509B-C9CA-3202-2250-8BB88F240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199" y="2855653"/>
                <a:ext cx="6943075" cy="847476"/>
              </a:xfrm>
              <a:prstGeom prst="rect">
                <a:avLst/>
              </a:prstGeom>
              <a:blipFill>
                <a:blip r:embed="rId5"/>
                <a:stretch>
                  <a:fillRect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AE494C9-9FC7-679B-7E44-09147E9882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589" t="26122" b="1"/>
          <a:stretch>
            <a:fillRect/>
          </a:stretch>
        </p:blipFill>
        <p:spPr>
          <a:xfrm>
            <a:off x="7994555" y="3248803"/>
            <a:ext cx="1052800" cy="19225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3CE5874-D26A-888F-25B5-8186B8858E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5285" y="3686650"/>
            <a:ext cx="2839600" cy="115977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A3A8E7B-7449-650A-5E00-BE7711D72A43}"/>
              </a:ext>
            </a:extLst>
          </p:cNvPr>
          <p:cNvSpPr txBox="1"/>
          <p:nvPr/>
        </p:nvSpPr>
        <p:spPr>
          <a:xfrm>
            <a:off x="427880" y="4073518"/>
            <a:ext cx="34747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Вопрос</a:t>
            </a:r>
            <a:r>
              <a:rPr lang="en-US" sz="1200" dirty="0"/>
              <a:t>:</a:t>
            </a:r>
          </a:p>
          <a:p>
            <a:r>
              <a:rPr lang="ru-RU" sz="1200" dirty="0"/>
              <a:t>Как нам тогда во время обучения получать </a:t>
            </a:r>
            <a:r>
              <a:rPr lang="en-US" sz="1200" dirty="0"/>
              <a:t>z – </a:t>
            </a:r>
            <a:r>
              <a:rPr lang="ru-RU" sz="1200" dirty="0"/>
              <a:t>его же нужно сэмплировать. </a:t>
            </a:r>
            <a:endParaRPr lang="en-US" sz="1200" dirty="0"/>
          </a:p>
          <a:p>
            <a:r>
              <a:rPr lang="ru-RU" sz="1200" dirty="0"/>
              <a:t>А если </a:t>
            </a:r>
            <a:r>
              <a:rPr lang="ru-RU" sz="1200" dirty="0" err="1"/>
              <a:t>просэмплировать</a:t>
            </a:r>
            <a:r>
              <a:rPr lang="ru-RU" sz="1200" dirty="0"/>
              <a:t>, то как считать градиенты?</a:t>
            </a:r>
            <a:endParaRPr lang="en-US" sz="1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714CC5-6542-02D1-5753-A680D19485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4280" y="897156"/>
            <a:ext cx="4429230" cy="5102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DAC0E6-7DBD-5A61-B645-FBF0012587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761215"/>
            <a:ext cx="1638912" cy="36933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269825-34EB-012A-4D29-7296DCC6F3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1831167"/>
            <a:ext cx="1443375" cy="402574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6C3E587-B417-CDEF-2242-1A025384E2DA}"/>
              </a:ext>
            </a:extLst>
          </p:cNvPr>
          <p:cNvSpPr/>
          <p:nvPr/>
        </p:nvSpPr>
        <p:spPr>
          <a:xfrm>
            <a:off x="287365" y="4073517"/>
            <a:ext cx="3615280" cy="101566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965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48DA-F677-9735-3707-EC268B94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DB29398-693E-ADF3-0375-1160DEA6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Reparameterization Trick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B2EBC1-0ADF-68EF-005E-C30C3B10F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960" y="1155119"/>
            <a:ext cx="4820080" cy="718286"/>
          </a:xfrm>
          <a:prstGeom prst="rect">
            <a:avLst/>
          </a:prstGeom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15788D4C-96A9-17EB-60AE-DEC604EE1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718" y="2044972"/>
            <a:ext cx="4030663" cy="257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6370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7F1C6-779D-98BB-175E-0EDC16CEB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E063AA23-7248-6A18-C268-F76679EF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VAE</a:t>
            </a:r>
            <a:r>
              <a:rPr lang="ru-RU" dirty="0"/>
              <a:t> </a:t>
            </a:r>
            <a:r>
              <a:rPr lang="en-US" dirty="0"/>
              <a:t>train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8260B55B-FA7F-9016-5988-29A30076E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2872" y="791215"/>
            <a:ext cx="4858254" cy="2250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BA7F527-EE51-2F98-ED07-409B6D54F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642" y="3455241"/>
            <a:ext cx="7399661" cy="131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4742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AADF6-BB06-56AF-3D8C-B6DF73B6C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72314-8134-183E-490F-A4692CE50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r>
              <a:rPr lang="ru-RU" sz="2800" dirty="0"/>
              <a:t>Плюсы и минусы </a:t>
            </a:r>
            <a:r>
              <a:rPr lang="en-US" sz="2800" dirty="0"/>
              <a:t>GANs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994B3181-3AD1-88E1-D247-42C94E3D5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462223"/>
                  </p:ext>
                </p:extLst>
              </p:nvPr>
            </p:nvGraphicFramePr>
            <p:xfrm>
              <a:off x="936539" y="1015535"/>
              <a:ext cx="7153912" cy="366248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44866">
                      <a:extLst>
                        <a:ext uri="{9D8B030D-6E8A-4147-A177-3AD203B41FA5}">
                          <a16:colId xmlns:a16="http://schemas.microsoft.com/office/drawing/2014/main" val="1353128835"/>
                        </a:ext>
                      </a:extLst>
                    </a:gridCol>
                    <a:gridCol w="2144866">
                      <a:extLst>
                        <a:ext uri="{9D8B030D-6E8A-4147-A177-3AD203B41FA5}">
                          <a16:colId xmlns:a16="http://schemas.microsoft.com/office/drawing/2014/main" val="1815659175"/>
                        </a:ext>
                      </a:extLst>
                    </a:gridCol>
                    <a:gridCol w="2864180">
                      <a:extLst>
                        <a:ext uri="{9D8B030D-6E8A-4147-A177-3AD203B41FA5}">
                          <a16:colId xmlns:a16="http://schemas.microsoft.com/office/drawing/2014/main" val="2928922976"/>
                        </a:ext>
                      </a:extLst>
                    </a:gridCol>
                  </a:tblGrid>
                  <a:tr h="281919"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Тип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>
                              <a:latin typeface="Golos Text"/>
                              <a:ea typeface="Roboto" panose="02000000000000000000" pitchFamily="2" charset="0"/>
                              <a:cs typeface="Roboto" panose="02000000000000000000" pitchFamily="2" charset="0"/>
                            </a:rPr>
                            <a:t>оценка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Генерация из </a:t>
                          </a:r>
                          <a14:m>
                            <m:oMath xmlns:m="http://schemas.openxmlformats.org/officeDocument/2006/math">
                              <m:r>
                                <a:rPr lang="ru-RU" sz="12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6348699"/>
                      </a:ext>
                    </a:extLst>
                  </a:tr>
                  <a:tr h="1079457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ARMs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Да</a:t>
                          </a:r>
                        </a:p>
                        <a:p>
                          <a:endParaRPr lang="ru-RU" sz="1200" dirty="0"/>
                        </a:p>
                        <a:p>
                          <a:r>
                            <a:rPr lang="ru-RU" sz="1200" dirty="0"/>
                            <a:t>Для </a:t>
                          </a:r>
                          <a:r>
                            <a:rPr lang="en-US" sz="1200" dirty="0" err="1"/>
                            <a:t>PixelCNN</a:t>
                          </a:r>
                          <a:r>
                            <a:rPr lang="en-US" sz="1200" dirty="0"/>
                            <a:t> – 1 inference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Да</a:t>
                          </a:r>
                        </a:p>
                        <a:p>
                          <a:endParaRPr lang="ru-RU" sz="1200" dirty="0"/>
                        </a:p>
                        <a:p>
                          <a:r>
                            <a:rPr lang="ru-RU" sz="1200" dirty="0"/>
                            <a:t>Для </a:t>
                          </a:r>
                          <a:r>
                            <a:rPr lang="en-US" sz="1200" dirty="0" err="1"/>
                            <a:t>PixelCNN</a:t>
                          </a:r>
                          <a:r>
                            <a:rPr lang="en-US" sz="1200" dirty="0"/>
                            <a:t> – h * w inference steps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6926357"/>
                      </a:ext>
                    </a:extLst>
                  </a:tr>
                  <a:tr h="1079457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GANs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Нет</a:t>
                          </a:r>
                        </a:p>
                        <a:p>
                          <a:endParaRPr lang="ru-RU" sz="1200" dirty="0"/>
                        </a:p>
                        <a:p>
                          <a:r>
                            <a:rPr lang="en-US" sz="1200" dirty="0"/>
                            <a:t>Likelihood-free </a:t>
                          </a:r>
                          <a:r>
                            <a:rPr lang="en-US" sz="1200" dirty="0" err="1"/>
                            <a:t>algrithm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Да</a:t>
                          </a:r>
                        </a:p>
                        <a:p>
                          <a:endParaRPr lang="ru-RU" sz="1200" dirty="0"/>
                        </a:p>
                        <a:p>
                          <a:r>
                            <a:rPr lang="ru-RU" sz="1200" dirty="0"/>
                            <a:t>Как правило генерируется сразу все изображение за один раз</a:t>
                          </a:r>
                        </a:p>
                        <a:p>
                          <a:r>
                            <a:rPr lang="ru-RU" sz="1200" dirty="0"/>
                            <a:t>-- 1 </a:t>
                          </a:r>
                          <a:r>
                            <a:rPr lang="en-US" sz="1200" dirty="0"/>
                            <a:t>inference step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5850530"/>
                      </a:ext>
                    </a:extLst>
                  </a:tr>
                  <a:tr h="1221649">
                    <a:tc>
                      <a:txBody>
                        <a:bodyPr/>
                        <a:lstStyle/>
                        <a:p>
                          <a:endParaRPr lang="ru-RU" sz="1200" dirty="0"/>
                        </a:p>
                        <a:p>
                          <a:endParaRPr lang="ru-RU" sz="1200" dirty="0"/>
                        </a:p>
                        <a:p>
                          <a:r>
                            <a:rPr lang="en-US" sz="1200" dirty="0"/>
                            <a:t>VAE</a:t>
                          </a:r>
                          <a:endParaRPr lang="ru-RU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200" dirty="0"/>
                            <a:t>Нет</a:t>
                          </a:r>
                        </a:p>
                        <a:p>
                          <a:endParaRPr lang="en-US" sz="1200" dirty="0"/>
                        </a:p>
                        <a:p>
                          <a:r>
                            <a:rPr lang="ru-RU" sz="1200" dirty="0"/>
                            <a:t>Вместо </a:t>
                          </a:r>
                          <a:r>
                            <a:rPr lang="en-US" sz="1200" dirty="0"/>
                            <a:t>Likelihood</a:t>
                          </a:r>
                          <a:r>
                            <a:rPr lang="ru-RU" sz="12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12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12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2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ar-AE" sz="1200">
                                      <a:latin typeface="Cambria Math" panose="02040503050406030204" pitchFamily="18" charset="0"/>
                                    </a:rPr>
                                    <m:t>∣</m:t>
                                  </m:r>
                                  <m:r>
                                    <a:rPr lang="ar-AE" sz="12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oMath>
                          </a14:m>
                          <a:r>
                            <a:rPr lang="ru-RU" sz="1200" dirty="0"/>
                            <a:t> аппроксимирует </a:t>
                          </a:r>
                          <a:r>
                            <a:rPr lang="en-US" sz="1200" dirty="0"/>
                            <a:t>ELBO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Да</a:t>
                          </a:r>
                        </a:p>
                        <a:p>
                          <a:endParaRPr lang="ru-RU" sz="1200" dirty="0"/>
                        </a:p>
                        <a:p>
                          <a:r>
                            <a:rPr lang="ru-RU" sz="1200" dirty="0"/>
                            <a:t>Как правило генерируется сразу все изображение за один раз</a:t>
                          </a:r>
                        </a:p>
                        <a:p>
                          <a:r>
                            <a:rPr lang="ru-RU" sz="1200" dirty="0"/>
                            <a:t>-- 1 </a:t>
                          </a:r>
                          <a:r>
                            <a:rPr lang="en-US" sz="1200" dirty="0"/>
                            <a:t>inference step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19208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994B3181-3AD1-88E1-D247-42C94E3D5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462223"/>
                  </p:ext>
                </p:extLst>
              </p:nvPr>
            </p:nvGraphicFramePr>
            <p:xfrm>
              <a:off x="936539" y="1015535"/>
              <a:ext cx="7153912" cy="366248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44866">
                      <a:extLst>
                        <a:ext uri="{9D8B030D-6E8A-4147-A177-3AD203B41FA5}">
                          <a16:colId xmlns:a16="http://schemas.microsoft.com/office/drawing/2014/main" val="1353128835"/>
                        </a:ext>
                      </a:extLst>
                    </a:gridCol>
                    <a:gridCol w="2144866">
                      <a:extLst>
                        <a:ext uri="{9D8B030D-6E8A-4147-A177-3AD203B41FA5}">
                          <a16:colId xmlns:a16="http://schemas.microsoft.com/office/drawing/2014/main" val="1815659175"/>
                        </a:ext>
                      </a:extLst>
                    </a:gridCol>
                    <a:gridCol w="2864180">
                      <a:extLst>
                        <a:ext uri="{9D8B030D-6E8A-4147-A177-3AD203B41FA5}">
                          <a16:colId xmlns:a16="http://schemas.microsoft.com/office/drawing/2014/main" val="2928922976"/>
                        </a:ext>
                      </a:extLst>
                    </a:gridCol>
                  </a:tblGrid>
                  <a:tr h="281919"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Тип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2174" r="-134278" b="-12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50213" t="-2174" r="-851" b="-1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6348699"/>
                      </a:ext>
                    </a:extLst>
                  </a:tr>
                  <a:tr h="1079457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ARMs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Да</a:t>
                          </a:r>
                        </a:p>
                        <a:p>
                          <a:endParaRPr lang="ru-RU" sz="1200" dirty="0"/>
                        </a:p>
                        <a:p>
                          <a:r>
                            <a:rPr lang="ru-RU" sz="1200" dirty="0"/>
                            <a:t>Для </a:t>
                          </a:r>
                          <a:r>
                            <a:rPr lang="en-US" sz="1200" dirty="0" err="1"/>
                            <a:t>PixelCNN</a:t>
                          </a:r>
                          <a:r>
                            <a:rPr lang="en-US" sz="1200" dirty="0"/>
                            <a:t> – 1 inference step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Да</a:t>
                          </a:r>
                        </a:p>
                        <a:p>
                          <a:endParaRPr lang="ru-RU" sz="1200" dirty="0"/>
                        </a:p>
                        <a:p>
                          <a:r>
                            <a:rPr lang="ru-RU" sz="1200" dirty="0"/>
                            <a:t>Для </a:t>
                          </a:r>
                          <a:r>
                            <a:rPr lang="en-US" sz="1200" dirty="0" err="1"/>
                            <a:t>PixelCNN</a:t>
                          </a:r>
                          <a:r>
                            <a:rPr lang="en-US" sz="1200" dirty="0"/>
                            <a:t> – h * w inference steps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6926357"/>
                      </a:ext>
                    </a:extLst>
                  </a:tr>
                  <a:tr h="1079457"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GANs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Нет</a:t>
                          </a:r>
                        </a:p>
                        <a:p>
                          <a:endParaRPr lang="ru-RU" sz="1200" dirty="0"/>
                        </a:p>
                        <a:p>
                          <a:r>
                            <a:rPr lang="en-US" sz="1200" dirty="0"/>
                            <a:t>Likelihood-free </a:t>
                          </a:r>
                          <a:r>
                            <a:rPr lang="en-US" sz="1200" dirty="0" err="1"/>
                            <a:t>algrithm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Да</a:t>
                          </a:r>
                        </a:p>
                        <a:p>
                          <a:endParaRPr lang="ru-RU" sz="1200" dirty="0"/>
                        </a:p>
                        <a:p>
                          <a:r>
                            <a:rPr lang="ru-RU" sz="1200" dirty="0"/>
                            <a:t>Как правило генерируется сразу все изображение за один раз</a:t>
                          </a:r>
                        </a:p>
                        <a:p>
                          <a:r>
                            <a:rPr lang="ru-RU" sz="1200" dirty="0"/>
                            <a:t>-- 1 </a:t>
                          </a:r>
                          <a:r>
                            <a:rPr lang="en-US" sz="1200" dirty="0"/>
                            <a:t>inference step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5850530"/>
                      </a:ext>
                    </a:extLst>
                  </a:tr>
                  <a:tr h="1221649">
                    <a:tc>
                      <a:txBody>
                        <a:bodyPr/>
                        <a:lstStyle/>
                        <a:p>
                          <a:endParaRPr lang="ru-RU" sz="1200" dirty="0"/>
                        </a:p>
                        <a:p>
                          <a:endParaRPr lang="ru-RU" sz="1200" dirty="0"/>
                        </a:p>
                        <a:p>
                          <a:r>
                            <a:rPr lang="en-US" sz="1200" dirty="0"/>
                            <a:t>VAE</a:t>
                          </a:r>
                          <a:endParaRPr lang="ru-RU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200000" r="-134278" b="-9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200" dirty="0"/>
                            <a:t>Да</a:t>
                          </a:r>
                        </a:p>
                        <a:p>
                          <a:endParaRPr lang="ru-RU" sz="1200" dirty="0"/>
                        </a:p>
                        <a:p>
                          <a:r>
                            <a:rPr lang="ru-RU" sz="1200" dirty="0"/>
                            <a:t>Как правило генерируется сразу все изображение за один раз</a:t>
                          </a:r>
                        </a:p>
                        <a:p>
                          <a:r>
                            <a:rPr lang="ru-RU" sz="1200" dirty="0"/>
                            <a:t>-- 1 </a:t>
                          </a:r>
                          <a:r>
                            <a:rPr lang="en-US" sz="1200" dirty="0"/>
                            <a:t>inference step</a:t>
                          </a:r>
                        </a:p>
                        <a:p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19208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73052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B59BA-B447-5F44-37E1-30B96B21F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978223-9EFC-450A-3CEB-DF03665CF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000" dirty="0"/>
              <a:t>Зоопарк генеративных моделей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5B4953A-0CB0-A0B3-4A20-60EF6D8F5382}"/>
              </a:ext>
            </a:extLst>
          </p:cNvPr>
          <p:cNvSpPr/>
          <p:nvPr/>
        </p:nvSpPr>
        <p:spPr>
          <a:xfrm>
            <a:off x="3248025" y="971550"/>
            <a:ext cx="2647950" cy="10033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Generative</a:t>
            </a:r>
          </a:p>
          <a:p>
            <a:pPr algn="ctr"/>
            <a:r>
              <a:rPr lang="en-US" dirty="0"/>
              <a:t>models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ACA5F4A-04B3-AD21-7F6B-32D3839AFE85}"/>
              </a:ext>
            </a:extLst>
          </p:cNvPr>
          <p:cNvSpPr/>
          <p:nvPr/>
        </p:nvSpPr>
        <p:spPr>
          <a:xfrm>
            <a:off x="1993901" y="2442881"/>
            <a:ext cx="2324100" cy="624169"/>
          </a:xfrm>
          <a:prstGeom prst="rect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Likelihood</a:t>
            </a:r>
          </a:p>
          <a:p>
            <a:pPr algn="ctr"/>
            <a:r>
              <a:rPr lang="en-US" dirty="0"/>
              <a:t>based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0525EE2-5CB2-7FD3-7DAB-8ECCE6F328A8}"/>
              </a:ext>
            </a:extLst>
          </p:cNvPr>
          <p:cNvSpPr/>
          <p:nvPr/>
        </p:nvSpPr>
        <p:spPr>
          <a:xfrm>
            <a:off x="5988050" y="2442880"/>
            <a:ext cx="2324100" cy="624169"/>
          </a:xfrm>
          <a:prstGeom prst="rect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Implicit</a:t>
            </a:r>
          </a:p>
          <a:p>
            <a:pPr algn="ctr"/>
            <a:r>
              <a:rPr lang="en-US" dirty="0"/>
              <a:t>density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632620C5-F8F1-0157-C44B-45519B3333AE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3155951" y="1974850"/>
            <a:ext cx="1416049" cy="4680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7F4D33DC-E060-4FA7-5EE3-D76A0A6AF6DD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572000" y="1974850"/>
            <a:ext cx="2578100" cy="468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2732D9F-4B7A-7BEA-7E99-C5A52B945318}"/>
              </a:ext>
            </a:extLst>
          </p:cNvPr>
          <p:cNvSpPr/>
          <p:nvPr/>
        </p:nvSpPr>
        <p:spPr>
          <a:xfrm>
            <a:off x="336551" y="3369046"/>
            <a:ext cx="2324100" cy="624169"/>
          </a:xfrm>
          <a:prstGeom prst="rect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Tractable</a:t>
            </a:r>
          </a:p>
          <a:p>
            <a:pPr algn="ctr"/>
            <a:r>
              <a:rPr lang="en-US" dirty="0"/>
              <a:t>density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D77C504-B46C-5377-5E20-6CB12B905D3E}"/>
              </a:ext>
            </a:extLst>
          </p:cNvPr>
          <p:cNvSpPr/>
          <p:nvPr/>
        </p:nvSpPr>
        <p:spPr>
          <a:xfrm>
            <a:off x="3409950" y="3369046"/>
            <a:ext cx="2324100" cy="624169"/>
          </a:xfrm>
          <a:prstGeom prst="rect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Apprixomate</a:t>
            </a:r>
            <a:endParaRPr lang="en-US" dirty="0"/>
          </a:p>
          <a:p>
            <a:pPr algn="ctr"/>
            <a:r>
              <a:rPr lang="en-US" dirty="0"/>
              <a:t>density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F65D8668-ADF5-43FD-1BFD-02AD89996F3B}"/>
              </a:ext>
            </a:extLst>
          </p:cNvPr>
          <p:cNvCxnSpPr>
            <a:stCxn id="5" idx="2"/>
            <a:endCxn id="16" idx="0"/>
          </p:cNvCxnSpPr>
          <p:nvPr/>
        </p:nvCxnSpPr>
        <p:spPr>
          <a:xfrm flipH="1">
            <a:off x="1498601" y="3067050"/>
            <a:ext cx="1657350" cy="301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5DBD367C-4342-9E68-8EFA-4DAA57D276F3}"/>
              </a:ext>
            </a:extLst>
          </p:cNvPr>
          <p:cNvCxnSpPr>
            <a:stCxn id="5" idx="2"/>
            <a:endCxn id="17" idx="0"/>
          </p:cNvCxnSpPr>
          <p:nvPr/>
        </p:nvCxnSpPr>
        <p:spPr>
          <a:xfrm>
            <a:off x="3155951" y="3067050"/>
            <a:ext cx="1416049" cy="301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E759B7C-3544-C4F2-2D5E-605D6FCB9C8D}"/>
              </a:ext>
            </a:extLst>
          </p:cNvPr>
          <p:cNvSpPr txBox="1"/>
          <p:nvPr/>
        </p:nvSpPr>
        <p:spPr>
          <a:xfrm>
            <a:off x="3409950" y="4052042"/>
            <a:ext cx="2324100" cy="10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60B4173-C3A3-FB35-3994-7613E41BF13D}"/>
              </a:ext>
            </a:extLst>
          </p:cNvPr>
          <p:cNvSpPr/>
          <p:nvPr/>
        </p:nvSpPr>
        <p:spPr>
          <a:xfrm>
            <a:off x="336551" y="3993215"/>
            <a:ext cx="2324100" cy="9576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00"/>
                </a:highlight>
              </a:rPr>
              <a:t>Autoregression models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7AA3F7D-4AC1-79C2-C301-720F1F715A84}"/>
              </a:ext>
            </a:extLst>
          </p:cNvPr>
          <p:cNvSpPr/>
          <p:nvPr/>
        </p:nvSpPr>
        <p:spPr>
          <a:xfrm>
            <a:off x="3409950" y="3993215"/>
            <a:ext cx="2324100" cy="9576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00"/>
                </a:highlight>
              </a:rPr>
              <a:t>VAE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Diffusion models</a:t>
            </a:r>
          </a:p>
          <a:p>
            <a:pPr algn="ctr"/>
            <a:endParaRPr lang="en-US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2CF6E3A-C4D8-D2D3-4AD8-94AA8EA9F9B8}"/>
              </a:ext>
            </a:extLst>
          </p:cNvPr>
          <p:cNvSpPr/>
          <p:nvPr/>
        </p:nvSpPr>
        <p:spPr>
          <a:xfrm>
            <a:off x="5988049" y="3087748"/>
            <a:ext cx="2324100" cy="9576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00"/>
                </a:highlight>
              </a:rPr>
              <a:t>GANs</a:t>
            </a:r>
          </a:p>
        </p:txBody>
      </p:sp>
    </p:spTree>
    <p:extLst>
      <p:ext uri="{BB962C8B-B14F-4D97-AF65-F5344CB8AC3E}">
        <p14:creationId xmlns:p14="http://schemas.microsoft.com/office/powerpoint/2010/main" val="8415040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10165</TotalTime>
  <Words>3103</Words>
  <Application>Microsoft Office PowerPoint</Application>
  <PresentationFormat>Экран (16:9)</PresentationFormat>
  <Paragraphs>577</Paragraphs>
  <Slides>48</Slides>
  <Notes>38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9" baseType="lpstr">
      <vt:lpstr>ALS Gorizont Bold Expanded</vt:lpstr>
      <vt:lpstr>Arial</vt:lpstr>
      <vt:lpstr>Arial (Основной текст)</vt:lpstr>
      <vt:lpstr>Calibri</vt:lpstr>
      <vt:lpstr>Calibri (Основной текст)</vt:lpstr>
      <vt:lpstr>Cambria Math</vt:lpstr>
      <vt:lpstr>Golos Text</vt:lpstr>
      <vt:lpstr>Golos Text DemiBold</vt:lpstr>
      <vt:lpstr>Roboto</vt:lpstr>
      <vt:lpstr>Wingdings</vt:lpstr>
      <vt:lpstr>Тема1</vt:lpstr>
      <vt:lpstr>Gen CV: Basic Современные архитектуры нейронных сетей</vt:lpstr>
      <vt:lpstr>Применение Gen CV</vt:lpstr>
      <vt:lpstr>Что такое распределение?</vt:lpstr>
      <vt:lpstr>Примеры распределений</vt:lpstr>
      <vt:lpstr>Важные формулы 1</vt:lpstr>
      <vt:lpstr>Важные формулы 2</vt:lpstr>
      <vt:lpstr>Постановка задачи генеративного моделирования</vt:lpstr>
      <vt:lpstr>Постановка задачи генеративного моделирования</vt:lpstr>
      <vt:lpstr>Forward KL vs Reverse KL</vt:lpstr>
      <vt:lpstr>Forward KL vs Reverse KL</vt:lpstr>
      <vt:lpstr>Зоопарк генеративных моделей</vt:lpstr>
      <vt:lpstr>Autoregression models (ARMs)</vt:lpstr>
      <vt:lpstr>PixelCNN</vt:lpstr>
      <vt:lpstr>PixelCNN</vt:lpstr>
      <vt:lpstr>ARMs 2025</vt:lpstr>
      <vt:lpstr>Плюсы и минусы ARMs</vt:lpstr>
      <vt:lpstr>Generative adversarial networks (GANs)</vt:lpstr>
      <vt:lpstr>Likelihood-based models: quality vs likelihood</vt:lpstr>
      <vt:lpstr>Likelihood-based models: quality vs likelihood</vt:lpstr>
      <vt:lpstr>GAN </vt:lpstr>
      <vt:lpstr>GAN </vt:lpstr>
      <vt:lpstr>GAN train</vt:lpstr>
      <vt:lpstr>GANs problems </vt:lpstr>
      <vt:lpstr>GANs problems </vt:lpstr>
      <vt:lpstr>GANs problems </vt:lpstr>
      <vt:lpstr>Wasserstein distance (дискретный случай)</vt:lpstr>
      <vt:lpstr>Wasserstein distance (continuous case)</vt:lpstr>
      <vt:lpstr>Wasserstein distance VS KL</vt:lpstr>
      <vt:lpstr>WGAN: использование Wasserstein distance как loss-функции</vt:lpstr>
      <vt:lpstr>WGAN: использование Wasserstein distance как loss-функции</vt:lpstr>
      <vt:lpstr>WGAN train</vt:lpstr>
      <vt:lpstr>Плюсы и минусы GANs</vt:lpstr>
      <vt:lpstr>VAE: Variational Autoencoder</vt:lpstr>
      <vt:lpstr>Bayesian Framework</vt:lpstr>
      <vt:lpstr>Bayesian Framework (Model Parameters Case)</vt:lpstr>
      <vt:lpstr>Latent Variable Models (LVM)</vt:lpstr>
      <vt:lpstr>Latent Variable Models (LVM)</vt:lpstr>
      <vt:lpstr>Variational Lower Bound (ELBO)</vt:lpstr>
      <vt:lpstr>Variational Lower Bound (ELBO)</vt:lpstr>
      <vt:lpstr>Связь между Likelihood и ELBO </vt:lpstr>
      <vt:lpstr>Expectation–Maximization (EM) Algorithm</vt:lpstr>
      <vt:lpstr>От EM к VAE</vt:lpstr>
      <vt:lpstr>Построим VAE</vt:lpstr>
      <vt:lpstr>Reparameterization Trick</vt:lpstr>
      <vt:lpstr>VAE train</vt:lpstr>
      <vt:lpstr>Плюсы и минусы GANs</vt:lpstr>
      <vt:lpstr>Зоопарк генеративных моделей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Александр Савельев</cp:lastModifiedBy>
  <cp:revision>111</cp:revision>
  <dcterms:created xsi:type="dcterms:W3CDTF">2014-06-27T12:30:22Z</dcterms:created>
  <dcterms:modified xsi:type="dcterms:W3CDTF">2025-10-20T13:45:03Z</dcterms:modified>
</cp:coreProperties>
</file>