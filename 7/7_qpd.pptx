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56"/>
  </p:notesMasterIdLst>
  <p:handoutMasterIdLst>
    <p:handoutMasterId r:id="rId57"/>
  </p:handoutMasterIdLst>
  <p:sldIdLst>
    <p:sldId id="265" r:id="rId2"/>
    <p:sldId id="534" r:id="rId3"/>
    <p:sldId id="535" r:id="rId4"/>
    <p:sldId id="422" r:id="rId5"/>
    <p:sldId id="393" r:id="rId6"/>
    <p:sldId id="504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47" r:id="rId19"/>
    <p:sldId id="548" r:id="rId20"/>
    <p:sldId id="549" r:id="rId21"/>
    <p:sldId id="550" r:id="rId22"/>
    <p:sldId id="551" r:id="rId23"/>
    <p:sldId id="552" r:id="rId24"/>
    <p:sldId id="553" r:id="rId25"/>
    <p:sldId id="554" r:id="rId26"/>
    <p:sldId id="555" r:id="rId27"/>
    <p:sldId id="556" r:id="rId28"/>
    <p:sldId id="558" r:id="rId29"/>
    <p:sldId id="557" r:id="rId30"/>
    <p:sldId id="559" r:id="rId31"/>
    <p:sldId id="560" r:id="rId32"/>
    <p:sldId id="561" r:id="rId33"/>
    <p:sldId id="562" r:id="rId34"/>
    <p:sldId id="563" r:id="rId35"/>
    <p:sldId id="564" r:id="rId36"/>
    <p:sldId id="565" r:id="rId37"/>
    <p:sldId id="566" r:id="rId38"/>
    <p:sldId id="567" r:id="rId39"/>
    <p:sldId id="568" r:id="rId40"/>
    <p:sldId id="570" r:id="rId41"/>
    <p:sldId id="569" r:id="rId42"/>
    <p:sldId id="571" r:id="rId43"/>
    <p:sldId id="572" r:id="rId44"/>
    <p:sldId id="573" r:id="rId45"/>
    <p:sldId id="574" r:id="rId46"/>
    <p:sldId id="575" r:id="rId47"/>
    <p:sldId id="576" r:id="rId48"/>
    <p:sldId id="577" r:id="rId49"/>
    <p:sldId id="578" r:id="rId50"/>
    <p:sldId id="580" r:id="rId51"/>
    <p:sldId id="579" r:id="rId52"/>
    <p:sldId id="581" r:id="rId53"/>
    <p:sldId id="582" r:id="rId54"/>
    <p:sldId id="263" r:id="rId5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94672" autoAdjust="0"/>
  </p:normalViewPr>
  <p:slideViewPr>
    <p:cSldViewPr snapToGrid="0" snapToObjects="1" showGuides="1">
      <p:cViewPr>
        <p:scale>
          <a:sx n="66" d="100"/>
          <a:sy n="66" d="100"/>
        </p:scale>
        <p:origin x="1872" y="672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95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4B20D-9013-4A2B-137D-AC3CBFBF7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82119C5-219F-D90D-A435-252B09C82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18AAA25-55CC-C7C7-510E-A362CEB79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8D473C-1E5C-0AC9-1213-DDDDF238C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24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248F3-E84D-3490-7D3B-55B43ACB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B3E4DA-7FB2-625A-6C51-AE5C31C25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9C4AD4A-E411-2D31-D415-7CFE3DCB8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0496C0-CC6E-5B80-1F89-773090401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13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63105-0733-FD11-517C-57EDEDB39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9F581AB-4F19-5759-AE61-F79395D75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FD01D80-E3DE-AC84-8DB8-339C51BFE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F4CB37-D318-AEB0-0304-0D0085BE6B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82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A520A-5ECA-4AC4-71ED-D69777F99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68B0F51-6F41-C1DB-1011-487F8A72E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D62E76A-0676-8379-E9EA-BD9E72E69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545C39-8AAD-AFF6-8F5A-023DAE1DA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69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AA8D0-263B-A6B3-2A3B-B9F9EBB56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CA5040E-76E6-4BEC-FD57-3B09AD834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9E25BE-DC2B-3277-2121-C8CDEE63E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B13D79-9E42-0FAF-3D7C-B5F8E439A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153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00B9A-C22D-C46D-B4D3-5970A20CC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056478D-7C02-3ADE-0F68-3CA92AC4E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9478C2A-0B34-AA88-6027-8AB029C6C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AECDD7-82C8-B57E-3223-DC894D585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8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8971" y="2442524"/>
            <a:ext cx="8986057" cy="824377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 Efficient Deep Learning — Quantization, Pruning &amp; Distillation</a:t>
            </a:r>
            <a:br>
              <a:rPr lang="ru-RU" sz="4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Современные архитектуры нейронных сетей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5A477-5BAC-6829-F80B-4A8D91647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44F685-BEF5-15E4-BA10-3BE05E1DA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800" dirty="0"/>
              <a:t>Нейросети раньше</a:t>
            </a:r>
            <a:endParaRPr lang="ru-RU" sz="3000" dirty="0"/>
          </a:p>
        </p:txBody>
      </p:sp>
      <p:pic>
        <p:nvPicPr>
          <p:cNvPr id="3" name="Picture 2" descr="Activation functions of ANN">
            <a:extLst>
              <a:ext uri="{FF2B5EF4-FFF2-40B4-BE49-F238E27FC236}">
                <a16:creationId xmlns:a16="http://schemas.microsoft.com/office/drawing/2014/main" id="{04531093-2E32-FA54-A2A3-D3BB22AA8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951" y="1607276"/>
            <a:ext cx="3687569" cy="192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1800E0-E4C9-5710-1FDC-15285BF71D6D}"/>
              </a:ext>
            </a:extLst>
          </p:cNvPr>
          <p:cNvSpPr txBox="1"/>
          <p:nvPr/>
        </p:nvSpPr>
        <p:spPr>
          <a:xfrm>
            <a:off x="457200" y="1216674"/>
            <a:ext cx="50044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 Архитектура обычно представляла собой несколько последовательно идущих линейных (</a:t>
            </a:r>
            <a:r>
              <a:rPr lang="ru-RU" b="0" i="0" dirty="0" err="1">
                <a:effectLst/>
                <a:latin typeface="fkGroteskNeue"/>
              </a:rPr>
              <a:t>полносвязных</a:t>
            </a:r>
            <a:r>
              <a:rPr lang="ru-RU" b="0" i="0" dirty="0">
                <a:effectLst/>
                <a:latin typeface="fkGroteskNeue"/>
              </a:rPr>
              <a:t>) слоёв.​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 Глубина и ширина таких сетей были относительно небольшими, поэтому общее число параметров оставалось умеренным.​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 Типичный размер весов нейронной сети редко превышал десятки мегабайт и часто укладывался примерно в 100 МБ и меньше.​</a:t>
            </a:r>
          </a:p>
        </p:txBody>
      </p:sp>
    </p:spTree>
    <p:extLst>
      <p:ext uri="{BB962C8B-B14F-4D97-AF65-F5344CB8AC3E}">
        <p14:creationId xmlns:p14="http://schemas.microsoft.com/office/powerpoint/2010/main" val="113858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4B0D0-3BC3-9698-C4C4-CE4684978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A8DD7D-973A-420A-8AD1-6F796179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800" dirty="0"/>
              <a:t>Нейросети сейчас</a:t>
            </a:r>
            <a:endParaRPr lang="ru-RU" sz="3000" dirty="0"/>
          </a:p>
        </p:txBody>
      </p:sp>
      <p:pic>
        <p:nvPicPr>
          <p:cNvPr id="2050" name="Picture 2" descr="Transformer — новая архитектура нейросетей для работы с ...">
            <a:extLst>
              <a:ext uri="{FF2B5EF4-FFF2-40B4-BE49-F238E27FC236}">
                <a16:creationId xmlns:a16="http://schemas.microsoft.com/office/drawing/2014/main" id="{E2E098E9-A216-F932-5D60-8AA82322C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959" y="833719"/>
            <a:ext cx="2346841" cy="361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93C518-6163-A7AE-CE7E-FA5E8684928A}"/>
              </a:ext>
            </a:extLst>
          </p:cNvPr>
          <p:cNvSpPr txBox="1"/>
          <p:nvPr/>
        </p:nvSpPr>
        <p:spPr>
          <a:xfrm>
            <a:off x="457200" y="1241657"/>
            <a:ext cx="50042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 Современные модели состоят из десятков и даже сотен слоёв, чаще всего это блоки трансформера с вниманием, нормализациями и крупными </a:t>
            </a:r>
            <a:r>
              <a:rPr lang="ru-RU" b="0" i="0" dirty="0" err="1">
                <a:effectLst/>
                <a:latin typeface="fkGroteskNeue"/>
              </a:rPr>
              <a:t>feed‑forward</a:t>
            </a:r>
            <a:r>
              <a:rPr lang="ru-RU" b="0" i="0" dirty="0">
                <a:effectLst/>
                <a:latin typeface="fkGroteskNeue"/>
              </a:rPr>
              <a:t> подблоками.</a:t>
            </a:r>
          </a:p>
          <a:p>
            <a:pPr algn="l"/>
            <a:endParaRPr lang="ru-RU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 Глубина и ширина архитектуры делают модели крайне ресурсоёмкими: только хранение весов требует десятков и даже сотен гигабайт памяти.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 Общий размер весов у крупнейших современных моделей легко превышает 100 ГБ в полном формате (FP16/FP32)</a:t>
            </a:r>
          </a:p>
        </p:txBody>
      </p:sp>
    </p:spTree>
    <p:extLst>
      <p:ext uri="{BB962C8B-B14F-4D97-AF65-F5344CB8AC3E}">
        <p14:creationId xmlns:p14="http://schemas.microsoft.com/office/powerpoint/2010/main" val="1199115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8BE3E-2DE7-FD93-EE49-21C156D6E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28CFFB-A842-3A7D-29E1-DFBCE2766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Как можно уменьшить размер сети?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2CEF1F-E828-3ED8-4E2F-293931EFAD2E}"/>
              </a:ext>
            </a:extLst>
          </p:cNvPr>
          <p:cNvSpPr txBox="1"/>
          <p:nvPr/>
        </p:nvSpPr>
        <p:spPr>
          <a:xfrm>
            <a:off x="457200" y="1091337"/>
            <a:ext cx="81630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1) Quantization </a:t>
            </a:r>
            <a:endParaRPr lang="ru-RU" dirty="0"/>
          </a:p>
          <a:p>
            <a:r>
              <a:rPr lang="en-US" dirty="0"/>
              <a:t>2) Pruning  </a:t>
            </a:r>
            <a:endParaRPr lang="ru-RU" dirty="0"/>
          </a:p>
          <a:p>
            <a:r>
              <a:rPr lang="en-US" dirty="0"/>
              <a:t>3) Distillation</a:t>
            </a:r>
          </a:p>
          <a:p>
            <a:endParaRPr lang="en-US" dirty="0"/>
          </a:p>
          <a:p>
            <a:r>
              <a:rPr lang="en-US" dirty="0"/>
              <a:t>Additional topics:</a:t>
            </a:r>
          </a:p>
          <a:p>
            <a:r>
              <a:rPr lang="en-US" dirty="0"/>
              <a:t>1) Mixed precision train</a:t>
            </a:r>
          </a:p>
        </p:txBody>
      </p:sp>
    </p:spTree>
    <p:extLst>
      <p:ext uri="{BB962C8B-B14F-4D97-AF65-F5344CB8AC3E}">
        <p14:creationId xmlns:p14="http://schemas.microsoft.com/office/powerpoint/2010/main" val="908234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0699D-32BF-28F7-677B-B620D7047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75443E-CF34-0568-2777-4EC79075A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809" y="2308108"/>
            <a:ext cx="6824382" cy="527284"/>
          </a:xfrm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000" dirty="0"/>
              <a:t>Quantization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723748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DFAC2-7A0D-5A6C-3F10-E82108A64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6D4AB-978D-84F6-ECFF-EB4C779F4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000" dirty="0"/>
              <a:t>Вопросы для аудитории: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C2FB90-F282-54FE-24D8-51C1C32A3193}"/>
              </a:ext>
            </a:extLst>
          </p:cNvPr>
          <p:cNvSpPr txBox="1"/>
          <p:nvPr/>
        </p:nvSpPr>
        <p:spPr>
          <a:xfrm>
            <a:off x="457200" y="941708"/>
            <a:ext cx="81630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1) </a:t>
            </a:r>
            <a:r>
              <a:rPr lang="ru-RU" dirty="0"/>
              <a:t>На каких девайсах обучаются современные нейросети?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2) </a:t>
            </a:r>
            <a:r>
              <a:rPr lang="ru-RU" dirty="0"/>
              <a:t>Где хранятся веса модели во время обучения и </a:t>
            </a:r>
            <a:r>
              <a:rPr lang="ru-RU" dirty="0" err="1"/>
              <a:t>инференса</a:t>
            </a:r>
            <a:r>
              <a:rPr lang="ru-RU" dirty="0"/>
              <a:t>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3) </a:t>
            </a:r>
            <a:r>
              <a:rPr lang="ru-RU" dirty="0"/>
              <a:t>В каком формате представлены параметры (веса) нейросети?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672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8BCA5-3D0B-936D-EBC8-9EAB82C23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AFB96-BCC7-0CE0-646F-EB014513A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000" dirty="0"/>
              <a:t>Ответы: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6F203-59F2-AA92-440E-C1BFDE5D176B}"/>
              </a:ext>
            </a:extLst>
          </p:cNvPr>
          <p:cNvSpPr txBox="1"/>
          <p:nvPr/>
        </p:nvSpPr>
        <p:spPr>
          <a:xfrm>
            <a:off x="457200" y="941708"/>
            <a:ext cx="816309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ru-RU" dirty="0"/>
              <a:t>На каких девайсах обучаются современные нейросети?</a:t>
            </a:r>
          </a:p>
          <a:p>
            <a:pPr marL="342900" indent="-342900">
              <a:buAutoNum type="arabicParenR"/>
            </a:pPr>
            <a:endParaRPr lang="ru-RU" dirty="0"/>
          </a:p>
          <a:p>
            <a:r>
              <a:rPr lang="ru-RU" b="1" dirty="0"/>
              <a:t>GPU/TPU серверы — видеокарты (NVIDIA A100, H100) или тензорные ускорители (TPU) с огромным объёмом памяти (80+ ГБ VRAM).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2) </a:t>
            </a:r>
            <a:r>
              <a:rPr lang="ru-RU" dirty="0"/>
              <a:t>Где хранятся веса модели во время обучения и </a:t>
            </a:r>
            <a:r>
              <a:rPr lang="ru-RU" dirty="0" err="1"/>
              <a:t>инференса</a:t>
            </a:r>
            <a:r>
              <a:rPr lang="ru-RU" dirty="0"/>
              <a:t>?</a:t>
            </a:r>
          </a:p>
          <a:p>
            <a:endParaRPr lang="en-US" dirty="0"/>
          </a:p>
          <a:p>
            <a:r>
              <a:rPr lang="ru-RU" b="1" dirty="0"/>
              <a:t>Во время обучения: веса хранятся в GPU/TPU памяти (максимально быстро для градиентных обновлений). Во время </a:t>
            </a:r>
            <a:r>
              <a:rPr lang="ru-RU" b="1" dirty="0" err="1"/>
              <a:t>инференса</a:t>
            </a:r>
            <a:r>
              <a:rPr lang="ru-RU" b="1" dirty="0"/>
              <a:t>: веса могут быть в GPU, CPU памяти или даже на диске (медленнее, но экономнее).</a:t>
            </a:r>
          </a:p>
          <a:p>
            <a:endParaRPr lang="ru-RU" dirty="0"/>
          </a:p>
          <a:p>
            <a:r>
              <a:rPr lang="en-US" dirty="0"/>
              <a:t>3) </a:t>
            </a:r>
            <a:r>
              <a:rPr lang="ru-RU" dirty="0"/>
              <a:t>В каком формате представлены параметры (веса) нейросети?</a:t>
            </a:r>
          </a:p>
          <a:p>
            <a:endParaRPr lang="ru-RU" dirty="0"/>
          </a:p>
          <a:p>
            <a:r>
              <a:rPr lang="ru-RU" b="1" dirty="0"/>
              <a:t>Формат хранения: обычно FP32 (4 байта на вес)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491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F826C-761C-2D0D-4AF6-DBF21A79A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7A1F17-ABF5-ED5F-D349-A53426742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400" dirty="0"/>
              <a:t>Разные форматы для чисел с плавающей запятой</a:t>
            </a:r>
          </a:p>
        </p:txBody>
      </p:sp>
      <p:pic>
        <p:nvPicPr>
          <p:cNvPr id="4098" name="Picture 2" descr="floating point Semiconductor Engineering">
            <a:extLst>
              <a:ext uri="{FF2B5EF4-FFF2-40B4-BE49-F238E27FC236}">
                <a16:creationId xmlns:a16="http://schemas.microsoft.com/office/drawing/2014/main" id="{C7D41F1D-BE09-3E67-7025-9F4376BFB3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414"/>
          <a:stretch>
            <a:fillRect/>
          </a:stretch>
        </p:blipFill>
        <p:spPr bwMode="auto">
          <a:xfrm>
            <a:off x="5263602" y="1385387"/>
            <a:ext cx="3647643" cy="221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23CD62-D261-F46C-5C66-26CB45275EE5}"/>
              </a:ext>
            </a:extLst>
          </p:cNvPr>
          <p:cNvSpPr txBox="1"/>
          <p:nvPr/>
        </p:nvSpPr>
        <p:spPr>
          <a:xfrm>
            <a:off x="295946" y="1051413"/>
            <a:ext cx="528959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 err="1"/>
              <a:t>Sign</a:t>
            </a:r>
            <a:r>
              <a:rPr lang="ru-RU" sz="1600" b="1" dirty="0"/>
              <a:t> (Бит знака)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0 — положительное число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1 — отрицательное число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r>
              <a:rPr lang="ru-RU" sz="1600" b="1" dirty="0" err="1"/>
              <a:t>Exponent</a:t>
            </a:r>
            <a:r>
              <a:rPr lang="ru-RU" sz="1600" b="1" dirty="0"/>
              <a:t> (Экспонента)</a:t>
            </a:r>
          </a:p>
          <a:p>
            <a:r>
              <a:rPr lang="ru-RU" sz="1600" dirty="0"/>
              <a:t>Определяет порядок числа, то есть сдвиг запятой. Но хранится со сдвигом (</a:t>
            </a:r>
            <a:r>
              <a:rPr lang="ru-RU" sz="1600" dirty="0" err="1"/>
              <a:t>bias</a:t>
            </a:r>
            <a:r>
              <a:rPr lang="ru-RU" sz="1600" dirty="0"/>
              <a:t>).</a:t>
            </a:r>
          </a:p>
          <a:p>
            <a:r>
              <a:rPr lang="ru-RU" sz="1600" dirty="0"/>
              <a:t>FP32: </a:t>
            </a:r>
            <a:r>
              <a:rPr lang="ru-RU" sz="1600" dirty="0" err="1"/>
              <a:t>bias</a:t>
            </a:r>
            <a:r>
              <a:rPr lang="ru-RU" sz="1600" dirty="0"/>
              <a:t> = 127</a:t>
            </a:r>
          </a:p>
          <a:p>
            <a:r>
              <a:rPr lang="ru-RU" sz="1600" dirty="0"/>
              <a:t>FP16: </a:t>
            </a:r>
            <a:r>
              <a:rPr lang="ru-RU" sz="1600" dirty="0" err="1"/>
              <a:t>bias</a:t>
            </a:r>
            <a:r>
              <a:rPr lang="ru-RU" sz="1600" dirty="0"/>
              <a:t> = 15</a:t>
            </a:r>
          </a:p>
          <a:p>
            <a:endParaRPr lang="ru-RU" sz="1600" dirty="0"/>
          </a:p>
          <a:p>
            <a:r>
              <a:rPr lang="ru-RU" sz="1600" b="1" dirty="0" err="1"/>
              <a:t>Mantissa</a:t>
            </a:r>
            <a:r>
              <a:rPr lang="ru-RU" sz="1600" b="1" dirty="0"/>
              <a:t> (Мантисса)</a:t>
            </a:r>
          </a:p>
          <a:p>
            <a:r>
              <a:rPr lang="ru-RU" sz="1600" dirty="0"/>
              <a:t>Это дробная часть, определяющая точность числа. Кроме</a:t>
            </a:r>
          </a:p>
          <a:p>
            <a:r>
              <a:rPr lang="en-US" sz="1600" dirty="0"/>
              <a:t>Int 4 </a:t>
            </a:r>
            <a:r>
              <a:rPr lang="ru-RU" sz="1600" dirty="0"/>
              <a:t>и </a:t>
            </a:r>
            <a:r>
              <a:rPr lang="en-US" sz="1600" dirty="0"/>
              <a:t>int 8</a:t>
            </a:r>
            <a:r>
              <a:rPr lang="ru-RU" sz="1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05484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C4F07-C1DA-0E28-293F-B9EB76E6A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5D2B13-166F-00B6-240F-36E502E9E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400" dirty="0"/>
              <a:t>Пример</a:t>
            </a:r>
            <a:r>
              <a:rPr lang="en-US" sz="2400" dirty="0"/>
              <a:t>: </a:t>
            </a:r>
            <a:r>
              <a:rPr lang="ru-RU" sz="2400" dirty="0"/>
              <a:t>Получение из 2-ого</a:t>
            </a:r>
            <a:r>
              <a:rPr lang="en-US" sz="2400" dirty="0"/>
              <a:t> </a:t>
            </a:r>
            <a:r>
              <a:rPr lang="ru-RU" sz="2400" dirty="0"/>
              <a:t>(</a:t>
            </a:r>
            <a:r>
              <a:rPr lang="en-US" sz="2400" dirty="0"/>
              <a:t>FP32)</a:t>
            </a:r>
            <a:r>
              <a:rPr lang="ru-RU" sz="2400" dirty="0"/>
              <a:t> в 10-ое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84D6F7-7077-41FC-BAB4-81EFC87E2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445" y="664534"/>
            <a:ext cx="2156647" cy="7773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10ADF7-C447-2680-E373-0F06D3A95BA9}"/>
              </a:ext>
            </a:extLst>
          </p:cNvPr>
          <p:cNvSpPr txBox="1"/>
          <p:nvPr/>
        </p:nvSpPr>
        <p:spPr>
          <a:xfrm>
            <a:off x="2643447" y="1575262"/>
            <a:ext cx="5004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0 10000001 01000000000000000000000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754BA64-1D6A-072D-9F50-B74F052C1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658" y="2329284"/>
            <a:ext cx="4656223" cy="119644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0129682-35AB-576D-1233-21F66A041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7658" y="4007551"/>
            <a:ext cx="4734651" cy="47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563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215D8-F697-A446-3E56-0B588367B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16B35E-98EE-700A-9DA9-2D0A9B1DF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400" dirty="0"/>
              <a:t>С каких сторон можно смотреть на квантизацию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69E78-88DF-720A-E3D0-8951F98A9C55}"/>
              </a:ext>
            </a:extLst>
          </p:cNvPr>
          <p:cNvSpPr txBox="1"/>
          <p:nvPr/>
        </p:nvSpPr>
        <p:spPr>
          <a:xfrm>
            <a:off x="295946" y="1051413"/>
            <a:ext cx="75013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sz="1600" dirty="0"/>
              <a:t>По объекту квантования (что квантуем)</a:t>
            </a:r>
          </a:p>
          <a:p>
            <a:pPr marL="800100" lvl="1" indent="-342900">
              <a:buAutoNum type="arabicPeriod"/>
            </a:pPr>
            <a:r>
              <a:rPr lang="en-US" sz="1600" dirty="0"/>
              <a:t>Weights quantization</a:t>
            </a:r>
            <a:endParaRPr lang="ru-RU" sz="1600" dirty="0"/>
          </a:p>
          <a:p>
            <a:pPr marL="800100" lvl="1" indent="-342900">
              <a:buAutoNum type="arabicPeriod"/>
            </a:pPr>
            <a:r>
              <a:rPr lang="en-US" sz="1600" dirty="0"/>
              <a:t>Activations quantization</a:t>
            </a:r>
            <a:endParaRPr lang="ru-RU" sz="1600" dirty="0"/>
          </a:p>
          <a:p>
            <a:pPr marL="342900" indent="-342900">
              <a:buAutoNum type="arabicPeriod"/>
            </a:pPr>
            <a:r>
              <a:rPr lang="ru-RU" sz="1600" dirty="0"/>
              <a:t>По способу (методу) квантования</a:t>
            </a:r>
          </a:p>
          <a:p>
            <a:pPr marL="800100" lvl="1" indent="-342900">
              <a:buAutoNum type="arabicPeriod"/>
            </a:pPr>
            <a:r>
              <a:rPr lang="en-US" sz="1600" dirty="0"/>
              <a:t>Linear Quantization</a:t>
            </a:r>
            <a:endParaRPr lang="ru-RU" sz="1600" dirty="0"/>
          </a:p>
          <a:p>
            <a:pPr marL="800100" lvl="1" indent="-342900">
              <a:buAutoNum type="arabicPeriod"/>
            </a:pPr>
            <a:r>
              <a:rPr lang="en-US" sz="1600" dirty="0"/>
              <a:t>Non-Uniform Quantization</a:t>
            </a:r>
            <a:endParaRPr lang="ru-RU" sz="1600" dirty="0"/>
          </a:p>
          <a:p>
            <a:pPr marL="342900" indent="-342900">
              <a:buAutoNum type="arabicPeriod"/>
            </a:pPr>
            <a:r>
              <a:rPr lang="ru-RU" sz="1600" dirty="0"/>
              <a:t>По моменту применения (в контексте обучения)</a:t>
            </a:r>
          </a:p>
          <a:p>
            <a:pPr marL="800100" lvl="1" indent="-342900">
              <a:buFontTx/>
              <a:buAutoNum type="arabicPeriod"/>
            </a:pPr>
            <a:r>
              <a:rPr lang="en-US" sz="1600" dirty="0"/>
              <a:t>Post-Training Quantization</a:t>
            </a:r>
            <a:endParaRPr lang="ru-RU" sz="1600" dirty="0"/>
          </a:p>
          <a:p>
            <a:pPr marL="800100" lvl="1" indent="-342900">
              <a:buAutoNum type="arabicPeriod"/>
            </a:pPr>
            <a:r>
              <a:rPr lang="en-US" sz="1600" dirty="0"/>
              <a:t>Quantization-Aware Training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675250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1EBD0-005F-CA34-03A7-AC07EB5FD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25D33E-F729-8E06-A923-2CC806481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400" dirty="0"/>
              <a:t>С каких сторон можно смотреть на квантизацию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C8956-14CB-0901-DD34-4544649E4EFD}"/>
              </a:ext>
            </a:extLst>
          </p:cNvPr>
          <p:cNvSpPr txBox="1"/>
          <p:nvPr/>
        </p:nvSpPr>
        <p:spPr>
          <a:xfrm>
            <a:off x="295946" y="1051413"/>
            <a:ext cx="75013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sz="1600" dirty="0"/>
              <a:t>По объекту квантования (что квантуем)</a:t>
            </a:r>
          </a:p>
          <a:p>
            <a:pPr marL="800100" lvl="1" indent="-342900">
              <a:buAutoNum type="arabicPeriod"/>
            </a:pPr>
            <a:r>
              <a:rPr lang="en-US" sz="1600" dirty="0"/>
              <a:t>Weights quantization</a:t>
            </a:r>
            <a:endParaRPr lang="ru-RU" sz="1600" dirty="0"/>
          </a:p>
          <a:p>
            <a:pPr marL="800100" lvl="1" indent="-342900">
              <a:buAutoNum type="arabicPeriod"/>
            </a:pPr>
            <a:r>
              <a:rPr lang="en-US" sz="1600" dirty="0"/>
              <a:t>Activations quantization</a:t>
            </a:r>
            <a:endParaRPr lang="ru-RU" sz="1600" dirty="0"/>
          </a:p>
          <a:p>
            <a:pPr marL="342900" indent="-342900">
              <a:buAutoNum type="arabicPeriod"/>
            </a:pPr>
            <a:r>
              <a:rPr lang="ru-RU" sz="1600" b="1" dirty="0"/>
              <a:t>По способу (методу) квантования</a:t>
            </a:r>
          </a:p>
          <a:p>
            <a:pPr marL="800100" lvl="1" indent="-342900">
              <a:buAutoNum type="arabicPeriod"/>
            </a:pPr>
            <a:r>
              <a:rPr lang="en-US" sz="1600" b="1" dirty="0"/>
              <a:t>Linear Quantization</a:t>
            </a:r>
            <a:endParaRPr lang="ru-RU" sz="1600" b="1" dirty="0"/>
          </a:p>
          <a:p>
            <a:pPr marL="800100" lvl="1" indent="-342900">
              <a:buAutoNum type="arabicPeriod"/>
            </a:pPr>
            <a:r>
              <a:rPr lang="en-US" sz="1600" b="1" dirty="0"/>
              <a:t>Non-Uniform Quantization</a:t>
            </a:r>
            <a:endParaRPr lang="ru-RU" sz="1600" b="1" dirty="0"/>
          </a:p>
          <a:p>
            <a:pPr marL="342900" indent="-342900">
              <a:buAutoNum type="arabicPeriod"/>
            </a:pPr>
            <a:r>
              <a:rPr lang="ru-RU" sz="1600" dirty="0"/>
              <a:t>По моменту применения (в контексте обучения)</a:t>
            </a:r>
          </a:p>
          <a:p>
            <a:pPr marL="800100" lvl="1" indent="-342900">
              <a:buFontTx/>
              <a:buAutoNum type="arabicPeriod"/>
            </a:pPr>
            <a:r>
              <a:rPr lang="en-US" sz="1600" dirty="0"/>
              <a:t>Post-Training Quantization</a:t>
            </a:r>
            <a:endParaRPr lang="ru-RU" sz="1600" dirty="0"/>
          </a:p>
          <a:p>
            <a:pPr marL="800100" lvl="1" indent="-342900">
              <a:buAutoNum type="arabicPeriod"/>
            </a:pPr>
            <a:r>
              <a:rPr lang="en-US" sz="1600" dirty="0"/>
              <a:t>Quantization-Aware Training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186575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366C8-D472-0B7B-72B3-018E99653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D94ACD-73C9-9D19-1108-488FF54A9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Linear Quantization</a:t>
            </a:r>
            <a:r>
              <a:rPr lang="ru-RU" sz="2400" dirty="0"/>
              <a:t> (</a:t>
            </a:r>
            <a:r>
              <a:rPr lang="en-US" sz="2400" dirty="0"/>
              <a:t>From INT8 -&gt; FP32)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CF2C03-A363-AE5D-14A9-B46329256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71" y="1298505"/>
            <a:ext cx="3388561" cy="28408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9573FA9-E370-DCBC-93A8-920223095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470" y="1284075"/>
            <a:ext cx="3257928" cy="28553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FDCABD-EE75-A48F-0058-A61E3D8E85D1}"/>
              </a:ext>
            </a:extLst>
          </p:cNvPr>
          <p:cNvSpPr txBox="1"/>
          <p:nvPr/>
        </p:nvSpPr>
        <p:spPr>
          <a:xfrm>
            <a:off x="2069869" y="4293479"/>
            <a:ext cx="50042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Как из этого получить </a:t>
            </a:r>
            <a:r>
              <a:rPr lang="en-US" dirty="0"/>
              <a:t>FP32 -&gt; INT8</a:t>
            </a:r>
          </a:p>
          <a:p>
            <a:pPr algn="ctr"/>
            <a:r>
              <a:rPr lang="en-US" dirty="0"/>
              <a:t>(</a:t>
            </a:r>
            <a:r>
              <a:rPr lang="ru-RU" dirty="0"/>
              <a:t>Или как выразить </a:t>
            </a:r>
            <a:r>
              <a:rPr lang="en-US" dirty="0"/>
              <a:t>q </a:t>
            </a:r>
            <a:r>
              <a:rPr lang="ru-RU" dirty="0"/>
              <a:t>через </a:t>
            </a:r>
            <a:r>
              <a:rPr lang="en-US" dirty="0"/>
              <a:t>r)</a:t>
            </a:r>
          </a:p>
        </p:txBody>
      </p:sp>
    </p:spTree>
    <p:extLst>
      <p:ext uri="{BB962C8B-B14F-4D97-AF65-F5344CB8AC3E}">
        <p14:creationId xmlns:p14="http://schemas.microsoft.com/office/powerpoint/2010/main" val="2029361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76BAA-AA30-E4D9-069A-AFBC8EBD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B1E2E-8D51-0D3B-5B0E-D5AEB525C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Linear Quantization</a:t>
            </a:r>
            <a:r>
              <a:rPr lang="ru-RU" sz="2400" dirty="0"/>
              <a:t> (</a:t>
            </a:r>
            <a:r>
              <a:rPr lang="en-US" sz="2400" dirty="0"/>
              <a:t>From FP32 -&gt; INT8)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4505F2-2D91-6796-DF56-791A8482E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093" y="1214239"/>
            <a:ext cx="3115600" cy="324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75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87EFF-5AC1-A264-6ABE-3E4F5C642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A0BB6C-7416-B32C-527C-1CF742475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Linear Quantization</a:t>
            </a:r>
            <a:r>
              <a:rPr lang="ru-RU" sz="2400" dirty="0"/>
              <a:t> (</a:t>
            </a:r>
            <a:r>
              <a:rPr lang="en-US" sz="2400" dirty="0"/>
              <a:t>From FP32 -&gt; INT8)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584762-467F-C115-22A3-2DA7F7DE0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08" y="1214239"/>
            <a:ext cx="3115600" cy="32476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C792DA-07F6-50DA-BEAF-2AB989BFDE9B}"/>
              </a:ext>
            </a:extLst>
          </p:cNvPr>
          <p:cNvSpPr txBox="1"/>
          <p:nvPr/>
        </p:nvSpPr>
        <p:spPr>
          <a:xfrm>
            <a:off x="4405745" y="1214239"/>
            <a:ext cx="430665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Что мы поняли</a:t>
            </a:r>
            <a:endParaRPr lang="en-US" dirty="0"/>
          </a:p>
          <a:p>
            <a:pPr algn="ctr"/>
            <a:endParaRPr lang="ru-RU" dirty="0"/>
          </a:p>
          <a:p>
            <a:pPr marL="342900" indent="-342900">
              <a:buAutoNum type="arabicParenR"/>
            </a:pPr>
            <a:r>
              <a:rPr lang="ru-RU" dirty="0"/>
              <a:t>Как из </a:t>
            </a:r>
            <a:r>
              <a:rPr lang="en-US" dirty="0"/>
              <a:t>INT8 </a:t>
            </a:r>
            <a:r>
              <a:rPr lang="ru-RU" dirty="0"/>
              <a:t>получить </a:t>
            </a:r>
            <a:r>
              <a:rPr lang="en-US" dirty="0"/>
              <a:t>FP32</a:t>
            </a:r>
            <a:endParaRPr lang="ru-RU" dirty="0"/>
          </a:p>
          <a:p>
            <a:pPr marL="342900" indent="-342900">
              <a:buAutoNum type="arabicParenR"/>
            </a:pPr>
            <a:r>
              <a:rPr lang="ru-RU" dirty="0"/>
              <a:t>Как из </a:t>
            </a:r>
            <a:r>
              <a:rPr lang="en-US" dirty="0"/>
              <a:t>FP32 </a:t>
            </a:r>
            <a:r>
              <a:rPr lang="ru-RU" dirty="0"/>
              <a:t>получить </a:t>
            </a:r>
            <a:r>
              <a:rPr lang="en-US" dirty="0"/>
              <a:t>INT8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ru-RU" b="1" dirty="0"/>
              <a:t>Что такое </a:t>
            </a:r>
            <a:r>
              <a:rPr lang="en-US" b="1" dirty="0"/>
              <a:t>z </a:t>
            </a:r>
            <a:r>
              <a:rPr lang="ru-RU" b="1" dirty="0"/>
              <a:t>и </a:t>
            </a:r>
            <a:r>
              <a:rPr lang="en-US" b="1" dirty="0"/>
              <a:t>s?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endParaRPr lang="ru-RU" dirty="0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7E522C32-999B-485A-7CF9-2ED714C29B28}"/>
              </a:ext>
            </a:extLst>
          </p:cNvPr>
          <p:cNvCxnSpPr/>
          <p:nvPr/>
        </p:nvCxnSpPr>
        <p:spPr>
          <a:xfrm flipH="1" flipV="1">
            <a:off x="2990335" y="1482811"/>
            <a:ext cx="1415410" cy="453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1F74FFDE-F433-A0B9-B615-21B23F29B16D}"/>
              </a:ext>
            </a:extLst>
          </p:cNvPr>
          <p:cNvCxnSpPr>
            <a:cxnSpLocks/>
          </p:cNvCxnSpPr>
          <p:nvPr/>
        </p:nvCxnSpPr>
        <p:spPr>
          <a:xfrm flipH="1">
            <a:off x="3782291" y="2385753"/>
            <a:ext cx="698269" cy="1543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970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95C89-88C4-EA04-08BF-51C375DE1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E763BC-25B1-F4A0-DC6A-F9758DF96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Linear Quantization. </a:t>
            </a:r>
            <a:r>
              <a:rPr lang="ru-RU" sz="2400" dirty="0"/>
              <a:t>Получение </a:t>
            </a:r>
            <a:r>
              <a:rPr lang="en-US" sz="2400" dirty="0"/>
              <a:t>s </a:t>
            </a:r>
            <a:r>
              <a:rPr lang="ru-RU" sz="2400" dirty="0"/>
              <a:t>и </a:t>
            </a:r>
            <a:r>
              <a:rPr lang="en-US" sz="2400" dirty="0"/>
              <a:t>z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C47B7D-A789-B23D-1877-A47C6F8FF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00" y="828263"/>
            <a:ext cx="4723158" cy="40212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6665FA-A755-D49A-01F7-C98D70C178BD}"/>
              </a:ext>
            </a:extLst>
          </p:cNvPr>
          <p:cNvSpPr txBox="1"/>
          <p:nvPr/>
        </p:nvSpPr>
        <p:spPr>
          <a:xfrm>
            <a:off x="5593492" y="1276865"/>
            <a:ext cx="32928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 (</a:t>
            </a:r>
            <a:r>
              <a:rPr lang="ru-RU" dirty="0" err="1"/>
              <a:t>scale</a:t>
            </a:r>
            <a:r>
              <a:rPr lang="en-US" dirty="0"/>
              <a:t>)</a:t>
            </a:r>
            <a:r>
              <a:rPr lang="ru-RU" dirty="0"/>
              <a:t> — коэффициент масштаба</a:t>
            </a:r>
            <a:endParaRPr lang="en-US" dirty="0"/>
          </a:p>
          <a:p>
            <a:br>
              <a:rPr lang="ru-RU" dirty="0"/>
            </a:br>
            <a:r>
              <a:rPr lang="en-US" dirty="0"/>
              <a:t>z (</a:t>
            </a:r>
            <a:r>
              <a:rPr lang="ru-RU" dirty="0" err="1"/>
              <a:t>zero_point</a:t>
            </a:r>
            <a:r>
              <a:rPr lang="en-US" dirty="0"/>
              <a:t>)</a:t>
            </a:r>
            <a:r>
              <a:rPr lang="ru-RU" dirty="0"/>
              <a:t> — сдвиг для центровки нуля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167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B9514-114D-BAC5-4AA7-51B453AE8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26B952-46BD-216F-7F6B-3B074768F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Linear Quantization. </a:t>
            </a:r>
            <a:r>
              <a:rPr lang="ru-RU" sz="2400" dirty="0"/>
              <a:t>Пример</a:t>
            </a:r>
            <a:endParaRPr lang="en-US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B1152BF-1FAD-A216-3DC1-609BD3E90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956" y="1377642"/>
            <a:ext cx="3478939" cy="314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21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CB263-7D9F-AD7E-B81C-42949147A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D9F230-89EC-DBB8-7AB2-EAD847EBA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Linear Quantization: Symmetric vs. Asymmetric Mode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0A1F61-D332-BFA0-AB57-4EB1D1582C5E}"/>
              </a:ext>
            </a:extLst>
          </p:cNvPr>
          <p:cNvSpPr txBox="1"/>
          <p:nvPr/>
        </p:nvSpPr>
        <p:spPr>
          <a:xfrm>
            <a:off x="420130" y="980303"/>
            <a:ext cx="6824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Symmetric Mode: z = 0</a:t>
            </a:r>
          </a:p>
          <a:p>
            <a:pPr marL="342900" indent="-342900">
              <a:buAutoNum type="arabicParenR"/>
            </a:pPr>
            <a:r>
              <a:rPr lang="en-US" dirty="0"/>
              <a:t>Asymmetric Mode: z!= 0</a:t>
            </a:r>
          </a:p>
        </p:txBody>
      </p:sp>
    </p:spTree>
    <p:extLst>
      <p:ext uri="{BB962C8B-B14F-4D97-AF65-F5344CB8AC3E}">
        <p14:creationId xmlns:p14="http://schemas.microsoft.com/office/powerpoint/2010/main" val="617537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9FD09-B6C1-5625-330A-AE5521EF0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79F254-FEF5-2065-C3A6-D5EAA6223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Linear Quantization: </a:t>
            </a:r>
            <a:r>
              <a:rPr lang="ru-RU" sz="2400" dirty="0"/>
              <a:t>Как ее можно применять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F615E3-5B86-4DF2-779E-A02D6F02BBB7}"/>
              </a:ext>
            </a:extLst>
          </p:cNvPr>
          <p:cNvSpPr txBox="1"/>
          <p:nvPr/>
        </p:nvSpPr>
        <p:spPr>
          <a:xfrm>
            <a:off x="420130" y="980303"/>
            <a:ext cx="42387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ru-RU" dirty="0"/>
              <a:t>На всю сеть целиком</a:t>
            </a:r>
            <a:r>
              <a:rPr lang="en-US" dirty="0"/>
              <a:t>:</a:t>
            </a:r>
          </a:p>
          <a:p>
            <a:pPr marL="742950" lvl="1" indent="-285750">
              <a:buFontTx/>
              <a:buChar char="-"/>
            </a:pPr>
            <a:r>
              <a:rPr lang="ru-RU" dirty="0"/>
              <a:t>Вычисляем </a:t>
            </a:r>
            <a:r>
              <a:rPr lang="en-US" dirty="0" err="1"/>
              <a:t>q_max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q_min</a:t>
            </a:r>
            <a:r>
              <a:rPr lang="en-US" dirty="0"/>
              <a:t> </a:t>
            </a:r>
            <a:r>
              <a:rPr lang="ru-RU" dirty="0"/>
              <a:t>по всем весам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ru-RU" dirty="0"/>
              <a:t>Вычисляем </a:t>
            </a:r>
            <a:r>
              <a:rPr lang="en-US" dirty="0"/>
              <a:t>z </a:t>
            </a:r>
            <a:r>
              <a:rPr lang="ru-RU" dirty="0"/>
              <a:t>и </a:t>
            </a:r>
            <a:r>
              <a:rPr lang="en-US" dirty="0"/>
              <a:t>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 </a:t>
            </a:r>
            <a:r>
              <a:rPr lang="ru-RU" dirty="0">
                <a:solidFill>
                  <a:prstClr val="black"/>
                </a:solidFill>
                <a:latin typeface="Calibri"/>
              </a:rPr>
              <a:t>кастомные блоки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742950" lvl="1" indent="-285750">
              <a:buFontTx/>
              <a:buChar char="-"/>
            </a:pPr>
            <a:r>
              <a:rPr lang="ru-RU" dirty="0"/>
              <a:t>На каждую матрицу весов</a:t>
            </a:r>
          </a:p>
          <a:p>
            <a:pPr marL="742950" lvl="1" indent="-285750">
              <a:buFontTx/>
              <a:buChar char="-"/>
            </a:pPr>
            <a:r>
              <a:rPr lang="ru-RU" dirty="0"/>
              <a:t>На каждый канал</a:t>
            </a:r>
            <a:r>
              <a:rPr lang="en-US" dirty="0"/>
              <a:t>/</a:t>
            </a:r>
            <a:r>
              <a:rPr lang="ru-RU" dirty="0"/>
              <a:t>серию каналов</a:t>
            </a:r>
          </a:p>
          <a:p>
            <a:pPr marL="742950" lvl="1" indent="-285750">
              <a:buFontTx/>
              <a:buChar char="-"/>
            </a:pPr>
            <a:r>
              <a:rPr lang="ru-RU" dirty="0"/>
              <a:t>На группы элементов</a:t>
            </a:r>
          </a:p>
          <a:p>
            <a:pPr marL="742950" lvl="1" indent="-285750">
              <a:buFontTx/>
              <a:buChar char="-"/>
            </a:pPr>
            <a:r>
              <a:rPr lang="ru-RU" dirty="0"/>
              <a:t>Для каждого такого разделение нужно высчитывать </a:t>
            </a:r>
            <a:r>
              <a:rPr lang="en-US" dirty="0" err="1"/>
              <a:t>q_max</a:t>
            </a:r>
            <a:r>
              <a:rPr lang="en-US" dirty="0"/>
              <a:t>, </a:t>
            </a:r>
            <a:r>
              <a:rPr lang="en-US" dirty="0" err="1"/>
              <a:t>q_min</a:t>
            </a:r>
            <a:r>
              <a:rPr lang="en-US" dirty="0"/>
              <a:t>, z, s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C03DD1-CB98-8FCC-292D-B783BBA6F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856" y="2235112"/>
            <a:ext cx="4238726" cy="192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68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811BE-E03C-C931-3530-2E9C3CD03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5750B-3ADB-52EA-25F0-89C7C4B86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400" dirty="0"/>
              <a:t>С каких сторон можно смотреть на квантизацию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877699-83D0-A76A-0850-36A4A1FFA64A}"/>
              </a:ext>
            </a:extLst>
          </p:cNvPr>
          <p:cNvSpPr txBox="1"/>
          <p:nvPr/>
        </p:nvSpPr>
        <p:spPr>
          <a:xfrm>
            <a:off x="295946" y="1051413"/>
            <a:ext cx="75013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sz="1600" b="1" dirty="0"/>
              <a:t>По объекту квантования (что квантуем)</a:t>
            </a:r>
          </a:p>
          <a:p>
            <a:pPr marL="800100" lvl="1" indent="-342900">
              <a:buAutoNum type="arabicPeriod"/>
            </a:pPr>
            <a:r>
              <a:rPr lang="en-US" sz="1600" b="1" dirty="0"/>
              <a:t>Weights quantization</a:t>
            </a:r>
            <a:endParaRPr lang="ru-RU" sz="1600" b="1" dirty="0"/>
          </a:p>
          <a:p>
            <a:pPr marL="800100" lvl="1" indent="-342900">
              <a:buAutoNum type="arabicPeriod"/>
            </a:pPr>
            <a:r>
              <a:rPr lang="en-US" sz="1600" b="1" dirty="0"/>
              <a:t>Activations quantization</a:t>
            </a:r>
            <a:endParaRPr lang="ru-RU" sz="1600" b="1" dirty="0"/>
          </a:p>
          <a:p>
            <a:pPr marL="342900" indent="-342900">
              <a:buAutoNum type="arabicPeriod"/>
            </a:pPr>
            <a:r>
              <a:rPr lang="ru-RU" sz="1600" dirty="0"/>
              <a:t>По способу (методу) квантования</a:t>
            </a:r>
          </a:p>
          <a:p>
            <a:pPr marL="800100" lvl="1" indent="-342900">
              <a:buAutoNum type="arabicPeriod"/>
            </a:pPr>
            <a:r>
              <a:rPr lang="en-US" sz="1600" dirty="0"/>
              <a:t>Linear Quantization</a:t>
            </a:r>
            <a:endParaRPr lang="ru-RU" sz="1600" dirty="0"/>
          </a:p>
          <a:p>
            <a:pPr marL="800100" lvl="1" indent="-342900">
              <a:buAutoNum type="arabicPeriod"/>
            </a:pPr>
            <a:r>
              <a:rPr lang="en-US" sz="1600" dirty="0"/>
              <a:t>Non-Uniform Quantization</a:t>
            </a:r>
            <a:endParaRPr lang="ru-RU" sz="1600" dirty="0"/>
          </a:p>
          <a:p>
            <a:pPr marL="342900" indent="-342900">
              <a:buAutoNum type="arabicPeriod"/>
            </a:pPr>
            <a:r>
              <a:rPr lang="ru-RU" sz="1600" dirty="0"/>
              <a:t>По моменту применения (в контексте обучения)</a:t>
            </a:r>
          </a:p>
          <a:p>
            <a:pPr marL="800100" lvl="1" indent="-342900">
              <a:buFontTx/>
              <a:buAutoNum type="arabicPeriod"/>
            </a:pPr>
            <a:r>
              <a:rPr lang="en-US" sz="1600" dirty="0"/>
              <a:t>Post-Training Quantization</a:t>
            </a:r>
            <a:endParaRPr lang="ru-RU" sz="1600" dirty="0"/>
          </a:p>
          <a:p>
            <a:pPr marL="800100" lvl="1" indent="-342900">
              <a:buAutoNum type="arabicPeriod"/>
            </a:pPr>
            <a:r>
              <a:rPr lang="en-US" sz="1600" dirty="0"/>
              <a:t>Quantization-Aware Training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900611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BDFD6-8100-0A6A-2BB1-392FB8239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681C1C-0DCE-B3D0-F88A-7DF66A47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Weights</a:t>
            </a:r>
            <a:r>
              <a:rPr lang="ru-RU" sz="2400" dirty="0"/>
              <a:t> </a:t>
            </a:r>
            <a:r>
              <a:rPr lang="en-US" sz="2400" dirty="0"/>
              <a:t>&amp; Activations Quantization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9568DAA-26E3-9DF0-E910-529D79320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139" y="1287884"/>
            <a:ext cx="3912469" cy="20689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666504-3E66-D336-3EFF-6056F577D3DB}"/>
              </a:ext>
            </a:extLst>
          </p:cNvPr>
          <p:cNvSpPr txBox="1"/>
          <p:nvPr/>
        </p:nvSpPr>
        <p:spPr>
          <a:xfrm>
            <a:off x="503257" y="1833086"/>
            <a:ext cx="42387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</a:t>
            </a:r>
            <a:r>
              <a:rPr lang="ru-RU" dirty="0" err="1"/>
              <a:t>нн</a:t>
            </a:r>
            <a:r>
              <a:rPr lang="ru-RU" dirty="0"/>
              <a:t> можно модель </a:t>
            </a:r>
            <a:r>
              <a:rPr lang="ru-RU" dirty="0" err="1"/>
              <a:t>квантизовать</a:t>
            </a:r>
            <a:r>
              <a:rPr lang="ru-RU" dirty="0"/>
              <a:t> не только по </a:t>
            </a:r>
            <a:r>
              <a:rPr lang="ru-RU" b="1" dirty="0"/>
              <a:t>весам, </a:t>
            </a:r>
            <a:r>
              <a:rPr lang="ru-RU" dirty="0"/>
              <a:t>но еще и по </a:t>
            </a:r>
            <a:r>
              <a:rPr lang="ru-RU" b="1" dirty="0"/>
              <a:t>активациям</a:t>
            </a:r>
            <a:br>
              <a:rPr lang="ru-RU" b="1" dirty="0"/>
            </a:br>
            <a:r>
              <a:rPr lang="ru-RU" dirty="0"/>
              <a:t>От этого будет зависеть что храниться в памяти как идут вычисления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00739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47377-FDD3-D6B3-8708-8516B689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5DADA-0F46-36C0-6DFC-BB1B8E185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Weights</a:t>
            </a:r>
            <a:r>
              <a:rPr lang="ru-RU" sz="2400" dirty="0"/>
              <a:t> </a:t>
            </a:r>
            <a:r>
              <a:rPr lang="en-US" sz="2400" dirty="0"/>
              <a:t>&amp; Activations Quantization: </a:t>
            </a:r>
            <a:r>
              <a:rPr lang="ru-RU" sz="2400" dirty="0"/>
              <a:t>Пример</a:t>
            </a:r>
            <a:endParaRPr lang="en-US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5CA97E-663D-7680-4C0A-127B822C7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720" y="1055294"/>
            <a:ext cx="7140559" cy="17527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74DF65-7BF9-ED75-C0AE-C866759861FB}"/>
              </a:ext>
            </a:extLst>
          </p:cNvPr>
          <p:cNvSpPr txBox="1"/>
          <p:nvPr/>
        </p:nvSpPr>
        <p:spPr>
          <a:xfrm>
            <a:off x="777577" y="3042100"/>
            <a:ext cx="79009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– </a:t>
            </a:r>
            <a:r>
              <a:rPr lang="ru-RU" dirty="0"/>
              <a:t>результат от предыдущего слоя</a:t>
            </a:r>
            <a:r>
              <a:rPr lang="en-US" dirty="0"/>
              <a:t> (L-1) </a:t>
            </a:r>
            <a:r>
              <a:rPr lang="ru-RU" dirty="0"/>
              <a:t>в </a:t>
            </a:r>
            <a:r>
              <a:rPr lang="en-US" dirty="0"/>
              <a:t>FP32</a:t>
            </a:r>
            <a:endParaRPr lang="ru-RU" dirty="0"/>
          </a:p>
          <a:p>
            <a:r>
              <a:rPr lang="en-US" dirty="0" err="1"/>
              <a:t>Q_w</a:t>
            </a:r>
            <a:r>
              <a:rPr lang="en-US" dirty="0"/>
              <a:t> – </a:t>
            </a:r>
            <a:r>
              <a:rPr lang="ru-RU" dirty="0"/>
              <a:t>веса текущего слоя (</a:t>
            </a:r>
            <a:r>
              <a:rPr lang="en-US" dirty="0"/>
              <a:t>L) </a:t>
            </a:r>
            <a:r>
              <a:rPr lang="ru-RU" dirty="0"/>
              <a:t>в </a:t>
            </a:r>
            <a:r>
              <a:rPr lang="en-US" dirty="0"/>
              <a:t>INT8</a:t>
            </a:r>
          </a:p>
          <a:p>
            <a:r>
              <a:rPr lang="en-US" dirty="0" err="1"/>
              <a:t>S_w</a:t>
            </a:r>
            <a:r>
              <a:rPr lang="en-US" dirty="0"/>
              <a:t>, </a:t>
            </a:r>
            <a:r>
              <a:rPr lang="en-US" dirty="0" err="1"/>
              <a:t>Z_w</a:t>
            </a:r>
            <a:r>
              <a:rPr lang="en-US" dirty="0"/>
              <a:t> – </a:t>
            </a:r>
            <a:r>
              <a:rPr lang="ru-RU" dirty="0"/>
              <a:t>для этих весов</a:t>
            </a:r>
          </a:p>
          <a:p>
            <a:r>
              <a:rPr lang="en-US" dirty="0"/>
              <a:t>output – </a:t>
            </a:r>
            <a:r>
              <a:rPr lang="ru-RU" dirty="0"/>
              <a:t>результат работы этого слоя в </a:t>
            </a:r>
            <a:r>
              <a:rPr lang="en-US" dirty="0"/>
              <a:t>FP32</a:t>
            </a:r>
          </a:p>
        </p:txBody>
      </p:sp>
    </p:spTree>
    <p:extLst>
      <p:ext uri="{BB962C8B-B14F-4D97-AF65-F5344CB8AC3E}">
        <p14:creationId xmlns:p14="http://schemas.microsoft.com/office/powerpoint/2010/main" val="66298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E8443-2244-504A-2B58-994260254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72893B-4307-BAC9-FF2A-5C4F2E677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Activations Quantization:</a:t>
            </a:r>
            <a:r>
              <a:rPr lang="ru-RU" sz="2400" dirty="0"/>
              <a:t> 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22AD9-0B80-0484-070B-0E270939E1DE}"/>
              </a:ext>
            </a:extLst>
          </p:cNvPr>
          <p:cNvSpPr txBox="1"/>
          <p:nvPr/>
        </p:nvSpPr>
        <p:spPr>
          <a:xfrm>
            <a:off x="295946" y="1076628"/>
            <a:ext cx="7269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Квантизация весов работает точно также как и весами, однако есть важное отличие</a:t>
            </a:r>
          </a:p>
          <a:p>
            <a:endParaRPr lang="ru-RU" dirty="0"/>
          </a:p>
          <a:p>
            <a:r>
              <a:rPr lang="ru-RU" dirty="0"/>
              <a:t>Мы не знаем </a:t>
            </a:r>
            <a:r>
              <a:rPr lang="en-US" dirty="0" err="1"/>
              <a:t>q_max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/>
              <a:t>q_min</a:t>
            </a:r>
            <a:r>
              <a:rPr lang="en-US" dirty="0"/>
              <a:t> (</a:t>
            </a:r>
            <a:r>
              <a:rPr lang="ru-RU" dirty="0"/>
              <a:t>Вопрос аудитории почему?)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554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081AB-BAB3-AAF0-4748-40D0FF215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B995BB-5F59-EB71-231B-F823860C3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Activations Quantization</a:t>
            </a:r>
            <a:r>
              <a:rPr lang="ru-RU" sz="2400" dirty="0"/>
              <a:t> </a:t>
            </a:r>
            <a:r>
              <a:rPr lang="en-US" sz="2400" dirty="0"/>
              <a:t>:</a:t>
            </a:r>
            <a:r>
              <a:rPr lang="ru-RU" sz="2400" dirty="0"/>
              <a:t> 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076AEF-AC72-5358-9CC2-0770DB90C2FC}"/>
              </a:ext>
            </a:extLst>
          </p:cNvPr>
          <p:cNvSpPr txBox="1"/>
          <p:nvPr/>
        </p:nvSpPr>
        <p:spPr>
          <a:xfrm>
            <a:off x="295946" y="1076628"/>
            <a:ext cx="72691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Квантизация весов работает точно также как и весами, однако есть важное отличие</a:t>
            </a:r>
          </a:p>
          <a:p>
            <a:endParaRPr lang="ru-RU" dirty="0"/>
          </a:p>
          <a:p>
            <a:r>
              <a:rPr lang="ru-RU" dirty="0"/>
              <a:t>Мы не знаем </a:t>
            </a:r>
            <a:r>
              <a:rPr lang="en-US" dirty="0" err="1"/>
              <a:t>q_max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/>
              <a:t>q_min</a:t>
            </a:r>
            <a:endParaRPr lang="ru-RU" dirty="0"/>
          </a:p>
          <a:p>
            <a:endParaRPr lang="ru-RU" dirty="0"/>
          </a:p>
          <a:p>
            <a:r>
              <a:rPr lang="ru-RU" dirty="0"/>
              <a:t>И чтобы их найти нужно пройти </a:t>
            </a:r>
            <a:r>
              <a:rPr lang="ru-RU" dirty="0" err="1"/>
              <a:t>калиброку</a:t>
            </a:r>
            <a:r>
              <a:rPr lang="ru-RU" dirty="0"/>
              <a:t>. Прогнать через оригинальную модель несколько показательных примеров и зафиксировать на каждом слое </a:t>
            </a:r>
            <a:r>
              <a:rPr lang="en-US" dirty="0" err="1"/>
              <a:t>q_max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/>
              <a:t>q_min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Когда это произойдет –</a:t>
            </a:r>
            <a:r>
              <a:rPr lang="en-US" dirty="0"/>
              <a:t>&gt; </a:t>
            </a:r>
            <a:r>
              <a:rPr lang="ru-RU" dirty="0"/>
              <a:t>Можно будет найти </a:t>
            </a:r>
            <a:r>
              <a:rPr lang="en-US" dirty="0"/>
              <a:t>s </a:t>
            </a:r>
            <a:r>
              <a:rPr lang="ru-RU" dirty="0"/>
              <a:t>и </a:t>
            </a:r>
            <a:r>
              <a:rPr lang="en-US" dirty="0"/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2143126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A6C0B-2613-1285-959A-AB6D42A7B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17223-4D43-9B97-82D6-2B51A5D51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400" dirty="0"/>
              <a:t>Промежуточный итог</a:t>
            </a:r>
            <a:endParaRPr lang="en-US" sz="24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4151914-4F2D-7AC7-72A8-8A32DE9A9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560081"/>
              </p:ext>
            </p:extLst>
          </p:nvPr>
        </p:nvGraphicFramePr>
        <p:xfrm>
          <a:off x="295946" y="875238"/>
          <a:ext cx="8657862" cy="36054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23568">
                  <a:extLst>
                    <a:ext uri="{9D8B030D-6E8A-4147-A177-3AD203B41FA5}">
                      <a16:colId xmlns:a16="http://schemas.microsoft.com/office/drawing/2014/main" val="816990345"/>
                    </a:ext>
                  </a:extLst>
                </a:gridCol>
                <a:gridCol w="5666600">
                  <a:extLst>
                    <a:ext uri="{9D8B030D-6E8A-4147-A177-3AD203B41FA5}">
                      <a16:colId xmlns:a16="http://schemas.microsoft.com/office/drawing/2014/main" val="3179578262"/>
                    </a:ext>
                  </a:extLst>
                </a:gridCol>
                <a:gridCol w="1967694">
                  <a:extLst>
                    <a:ext uri="{9D8B030D-6E8A-4147-A177-3AD203B41FA5}">
                      <a16:colId xmlns:a16="http://schemas.microsoft.com/office/drawing/2014/main" val="2738420552"/>
                    </a:ext>
                  </a:extLst>
                </a:gridCol>
              </a:tblGrid>
              <a:tr h="444276"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Метод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Описание </a:t>
                      </a:r>
                      <a:r>
                        <a:rPr lang="ru-RU" sz="1200" b="1" dirty="0" err="1">
                          <a:solidFill>
                            <a:schemeClr val="tx1"/>
                          </a:solidFill>
                        </a:rPr>
                        <a:t>инференса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Что храним дополнительно?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743954"/>
                  </a:ext>
                </a:extLst>
              </a:tr>
              <a:tr h="953708">
                <a:tc>
                  <a:txBody>
                    <a:bodyPr/>
                    <a:lstStyle/>
                    <a:p>
                      <a:r>
                        <a:rPr lang="ru-RU" sz="1200" dirty="0"/>
                        <a:t>Только веса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W_int8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Z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340781"/>
                  </a:ext>
                </a:extLst>
              </a:tr>
              <a:tr h="953708">
                <a:tc>
                  <a:txBody>
                    <a:bodyPr/>
                    <a:lstStyle/>
                    <a:p>
                      <a:r>
                        <a:rPr lang="ru-RU" sz="1200" dirty="0"/>
                        <a:t>Веса + вычисления (</a:t>
                      </a:r>
                      <a:r>
                        <a:rPr lang="en-US" sz="1200" dirty="0"/>
                        <a:t>runtime int8)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INT8×INT8→INT32</a:t>
                      </a:r>
                      <a:endParaRPr lang="ru-RU" sz="1200" dirty="0"/>
                    </a:p>
                    <a:p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Тут нужен специальный вид обучение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QAT (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разберем далее)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W_int8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Z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Z_Y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S_Y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655944"/>
                  </a:ext>
                </a:extLst>
              </a:tr>
              <a:tr h="9537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Веса + вычисления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Умножение на матрицу в </a:t>
                      </a:r>
                      <a:r>
                        <a:rPr lang="en-US" sz="1200" dirty="0"/>
                        <a:t>INT8</a:t>
                      </a:r>
                      <a:endParaRPr lang="ru-RU" sz="1200" dirty="0"/>
                    </a:p>
                    <a:p>
                      <a:r>
                        <a:rPr lang="ru-RU" sz="1200" dirty="0"/>
                        <a:t>Активации в </a:t>
                      </a:r>
                      <a:r>
                        <a:rPr lang="en-US" sz="1200" dirty="0"/>
                        <a:t>FP32</a:t>
                      </a:r>
                      <a:br>
                        <a:rPr lang="en-US" sz="1200" dirty="0"/>
                      </a:br>
                      <a:endParaRPr lang="en-US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W_int8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Z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Z_Y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S_Y</a:t>
                      </a:r>
                    </a:p>
                    <a:p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566326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5AA71D4-ACB8-1212-F329-2F2FDFB0A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626" y="1385087"/>
            <a:ext cx="3718882" cy="7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04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123FC-73EB-D767-6D2D-0F9D53507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52A5E-521E-637D-BDD6-62CD06A0C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400" dirty="0"/>
              <a:t>С каких сторон можно смотреть на квантизацию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44A650-E56D-9D34-7F75-383A1D50315A}"/>
              </a:ext>
            </a:extLst>
          </p:cNvPr>
          <p:cNvSpPr txBox="1"/>
          <p:nvPr/>
        </p:nvSpPr>
        <p:spPr>
          <a:xfrm>
            <a:off x="295946" y="1051413"/>
            <a:ext cx="75013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sz="1600" dirty="0"/>
              <a:t>По объекту квантования (что квантуем)</a:t>
            </a:r>
          </a:p>
          <a:p>
            <a:pPr marL="800100" lvl="1" indent="-342900">
              <a:buAutoNum type="arabicPeriod"/>
            </a:pPr>
            <a:r>
              <a:rPr lang="en-US" sz="1600" dirty="0"/>
              <a:t>Weights quantization</a:t>
            </a:r>
            <a:endParaRPr lang="ru-RU" sz="1600" dirty="0"/>
          </a:p>
          <a:p>
            <a:pPr marL="800100" lvl="1" indent="-342900">
              <a:buAutoNum type="arabicPeriod"/>
            </a:pPr>
            <a:r>
              <a:rPr lang="en-US" sz="1600" dirty="0"/>
              <a:t>Activations quantization</a:t>
            </a:r>
            <a:endParaRPr lang="ru-RU" sz="1600" dirty="0"/>
          </a:p>
          <a:p>
            <a:pPr marL="342900" indent="-342900">
              <a:buAutoNum type="arabicPeriod"/>
            </a:pPr>
            <a:r>
              <a:rPr lang="ru-RU" sz="1600" b="1" dirty="0"/>
              <a:t>По способу (методу) квантования</a:t>
            </a:r>
          </a:p>
          <a:p>
            <a:pPr marL="800100" lvl="1" indent="-342900">
              <a:buAutoNum type="arabicPeriod"/>
            </a:pPr>
            <a:r>
              <a:rPr lang="en-US" sz="1600" b="1" dirty="0"/>
              <a:t>Linear Quantization</a:t>
            </a:r>
            <a:endParaRPr lang="ru-RU" sz="1600" b="1" dirty="0"/>
          </a:p>
          <a:p>
            <a:pPr marL="800100" lvl="1" indent="-342900">
              <a:buAutoNum type="arabicPeriod"/>
            </a:pPr>
            <a:r>
              <a:rPr lang="en-US" sz="1600" b="1" dirty="0"/>
              <a:t>Non-Uniform Quantization</a:t>
            </a:r>
            <a:endParaRPr lang="ru-RU" sz="1600" b="1" dirty="0"/>
          </a:p>
          <a:p>
            <a:pPr marL="342900" indent="-342900">
              <a:buAutoNum type="arabicPeriod"/>
            </a:pPr>
            <a:r>
              <a:rPr lang="ru-RU" sz="1600" dirty="0"/>
              <a:t>По моменту применения (в контексте обучения)</a:t>
            </a:r>
          </a:p>
          <a:p>
            <a:pPr marL="800100" lvl="1" indent="-342900">
              <a:buFontTx/>
              <a:buAutoNum type="arabicPeriod"/>
            </a:pPr>
            <a:r>
              <a:rPr lang="en-US" sz="1600" dirty="0"/>
              <a:t>Post-Training Quantization</a:t>
            </a:r>
            <a:endParaRPr lang="ru-RU" sz="1600" dirty="0"/>
          </a:p>
          <a:p>
            <a:pPr marL="800100" lvl="1" indent="-342900">
              <a:buAutoNum type="arabicPeriod"/>
            </a:pPr>
            <a:r>
              <a:rPr lang="en-US" sz="1600" dirty="0"/>
              <a:t>Quantization-Aware Training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099798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C22D-DD2E-E761-05DC-DF831325A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D8A13-35F6-8F34-95BC-268FB656A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Non-Uniform Quantization: Palettization</a:t>
            </a:r>
            <a:endParaRPr lang="ru-RU" sz="2400" dirty="0"/>
          </a:p>
        </p:txBody>
      </p:sp>
      <p:pic>
        <p:nvPicPr>
          <p:cNvPr id="8194" name="Picture 2" descr="Non-uniform lowering of precision using clustering">
            <a:extLst>
              <a:ext uri="{FF2B5EF4-FFF2-40B4-BE49-F238E27FC236}">
                <a16:creationId xmlns:a16="http://schemas.microsoft.com/office/drawing/2014/main" id="{5ED60617-1089-04FA-6115-2F290F98B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44" y="1346050"/>
            <a:ext cx="7812911" cy="29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127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4C5DF-F49A-5D21-2F59-FACAE00AF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B99553-16F3-AA9A-AA71-8735D4C6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Linear Quantization: Outliers</a:t>
            </a:r>
            <a:endParaRPr lang="ru-RU" sz="24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4015B7D-E2C0-5592-FFE6-2A39FB25B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699" y="1142999"/>
            <a:ext cx="7565503" cy="378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77861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2885F-486D-799C-3C0C-437F369F0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C4691B-9443-67AE-628E-F26B93030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400" dirty="0"/>
              <a:t>С каких сторон можно смотреть на квантизацию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C779D-394B-B78F-0C4B-318F5B7CEA9D}"/>
              </a:ext>
            </a:extLst>
          </p:cNvPr>
          <p:cNvSpPr txBox="1"/>
          <p:nvPr/>
        </p:nvSpPr>
        <p:spPr>
          <a:xfrm>
            <a:off x="295946" y="1051413"/>
            <a:ext cx="75013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sz="1600" dirty="0"/>
              <a:t>По объекту квантования (что квантуем)</a:t>
            </a:r>
          </a:p>
          <a:p>
            <a:pPr marL="800100" lvl="1" indent="-342900">
              <a:buAutoNum type="arabicPeriod"/>
            </a:pPr>
            <a:r>
              <a:rPr lang="en-US" sz="1600" dirty="0"/>
              <a:t>Weights quantization</a:t>
            </a:r>
            <a:endParaRPr lang="ru-RU" sz="1600" dirty="0"/>
          </a:p>
          <a:p>
            <a:pPr marL="800100" lvl="1" indent="-342900">
              <a:buAutoNum type="arabicPeriod"/>
            </a:pPr>
            <a:r>
              <a:rPr lang="en-US" sz="1600" dirty="0"/>
              <a:t>Activations quantization</a:t>
            </a:r>
            <a:endParaRPr lang="ru-RU" sz="1600" dirty="0"/>
          </a:p>
          <a:p>
            <a:pPr marL="342900" indent="-342900">
              <a:buAutoNum type="arabicPeriod"/>
            </a:pPr>
            <a:r>
              <a:rPr lang="ru-RU" sz="1600" dirty="0"/>
              <a:t>По способу (методу) квантования</a:t>
            </a:r>
          </a:p>
          <a:p>
            <a:pPr marL="800100" lvl="1" indent="-342900">
              <a:buAutoNum type="arabicPeriod"/>
            </a:pPr>
            <a:r>
              <a:rPr lang="en-US" sz="1600" dirty="0"/>
              <a:t>Linear Quantization</a:t>
            </a:r>
            <a:endParaRPr lang="ru-RU" sz="1600" dirty="0"/>
          </a:p>
          <a:p>
            <a:pPr marL="800100" lvl="1" indent="-342900">
              <a:buAutoNum type="arabicPeriod"/>
            </a:pPr>
            <a:r>
              <a:rPr lang="en-US" sz="1600" dirty="0"/>
              <a:t>Non-Uniform Quantization</a:t>
            </a:r>
            <a:endParaRPr lang="ru-RU" sz="1600" dirty="0"/>
          </a:p>
          <a:p>
            <a:pPr marL="342900" indent="-342900">
              <a:buAutoNum type="arabicPeriod"/>
            </a:pPr>
            <a:r>
              <a:rPr lang="ru-RU" sz="1600" b="1" dirty="0"/>
              <a:t>По моменту применения (в контексте обучения)</a:t>
            </a:r>
          </a:p>
          <a:p>
            <a:pPr marL="800100" lvl="1" indent="-342900">
              <a:buFontTx/>
              <a:buAutoNum type="arabicPeriod"/>
            </a:pPr>
            <a:r>
              <a:rPr lang="en-US" sz="1600" b="1" dirty="0"/>
              <a:t>Post-Training Quantization</a:t>
            </a:r>
            <a:endParaRPr lang="ru-RU" sz="1600" b="1" dirty="0"/>
          </a:p>
          <a:p>
            <a:pPr marL="800100" lvl="1" indent="-342900">
              <a:buAutoNum type="arabicPeriod"/>
            </a:pPr>
            <a:r>
              <a:rPr lang="en-US" sz="1600" b="1" dirty="0"/>
              <a:t>Quantization-Aware Training</a:t>
            </a: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26749096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F91AA-350C-3566-E1DB-8BF981816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5D288-5B92-03F0-6974-7B9685BB4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400" dirty="0"/>
              <a:t>Определения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616B3-0F5D-730A-EFE3-0D0AE397920D}"/>
              </a:ext>
            </a:extLst>
          </p:cNvPr>
          <p:cNvSpPr txBox="1"/>
          <p:nvPr/>
        </p:nvSpPr>
        <p:spPr>
          <a:xfrm>
            <a:off x="439838" y="983848"/>
            <a:ext cx="79402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Post-Training Quantization (PTQ)</a:t>
            </a:r>
          </a:p>
          <a:p>
            <a:r>
              <a:rPr lang="ru-RU" dirty="0"/>
              <a:t>Квантизация модели </a:t>
            </a:r>
            <a:r>
              <a:rPr lang="ru-RU" b="1" dirty="0"/>
              <a:t>после обучения</a:t>
            </a:r>
            <a:r>
              <a:rPr lang="ru-RU" dirty="0"/>
              <a:t> без </a:t>
            </a:r>
            <a:r>
              <a:rPr lang="en-US" dirty="0"/>
              <a:t>retrain’</a:t>
            </a:r>
            <a:r>
              <a:rPr lang="ru-RU" dirty="0"/>
              <a:t>а. Быстро, просто, но возможна потеря точности.</a:t>
            </a:r>
            <a:r>
              <a:rPr lang="en-US" dirty="0"/>
              <a:t> </a:t>
            </a:r>
          </a:p>
          <a:p>
            <a:r>
              <a:rPr lang="ru-RU" dirty="0"/>
              <a:t>Все подходы, которые мы обозревали ранее</a:t>
            </a:r>
            <a:r>
              <a:rPr lang="en-US" dirty="0"/>
              <a:t> </a:t>
            </a:r>
            <a:r>
              <a:rPr lang="ru-RU" dirty="0"/>
              <a:t>это </a:t>
            </a:r>
            <a:r>
              <a:rPr lang="en-US" dirty="0"/>
              <a:t>PTQ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en-US" b="1" dirty="0"/>
              <a:t>Quantization-Aware Training (QAT)</a:t>
            </a:r>
          </a:p>
          <a:p>
            <a:r>
              <a:rPr lang="ru-RU" dirty="0"/>
              <a:t>Модель </a:t>
            </a:r>
            <a:r>
              <a:rPr lang="ru-RU" b="1" dirty="0"/>
              <a:t>учится с учётом квантизации</a:t>
            </a:r>
            <a:r>
              <a:rPr lang="ru-RU" dirty="0"/>
              <a:t>. </a:t>
            </a:r>
            <a:r>
              <a:rPr lang="en-US" dirty="0"/>
              <a:t>Fake-quant </a:t>
            </a:r>
            <a:r>
              <a:rPr lang="ru-RU" dirty="0"/>
              <a:t>в тренировке → минимальная потеря точности на </a:t>
            </a:r>
            <a:r>
              <a:rPr lang="en-US" dirty="0"/>
              <a:t>int8.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270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085E8-ED61-CDFF-A027-83EC373A4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7D4DCF-011A-32B4-07E2-DE5A31021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Quantization-Aware Training (QAT)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A7AF1-8717-A033-D5F9-306B0278E4C7}"/>
              </a:ext>
            </a:extLst>
          </p:cNvPr>
          <p:cNvSpPr txBox="1"/>
          <p:nvPr/>
        </p:nvSpPr>
        <p:spPr>
          <a:xfrm>
            <a:off x="295946" y="983848"/>
            <a:ext cx="7940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Модель обучается с имитацией квантования (</a:t>
            </a:r>
            <a:r>
              <a:rPr lang="ru-RU" i="1" dirty="0" err="1"/>
              <a:t>fake</a:t>
            </a:r>
            <a:r>
              <a:rPr lang="ru-RU" i="1" dirty="0"/>
              <a:t> </a:t>
            </a:r>
            <a:r>
              <a:rPr lang="ru-RU" i="1" dirty="0" err="1"/>
              <a:t>quant</a:t>
            </a:r>
            <a:r>
              <a:rPr lang="ru-RU" dirty="0"/>
              <a:t>) в каждом </a:t>
            </a:r>
            <a:r>
              <a:rPr lang="ru-RU" dirty="0" err="1"/>
              <a:t>forward-pass</a:t>
            </a:r>
            <a:r>
              <a:rPr lang="ru-RU" dirty="0"/>
              <a:t>.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E5C1FBC-46DC-561C-37C1-9016C7BC8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69" y="1630179"/>
            <a:ext cx="6780966" cy="335071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FC30862-7043-0DE8-A134-6B02D108E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082" y="3961515"/>
            <a:ext cx="3299746" cy="19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71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28769-3ED1-EA0F-1DDD-66229CF54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D9E123-DF4B-9CA6-63A3-D4E954AAE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6" y="293956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AWQ </a:t>
            </a:r>
            <a:r>
              <a:rPr lang="ru-RU" sz="2400" dirty="0"/>
              <a:t> </a:t>
            </a:r>
            <a:r>
              <a:rPr lang="en-US" sz="2400" dirty="0"/>
              <a:t>&amp; GPTQ  &amp; GGUF 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6DCF47-3E73-B384-2FC1-75F556854C32}"/>
              </a:ext>
            </a:extLst>
          </p:cNvPr>
          <p:cNvSpPr txBox="1"/>
          <p:nvPr/>
        </p:nvSpPr>
        <p:spPr>
          <a:xfrm>
            <a:off x="295946" y="983848"/>
            <a:ext cx="794023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AWQ (</a:t>
            </a:r>
            <a:r>
              <a:rPr lang="ru-RU" sz="1400" b="1" dirty="0" err="1"/>
              <a:t>Activation-Aware</a:t>
            </a:r>
            <a:r>
              <a:rPr lang="ru-RU" sz="1400" b="1" dirty="0"/>
              <a:t> </a:t>
            </a:r>
            <a:r>
              <a:rPr lang="ru-RU" sz="1400" b="1" dirty="0" err="1"/>
              <a:t>Weight</a:t>
            </a:r>
            <a:r>
              <a:rPr lang="ru-RU" sz="1400" b="1" dirty="0"/>
              <a:t> </a:t>
            </a:r>
            <a:r>
              <a:rPr lang="ru-RU" sz="1400" b="1" dirty="0" err="1"/>
              <a:t>Quantization</a:t>
            </a:r>
            <a:r>
              <a:rPr lang="ru-RU" sz="1400" b="1" dirty="0"/>
              <a:t>)</a:t>
            </a:r>
          </a:p>
          <a:p>
            <a:r>
              <a:rPr lang="ru-RU" sz="1400" dirty="0"/>
              <a:t>— Квантует веса с учётом самых «важных» активаций, сохраняя </a:t>
            </a:r>
            <a:r>
              <a:rPr lang="ru-RU" sz="1400" dirty="0" err="1"/>
              <a:t>outliers</a:t>
            </a:r>
            <a:r>
              <a:rPr lang="ru-RU" sz="1400" dirty="0"/>
              <a:t> в FP16.</a:t>
            </a:r>
            <a:br>
              <a:rPr lang="ru-RU" sz="1400" dirty="0"/>
            </a:br>
            <a:r>
              <a:rPr lang="ru-RU" sz="1400" dirty="0"/>
              <a:t>— Минимизирует ошибку именно в тех местах, где слой чувствителен.</a:t>
            </a:r>
            <a:br>
              <a:rPr lang="ru-RU" sz="1400" dirty="0"/>
            </a:br>
            <a:r>
              <a:rPr lang="ru-RU" sz="1400" dirty="0"/>
              <a:t>— Даёт стабильное качество в 4 битах и лёгкий </a:t>
            </a:r>
            <a:r>
              <a:rPr lang="ru-RU" sz="1400" dirty="0" err="1"/>
              <a:t>рантайм</a:t>
            </a:r>
            <a:r>
              <a:rPr lang="ru-RU" sz="1400" dirty="0"/>
              <a:t> на GPU.</a:t>
            </a:r>
          </a:p>
          <a:p>
            <a:br>
              <a:rPr lang="ru-RU" sz="1400" dirty="0"/>
            </a:br>
            <a:endParaRPr lang="ru-RU" sz="1400" dirty="0"/>
          </a:p>
          <a:p>
            <a:r>
              <a:rPr lang="ru-RU" sz="1400" b="1" dirty="0"/>
              <a:t>GPTQ (</a:t>
            </a:r>
            <a:r>
              <a:rPr lang="ru-RU" sz="1400" b="1" dirty="0" err="1"/>
              <a:t>Gradient</a:t>
            </a:r>
            <a:r>
              <a:rPr lang="ru-RU" sz="1400" b="1" dirty="0"/>
              <a:t> Post-</a:t>
            </a:r>
            <a:r>
              <a:rPr lang="ru-RU" sz="1400" b="1" dirty="0" err="1"/>
              <a:t>Training</a:t>
            </a:r>
            <a:r>
              <a:rPr lang="ru-RU" sz="1400" b="1" dirty="0"/>
              <a:t> </a:t>
            </a:r>
            <a:r>
              <a:rPr lang="ru-RU" sz="1400" b="1" dirty="0" err="1"/>
              <a:t>Quantization</a:t>
            </a:r>
            <a:r>
              <a:rPr lang="ru-RU" sz="1400" b="1" dirty="0"/>
              <a:t>)</a:t>
            </a:r>
          </a:p>
          <a:p>
            <a:r>
              <a:rPr lang="ru-RU" sz="1400" dirty="0"/>
              <a:t>— Оптимизирует квантование весов, используя приближение Гессиана для минимизации влияния на </a:t>
            </a:r>
            <a:r>
              <a:rPr lang="ru-RU" sz="1400" dirty="0" err="1"/>
              <a:t>лосс</a:t>
            </a:r>
            <a:r>
              <a:rPr lang="ru-RU" sz="1400" dirty="0"/>
              <a:t>.</a:t>
            </a:r>
            <a:br>
              <a:rPr lang="ru-RU" sz="1400" dirty="0"/>
            </a:br>
            <a:r>
              <a:rPr lang="ru-RU" sz="1400" dirty="0"/>
              <a:t>— Работает построчно с </a:t>
            </a:r>
            <a:r>
              <a:rPr lang="ru-RU" sz="1400" dirty="0" err="1"/>
              <a:t>error-feedback</a:t>
            </a:r>
            <a:r>
              <a:rPr lang="ru-RU" sz="1400" dirty="0"/>
              <a:t>, поэтому держит почти FP16-точность.</a:t>
            </a:r>
            <a:br>
              <a:rPr lang="ru-RU" sz="1400" dirty="0"/>
            </a:br>
            <a:r>
              <a:rPr lang="ru-RU" sz="1400" dirty="0"/>
              <a:t>— Лучший PTQ-метод для 4 бит на больших языковых моделях.</a:t>
            </a:r>
          </a:p>
          <a:p>
            <a:br>
              <a:rPr lang="ru-RU" sz="1400" dirty="0"/>
            </a:br>
            <a:endParaRPr lang="ru-RU" sz="1400" dirty="0"/>
          </a:p>
          <a:p>
            <a:r>
              <a:rPr lang="ru-RU" sz="1400" b="1" dirty="0"/>
              <a:t>GGUF (формат хранения, НЕ метод квантования)</a:t>
            </a:r>
          </a:p>
          <a:p>
            <a:r>
              <a:rPr lang="ru-RU" sz="1400" dirty="0"/>
              <a:t>— Это упаковка весов в удобный бинарный контейнер для CPU-ориентированного </a:t>
            </a:r>
            <a:r>
              <a:rPr lang="ru-RU" sz="1400" dirty="0" err="1"/>
              <a:t>inference</a:t>
            </a:r>
            <a:r>
              <a:rPr lang="ru-RU" sz="1400" dirty="0"/>
              <a:t>.</a:t>
            </a:r>
            <a:br>
              <a:rPr lang="ru-RU" sz="1400" dirty="0"/>
            </a:br>
            <a:r>
              <a:rPr lang="ru-RU" sz="1400" dirty="0"/>
              <a:t>— Поддерживает разные типы квантования (Q2–Q6, FP16, INT8), но сам квант не выполняет.</a:t>
            </a:r>
            <a:br>
              <a:rPr lang="ru-RU" sz="1400" dirty="0"/>
            </a:br>
            <a:r>
              <a:rPr lang="ru-RU" sz="1400" dirty="0"/>
              <a:t>— Максимально портируемый формат для llama.cpp, </a:t>
            </a:r>
            <a:r>
              <a:rPr lang="ru-RU" sz="1400" dirty="0" err="1"/>
              <a:t>Ollama</a:t>
            </a:r>
            <a:r>
              <a:rPr lang="ru-RU" sz="1400" dirty="0"/>
              <a:t> и мобильных устройств.</a:t>
            </a:r>
          </a:p>
        </p:txBody>
      </p:sp>
    </p:spTree>
    <p:extLst>
      <p:ext uri="{BB962C8B-B14F-4D97-AF65-F5344CB8AC3E}">
        <p14:creationId xmlns:p14="http://schemas.microsoft.com/office/powerpoint/2010/main" val="10147699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F2754-1B0A-5187-C469-DCC8954D5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430A5-DEE9-584F-4E73-C7FB727F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809" y="2308108"/>
            <a:ext cx="6824382" cy="527284"/>
          </a:xfrm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000" dirty="0"/>
              <a:t>Pruning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3251284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119DC-A96A-0E85-26B1-452CE6B99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8938865-0B2D-6C47-367A-065BE5967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Pruning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3FEDD1-58DD-8FA7-086B-07F3BE7CFD0A}"/>
              </a:ext>
            </a:extLst>
          </p:cNvPr>
          <p:cNvSpPr txBox="1"/>
          <p:nvPr/>
        </p:nvSpPr>
        <p:spPr>
          <a:xfrm>
            <a:off x="457199" y="1099595"/>
            <a:ext cx="830483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/>
              <a:t>Pruning</a:t>
            </a:r>
            <a:r>
              <a:rPr lang="ru-RU" b="1" dirty="0"/>
              <a:t> (</a:t>
            </a:r>
            <a:r>
              <a:rPr lang="ru-RU" b="1" dirty="0" err="1"/>
              <a:t>прунинг</a:t>
            </a:r>
            <a:r>
              <a:rPr lang="ru-RU" b="1" dirty="0"/>
              <a:t>)</a:t>
            </a:r>
            <a:r>
              <a:rPr lang="ru-RU" dirty="0"/>
              <a:t> — это метод оптимизации нейросетей, при котором из модели удаляются наименее значимые веса, нейроны или целые структуры (каналы, головы внимания, блоки). 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Цель — уменьшить размер модели и ускорить </a:t>
            </a:r>
            <a:r>
              <a:rPr lang="ru-RU" dirty="0" err="1"/>
              <a:t>инференс</a:t>
            </a:r>
            <a:r>
              <a:rPr lang="ru-RU" dirty="0"/>
              <a:t> без критической потери качества. </a:t>
            </a:r>
          </a:p>
          <a:p>
            <a:endParaRPr lang="ru-RU" dirty="0"/>
          </a:p>
          <a:p>
            <a:r>
              <a:rPr lang="ru-RU" dirty="0" err="1"/>
              <a:t>Прунинг</a:t>
            </a:r>
            <a:r>
              <a:rPr lang="ru-RU" dirty="0"/>
              <a:t> может быть неструктурным (удаление отдельных весов), структурным (удаление целых компонент) или блоковым (паттерны N:M), применяться после обучения или итеративно с последующим </a:t>
            </a:r>
            <a:r>
              <a:rPr lang="ru-RU" dirty="0" err="1"/>
              <a:t>fine-tuning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319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188D1-6B66-7456-1F76-37E392463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38596DE-E650-69A5-9BEE-7427D60AC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Magnitude Pruning (L1/L2-based)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49B58E-6208-8008-C7F3-161820F3C315}"/>
              </a:ext>
            </a:extLst>
          </p:cNvPr>
          <p:cNvSpPr txBox="1"/>
          <p:nvPr/>
        </p:nvSpPr>
        <p:spPr>
          <a:xfrm>
            <a:off x="457200" y="1099595"/>
            <a:ext cx="78071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Идея:</a:t>
            </a:r>
            <a:r>
              <a:rPr lang="ru-RU" dirty="0"/>
              <a:t> если модуль веса маленький → вклад в выход минимальный → можно удалить.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b="1" dirty="0"/>
              <a:t>Как работает:</a:t>
            </a:r>
          </a:p>
          <a:p>
            <a:pPr marL="342900" indent="-342900">
              <a:buAutoNum type="arabicParenR"/>
            </a:pPr>
            <a:r>
              <a:rPr lang="ru-RU" dirty="0"/>
              <a:t>считаем |w| или w² для каждого веса,</a:t>
            </a:r>
          </a:p>
          <a:p>
            <a:pPr marL="342900" indent="-342900">
              <a:buAutoNum type="arabicParenR"/>
            </a:pPr>
            <a:r>
              <a:rPr lang="ru-RU" dirty="0"/>
              <a:t>сортируем</a:t>
            </a:r>
          </a:p>
          <a:p>
            <a:pPr marL="342900" indent="-342900">
              <a:buAutoNum type="arabicParenR"/>
            </a:pPr>
            <a:r>
              <a:rPr lang="ru-RU" dirty="0"/>
              <a:t>обнуляем низкий процент (например, 20%).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b="1" dirty="0"/>
              <a:t>Плюсы</a:t>
            </a:r>
            <a:r>
              <a:rPr lang="ru-RU" dirty="0"/>
              <a:t>: быстро, легко</a:t>
            </a:r>
            <a:br>
              <a:rPr lang="ru-RU" dirty="0"/>
            </a:br>
            <a:r>
              <a:rPr lang="ru-RU" b="1" dirty="0"/>
              <a:t>Минусы</a:t>
            </a:r>
            <a:r>
              <a:rPr lang="ru-RU" dirty="0"/>
              <a:t>: не учитывает контекст </a:t>
            </a:r>
            <a:r>
              <a:rPr lang="ru-RU" dirty="0" err="1"/>
              <a:t>лосса</a:t>
            </a:r>
            <a:r>
              <a:rPr lang="ru-RU" dirty="0"/>
              <a:t> и активаций.</a:t>
            </a:r>
          </a:p>
        </p:txBody>
      </p:sp>
    </p:spTree>
    <p:extLst>
      <p:ext uri="{BB962C8B-B14F-4D97-AF65-F5344CB8AC3E}">
        <p14:creationId xmlns:p14="http://schemas.microsoft.com/office/powerpoint/2010/main" val="27867187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5DA74-A7E1-E96B-C10B-D34E57B08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CB6FA26-5C17-7F95-4D9F-209F32718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Weight Thresholding (Static Pruning)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9C6CF-CC97-F62D-A8DF-3065D81E7DDA}"/>
              </a:ext>
            </a:extLst>
          </p:cNvPr>
          <p:cNvSpPr txBox="1"/>
          <p:nvPr/>
        </p:nvSpPr>
        <p:spPr>
          <a:xfrm>
            <a:off x="457200" y="1099595"/>
            <a:ext cx="78071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вводится фиксированный порог τ: </a:t>
            </a:r>
            <a:r>
              <a:rPr lang="ru-RU" b="1" dirty="0"/>
              <a:t>если |w| &lt; τ → обнулить.</a:t>
            </a:r>
          </a:p>
          <a:p>
            <a:endParaRPr lang="ru-RU" dirty="0"/>
          </a:p>
          <a:p>
            <a:r>
              <a:rPr lang="ru-RU" dirty="0"/>
              <a:t>Используется как </a:t>
            </a:r>
            <a:r>
              <a:rPr lang="ru-RU" dirty="0" err="1"/>
              <a:t>baseline</a:t>
            </a:r>
            <a:r>
              <a:rPr lang="ru-RU" dirty="0"/>
              <a:t> и в ранней научной литературе.</a:t>
            </a:r>
          </a:p>
          <a:p>
            <a:br>
              <a:rPr lang="ru-RU" dirty="0"/>
            </a:br>
            <a:r>
              <a:rPr lang="ru-RU" dirty="0"/>
              <a:t>Хорошо подходит для </a:t>
            </a:r>
            <a:r>
              <a:rPr lang="ru-RU" dirty="0" err="1"/>
              <a:t>toy</a:t>
            </a:r>
            <a:r>
              <a:rPr lang="ru-RU" dirty="0"/>
              <a:t>-примеров и предварительного анализа чувствительности.</a:t>
            </a:r>
          </a:p>
        </p:txBody>
      </p:sp>
    </p:spTree>
    <p:extLst>
      <p:ext uri="{BB962C8B-B14F-4D97-AF65-F5344CB8AC3E}">
        <p14:creationId xmlns:p14="http://schemas.microsoft.com/office/powerpoint/2010/main" val="367522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86F2A-51C5-FE88-730B-E38B7CB17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7B0F6C4-B786-7A51-52F0-05104323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Iterative Magnitude Pruning (IMP)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51540D-5018-D044-B11B-4A3DCCC6D135}"/>
              </a:ext>
            </a:extLst>
          </p:cNvPr>
          <p:cNvSpPr txBox="1"/>
          <p:nvPr/>
        </p:nvSpPr>
        <p:spPr>
          <a:xfrm>
            <a:off x="457200" y="1099595"/>
            <a:ext cx="78071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Алгоритм:</a:t>
            </a:r>
          </a:p>
          <a:p>
            <a:pPr marL="342900" indent="-342900">
              <a:buAutoNum type="arabicParenR"/>
            </a:pPr>
            <a:r>
              <a:rPr lang="ru-RU" dirty="0"/>
              <a:t>режем по </a:t>
            </a:r>
            <a:r>
              <a:rPr lang="ru-RU" dirty="0" err="1"/>
              <a:t>magnitude</a:t>
            </a:r>
            <a:r>
              <a:rPr lang="ru-RU" dirty="0"/>
              <a:t> 10–20% весов,</a:t>
            </a:r>
          </a:p>
          <a:p>
            <a:pPr marL="342900" indent="-342900">
              <a:buAutoNum type="arabicParenR"/>
            </a:pPr>
            <a:r>
              <a:rPr lang="ru-RU" dirty="0"/>
              <a:t>делаем </a:t>
            </a:r>
            <a:r>
              <a:rPr lang="ru-RU" dirty="0" err="1"/>
              <a:t>fine-tuning</a:t>
            </a:r>
            <a:r>
              <a:rPr lang="ru-RU" dirty="0"/>
              <a:t>,</a:t>
            </a:r>
          </a:p>
          <a:p>
            <a:pPr marL="342900" indent="-342900">
              <a:buAutoNum type="arabicParenR"/>
            </a:pPr>
            <a:r>
              <a:rPr lang="ru-RU" dirty="0"/>
              <a:t>повторяем несколько раз пока качество значительно не снизится</a:t>
            </a:r>
          </a:p>
          <a:p>
            <a:pPr marL="342900" indent="-342900">
              <a:buAutoNum type="arabicParenR"/>
            </a:pPr>
            <a:endParaRPr lang="ru-RU" dirty="0"/>
          </a:p>
          <a:p>
            <a:pPr marL="342900" indent="-342900">
              <a:buAutoNum type="arabicParenR"/>
            </a:pPr>
            <a:endParaRPr lang="ru-RU" dirty="0"/>
          </a:p>
          <a:p>
            <a:r>
              <a:rPr lang="ru-RU" dirty="0"/>
              <a:t>Даёт существенно лучшее качество, потому что модель адаптируется.</a:t>
            </a:r>
          </a:p>
        </p:txBody>
      </p:sp>
    </p:spTree>
    <p:extLst>
      <p:ext uri="{BB962C8B-B14F-4D97-AF65-F5344CB8AC3E}">
        <p14:creationId xmlns:p14="http://schemas.microsoft.com/office/powerpoint/2010/main" val="36643206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D820A-9F56-8F9A-E5C9-6CF98B996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3A4610-EC35-60F6-EB17-9760753FC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809" y="2308108"/>
            <a:ext cx="6824382" cy="527284"/>
          </a:xfrm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/>
              <a:t>Knowledge Distillation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787023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15B6E-0B4A-F8D3-0447-04D51AD0C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8EF4EEF-4041-FC44-4A26-81728FAF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Knowledge</a:t>
            </a:r>
            <a:r>
              <a:rPr lang="ru-RU" dirty="0"/>
              <a:t> </a:t>
            </a:r>
            <a:r>
              <a:rPr lang="ru-RU" dirty="0" err="1"/>
              <a:t>Distillation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BE600-96C8-046E-2898-C1319E02F89C}"/>
              </a:ext>
            </a:extLst>
          </p:cNvPr>
          <p:cNvSpPr txBox="1"/>
          <p:nvPr/>
        </p:nvSpPr>
        <p:spPr>
          <a:xfrm>
            <a:off x="457200" y="1015990"/>
            <a:ext cx="74020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 err="1"/>
              <a:t>Knowledge</a:t>
            </a:r>
            <a:r>
              <a:rPr lang="ru-RU" b="1" dirty="0"/>
              <a:t> </a:t>
            </a:r>
            <a:r>
              <a:rPr lang="ru-RU" b="1" dirty="0" err="1"/>
              <a:t>Distillation</a:t>
            </a:r>
            <a:r>
              <a:rPr lang="ru-RU" dirty="0"/>
              <a:t> — это метод, при котором большая, хорошо обученная модель (</a:t>
            </a:r>
            <a:r>
              <a:rPr lang="ru-RU" i="1" dirty="0" err="1"/>
              <a:t>teacher</a:t>
            </a:r>
            <a:r>
              <a:rPr lang="ru-RU" dirty="0"/>
              <a:t>) передаёт своё поведение более компактной модели (</a:t>
            </a:r>
            <a:r>
              <a:rPr lang="ru-RU" i="1" dirty="0" err="1"/>
              <a:t>student</a:t>
            </a:r>
            <a:r>
              <a:rPr lang="ru-RU" dirty="0"/>
              <a:t>).</a:t>
            </a:r>
            <a:endParaRPr lang="en-US" dirty="0"/>
          </a:p>
          <a:p>
            <a:pPr>
              <a:buNone/>
            </a:pPr>
            <a:br>
              <a:rPr lang="ru-RU" dirty="0"/>
            </a:br>
            <a:r>
              <a:rPr lang="ru-RU" dirty="0"/>
              <a:t>Студент учится не только на истинных метках, но и на «мягких» распределениях вероятностей, которые выдаёт </a:t>
            </a:r>
            <a:r>
              <a:rPr lang="ru-RU" dirty="0" err="1"/>
              <a:t>teacher</a:t>
            </a:r>
            <a:r>
              <a:rPr lang="ru-RU" dirty="0"/>
              <a:t>, тем самым перенимая его знания и структуру решений.</a:t>
            </a:r>
            <a:endParaRPr lang="en-US" dirty="0"/>
          </a:p>
        </p:txBody>
      </p:sp>
      <p:pic>
        <p:nvPicPr>
          <p:cNvPr id="10242" name="Picture 2" descr="изображение/png">
            <a:extLst>
              <a:ext uri="{FF2B5EF4-FFF2-40B4-BE49-F238E27FC236}">
                <a16:creationId xmlns:a16="http://schemas.microsoft.com/office/drawing/2014/main" id="{4A35C38F-9FEA-9DB7-D5EB-236F0C8A5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208" y="3047315"/>
            <a:ext cx="4676172" cy="197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367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1AC31-C627-0BFD-8DF3-47B0617A6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893A8A7-B7F8-165E-618B-9229CBC66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Knowledge</a:t>
            </a:r>
            <a:r>
              <a:rPr lang="ru-RU" dirty="0"/>
              <a:t> </a:t>
            </a:r>
            <a:r>
              <a:rPr lang="ru-RU" dirty="0" err="1"/>
              <a:t>Distillation</a:t>
            </a:r>
            <a:r>
              <a:rPr lang="en-US" dirty="0"/>
              <a:t>: classic method</a:t>
            </a:r>
          </a:p>
        </p:txBody>
      </p:sp>
      <p:pic>
        <p:nvPicPr>
          <p:cNvPr id="11266" name="Picture 2" descr="изображение/png">
            <a:extLst>
              <a:ext uri="{FF2B5EF4-FFF2-40B4-BE49-F238E27FC236}">
                <a16:creationId xmlns:a16="http://schemas.microsoft.com/office/drawing/2014/main" id="{7478C430-3330-1330-4244-DF22910B22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06"/>
          <a:stretch>
            <a:fillRect/>
          </a:stretch>
        </p:blipFill>
        <p:spPr bwMode="auto">
          <a:xfrm>
            <a:off x="995422" y="1277876"/>
            <a:ext cx="7153154" cy="165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B08E36-E92A-7A6D-4A83-64497C9F6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14" y="3361235"/>
            <a:ext cx="7493771" cy="100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5989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F6A23-AD20-A9B9-9AB6-DCF290A4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2691E-D481-F31F-0F5E-8700C4D54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Knowledge</a:t>
            </a:r>
            <a:r>
              <a:rPr lang="ru-RU" dirty="0"/>
              <a:t> </a:t>
            </a:r>
            <a:r>
              <a:rPr lang="ru-RU" dirty="0" err="1"/>
              <a:t>Distillation</a:t>
            </a:r>
            <a:r>
              <a:rPr lang="en-US" dirty="0"/>
              <a:t>: other methods</a:t>
            </a:r>
          </a:p>
        </p:txBody>
      </p:sp>
      <p:pic>
        <p:nvPicPr>
          <p:cNvPr id="12290" name="Picture 2" descr="изображение/png">
            <a:extLst>
              <a:ext uri="{FF2B5EF4-FFF2-40B4-BE49-F238E27FC236}">
                <a16:creationId xmlns:a16="http://schemas.microsoft.com/office/drawing/2014/main" id="{3EF98B00-9E0F-9081-89FF-84A7CAB581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12"/>
          <a:stretch>
            <a:fillRect/>
          </a:stretch>
        </p:blipFill>
        <p:spPr bwMode="auto">
          <a:xfrm>
            <a:off x="2986268" y="1992672"/>
            <a:ext cx="4087915" cy="176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F4D126-1539-C229-25C3-583C9BD21A57}"/>
              </a:ext>
            </a:extLst>
          </p:cNvPr>
          <p:cNvSpPr txBox="1"/>
          <p:nvPr/>
        </p:nvSpPr>
        <p:spPr>
          <a:xfrm>
            <a:off x="457200" y="833719"/>
            <a:ext cx="63718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Дистилляция на основе признаков (</a:t>
            </a:r>
            <a:r>
              <a:rPr lang="ru-RU" b="1" dirty="0" err="1"/>
              <a:t>feature-based</a:t>
            </a:r>
            <a:r>
              <a:rPr lang="ru-RU" b="1" dirty="0"/>
              <a:t> </a:t>
            </a:r>
            <a:r>
              <a:rPr lang="ru-RU" b="1" dirty="0" err="1"/>
              <a:t>distillation</a:t>
            </a:r>
            <a:r>
              <a:rPr lang="ru-RU" b="1" dirty="0"/>
              <a:t>)</a:t>
            </a:r>
          </a:p>
          <a:p>
            <a:pPr>
              <a:buNone/>
            </a:pPr>
            <a:r>
              <a:rPr lang="ru-RU" dirty="0"/>
              <a:t>Ученик учится не только по финальному выходу модели, но и по промежуточным представлениям учителя — картам признаков и активациям скрытых слоёв.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br>
              <a:rPr lang="ru-RU" dirty="0"/>
            </a:br>
            <a:r>
              <a:rPr lang="ru-RU" dirty="0"/>
              <a:t>Этот подход особенно повышает качество в задачах компьютерного зрения, где структура признаков играет критическую роль.</a:t>
            </a:r>
          </a:p>
        </p:txBody>
      </p:sp>
    </p:spTree>
    <p:extLst>
      <p:ext uri="{BB962C8B-B14F-4D97-AF65-F5344CB8AC3E}">
        <p14:creationId xmlns:p14="http://schemas.microsoft.com/office/powerpoint/2010/main" val="23644937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1145F-F803-9FD7-2884-069C64140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FB86332-4066-2325-8AE8-27CEECC79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Knowledge</a:t>
            </a:r>
            <a:r>
              <a:rPr lang="ru-RU" dirty="0"/>
              <a:t> </a:t>
            </a:r>
            <a:r>
              <a:rPr lang="ru-RU" dirty="0" err="1"/>
              <a:t>Distillation</a:t>
            </a:r>
            <a:r>
              <a:rPr lang="en-US" dirty="0"/>
              <a:t>: other methods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F9FC7-D019-C004-3721-CFDA7716BE20}"/>
              </a:ext>
            </a:extLst>
          </p:cNvPr>
          <p:cNvSpPr txBox="1"/>
          <p:nvPr/>
        </p:nvSpPr>
        <p:spPr>
          <a:xfrm>
            <a:off x="457200" y="742538"/>
            <a:ext cx="8229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b="1" dirty="0"/>
          </a:p>
          <a:p>
            <a:r>
              <a:rPr lang="ru-RU" b="1" dirty="0"/>
              <a:t>Дистилляция на основе отношений (</a:t>
            </a:r>
            <a:r>
              <a:rPr lang="ru-RU" b="1" dirty="0" err="1"/>
              <a:t>relation-based</a:t>
            </a:r>
            <a:r>
              <a:rPr lang="ru-RU" b="1" dirty="0"/>
              <a:t> </a:t>
            </a:r>
            <a:r>
              <a:rPr lang="ru-RU" b="1" dirty="0" err="1"/>
              <a:t>distillation</a:t>
            </a:r>
            <a:r>
              <a:rPr lang="ru-RU" b="1" dirty="0"/>
              <a:t>)</a:t>
            </a:r>
          </a:p>
          <a:p>
            <a:r>
              <a:rPr lang="ru-RU" dirty="0"/>
              <a:t>Ученик обучается воспроизводить отношения, которые учитель формирует между разными слоями или разными выборками данных.</a:t>
            </a:r>
          </a:p>
          <a:p>
            <a:endParaRPr lang="ru-RU" dirty="0"/>
          </a:p>
          <a:p>
            <a:br>
              <a:rPr lang="ru-RU" dirty="0"/>
            </a:b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Такой подход может объединять знания нескольких учителей и подходит для более сложных, </a:t>
            </a:r>
            <a:r>
              <a:rPr lang="ru-RU" dirty="0" err="1"/>
              <a:t>многомодельных</a:t>
            </a:r>
            <a:r>
              <a:rPr lang="ru-RU" dirty="0"/>
              <a:t> сценариев.</a:t>
            </a:r>
          </a:p>
        </p:txBody>
      </p:sp>
      <p:pic>
        <p:nvPicPr>
          <p:cNvPr id="6" name="Picture 4" descr="изображение/png">
            <a:extLst>
              <a:ext uri="{FF2B5EF4-FFF2-40B4-BE49-F238E27FC236}">
                <a16:creationId xmlns:a16="http://schemas.microsoft.com/office/drawing/2014/main" id="{AF98FCD7-FF70-3F5A-FB7E-967A8422F8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18"/>
          <a:stretch>
            <a:fillRect/>
          </a:stretch>
        </p:blipFill>
        <p:spPr bwMode="auto">
          <a:xfrm>
            <a:off x="1892070" y="1955139"/>
            <a:ext cx="4850573" cy="2350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4588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2B2CA-2A08-D636-4C3B-B44A66332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563DB92-BC08-87EA-7CFF-443A3880F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Knowledge</a:t>
            </a:r>
            <a:r>
              <a:rPr lang="ru-RU" dirty="0"/>
              <a:t> </a:t>
            </a:r>
            <a:r>
              <a:rPr lang="ru-RU" dirty="0" err="1"/>
              <a:t>Distillation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classification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389AD-AC10-BEE0-9D8E-D8BA87A49322}"/>
              </a:ext>
            </a:extLst>
          </p:cNvPr>
          <p:cNvSpPr txBox="1"/>
          <p:nvPr/>
        </p:nvSpPr>
        <p:spPr>
          <a:xfrm>
            <a:off x="457200" y="939307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Офлайн-дистилляция</a:t>
            </a:r>
            <a:r>
              <a:rPr lang="ru-RU" dirty="0"/>
              <a:t> — сначала обучается преподаватель, а затем он обучает студента. </a:t>
            </a:r>
            <a:endParaRPr lang="en-US" dirty="0"/>
          </a:p>
          <a:p>
            <a:endParaRPr lang="en-US" dirty="0"/>
          </a:p>
          <a:p>
            <a:r>
              <a:rPr lang="ru-RU" b="1" dirty="0"/>
              <a:t>Онлайн-дистилляция (</a:t>
            </a:r>
            <a:r>
              <a:rPr lang="ru-RU" dirty="0"/>
              <a:t>пример </a:t>
            </a:r>
            <a:r>
              <a:rPr lang="en-US" dirty="0" err="1"/>
              <a:t>SimSiam</a:t>
            </a:r>
            <a:r>
              <a:rPr lang="ru-RU" dirty="0"/>
              <a:t>) — преподаватель и студент учатся вместе.</a:t>
            </a:r>
            <a:endParaRPr lang="en-US" dirty="0"/>
          </a:p>
          <a:p>
            <a:r>
              <a:rPr lang="ru-RU" dirty="0"/>
              <a:t> </a:t>
            </a:r>
            <a:endParaRPr lang="en-US" dirty="0"/>
          </a:p>
          <a:p>
            <a:r>
              <a:rPr lang="ru-RU" b="1" dirty="0" err="1"/>
              <a:t>Самодистилляция</a:t>
            </a:r>
            <a:r>
              <a:rPr lang="en-US" b="1" dirty="0"/>
              <a:t> (</a:t>
            </a:r>
            <a:r>
              <a:rPr lang="ru-RU" dirty="0"/>
              <a:t>пример</a:t>
            </a:r>
            <a:r>
              <a:rPr lang="ru-RU" b="1" dirty="0"/>
              <a:t> </a:t>
            </a:r>
            <a:r>
              <a:rPr lang="en-US" dirty="0"/>
              <a:t>DINO</a:t>
            </a:r>
            <a:r>
              <a:rPr lang="ru-RU" dirty="0"/>
              <a:t>) — студент учится самостоятельно.</a:t>
            </a:r>
          </a:p>
        </p:txBody>
      </p:sp>
    </p:spTree>
    <p:extLst>
      <p:ext uri="{BB962C8B-B14F-4D97-AF65-F5344CB8AC3E}">
        <p14:creationId xmlns:p14="http://schemas.microsoft.com/office/powerpoint/2010/main" val="17626962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5884A-2714-29E2-BA4E-4C4C89D28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780506D-6023-2F29-418D-FF420E460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Knowledge</a:t>
            </a:r>
            <a:r>
              <a:rPr lang="ru-RU" dirty="0"/>
              <a:t> </a:t>
            </a:r>
            <a:r>
              <a:rPr lang="ru-RU" dirty="0" err="1"/>
              <a:t>Distillation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classification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F187D82-D0F4-3EB9-6D80-9A973FAF6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19" y="1691776"/>
            <a:ext cx="8321761" cy="240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64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A36F2-8137-C69A-4581-C9EB659E7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00ADE5B-91CC-1936-29DC-BFBAAE35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Knowledge</a:t>
            </a:r>
            <a:r>
              <a:rPr lang="ru-RU" dirty="0"/>
              <a:t> </a:t>
            </a:r>
            <a:r>
              <a:rPr lang="ru-RU" dirty="0" err="1"/>
              <a:t>Distillation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advanced methods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C5380B-7130-C3DD-B878-4E7395244AFA}"/>
              </a:ext>
            </a:extLst>
          </p:cNvPr>
          <p:cNvSpPr txBox="1"/>
          <p:nvPr/>
        </p:nvSpPr>
        <p:spPr>
          <a:xfrm>
            <a:off x="457200" y="939307"/>
            <a:ext cx="8229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Multi-</a:t>
            </a:r>
            <a:r>
              <a:rPr lang="ru-RU" sz="1600" b="1" dirty="0" err="1"/>
              <a:t>teacher</a:t>
            </a:r>
            <a:r>
              <a:rPr lang="ru-RU" sz="1600" b="1" dirty="0"/>
              <a:t> KD</a:t>
            </a:r>
            <a:r>
              <a:rPr lang="ru-RU" sz="1600" dirty="0"/>
              <a:t>: объединение знаний нескольких учителей → более стабильный и разносторонний студент.</a:t>
            </a:r>
            <a:endParaRPr lang="en-US" sz="1600" dirty="0"/>
          </a:p>
          <a:p>
            <a:br>
              <a:rPr lang="ru-RU" sz="1600" dirty="0"/>
            </a:br>
            <a:r>
              <a:rPr lang="ru-RU" sz="1600" b="1" dirty="0" err="1"/>
              <a:t>Attention</a:t>
            </a:r>
            <a:r>
              <a:rPr lang="ru-RU" sz="1600" b="1" dirty="0"/>
              <a:t> KD</a:t>
            </a:r>
            <a:r>
              <a:rPr lang="ru-RU" sz="1600" dirty="0"/>
              <a:t>: студент перенимает карты внимания учителя — учится «куда смотреть».</a:t>
            </a:r>
            <a:endParaRPr lang="en-US" sz="1600" dirty="0"/>
          </a:p>
          <a:p>
            <a:br>
              <a:rPr lang="ru-RU" sz="1600" dirty="0"/>
            </a:br>
            <a:r>
              <a:rPr lang="ru-RU" sz="1600" b="1" dirty="0"/>
              <a:t>NTCE-KD</a:t>
            </a:r>
            <a:r>
              <a:rPr lang="ru-RU" sz="1600" dirty="0"/>
              <a:t>: дистилляция вероятностей всех классов, включая ошибочные и слабые.</a:t>
            </a:r>
            <a:endParaRPr lang="en-US" sz="1600" dirty="0"/>
          </a:p>
          <a:p>
            <a:br>
              <a:rPr lang="ru-RU" sz="1600" dirty="0"/>
            </a:br>
            <a:r>
              <a:rPr lang="ru-RU" sz="1600" b="1" dirty="0" err="1"/>
              <a:t>Adversarial</a:t>
            </a:r>
            <a:r>
              <a:rPr lang="ru-RU" sz="1600" b="1" dirty="0"/>
              <a:t> / Data-</a:t>
            </a:r>
            <a:r>
              <a:rPr lang="ru-RU" sz="1600" b="1" dirty="0" err="1"/>
              <a:t>free</a:t>
            </a:r>
            <a:r>
              <a:rPr lang="ru-RU" sz="1600" b="1" dirty="0"/>
              <a:t> KD</a:t>
            </a:r>
            <a:r>
              <a:rPr lang="ru-RU" sz="1600" dirty="0"/>
              <a:t>: GAN генерирует синтетические данные или помогает сравнивать поведение учителя и студента.</a:t>
            </a:r>
            <a:endParaRPr lang="en-US" sz="1600" dirty="0"/>
          </a:p>
          <a:p>
            <a:br>
              <a:rPr lang="ru-RU" sz="1600" dirty="0"/>
            </a:br>
            <a:r>
              <a:rPr lang="ru-RU" sz="1600" b="1" dirty="0" err="1"/>
              <a:t>Quantized</a:t>
            </a:r>
            <a:r>
              <a:rPr lang="ru-RU" sz="1600" b="1" dirty="0"/>
              <a:t> KD</a:t>
            </a:r>
            <a:r>
              <a:rPr lang="ru-RU" sz="1600" dirty="0"/>
              <a:t>: обучение студента сразу в низкой разрядности (8-bit, 2-bit).</a:t>
            </a:r>
            <a:endParaRPr lang="en-US" sz="1600" dirty="0"/>
          </a:p>
          <a:p>
            <a:br>
              <a:rPr lang="ru-RU" sz="1600" dirty="0"/>
            </a:br>
            <a:r>
              <a:rPr lang="ru-RU" sz="1600" b="1" dirty="0"/>
              <a:t>KD </a:t>
            </a:r>
            <a:r>
              <a:rPr lang="ru-RU" sz="1600" b="1" dirty="0" err="1"/>
              <a:t>for</a:t>
            </a:r>
            <a:r>
              <a:rPr lang="ru-RU" sz="1600" b="1" dirty="0"/>
              <a:t> </a:t>
            </a:r>
            <a:r>
              <a:rPr lang="ru-RU" sz="1600" b="1" dirty="0" err="1"/>
              <a:t>Generative</a:t>
            </a:r>
            <a:r>
              <a:rPr lang="ru-RU" sz="1600" b="1" dirty="0"/>
              <a:t> </a:t>
            </a:r>
            <a:r>
              <a:rPr lang="ru-RU" sz="1600" b="1" dirty="0" err="1"/>
              <a:t>Models</a:t>
            </a:r>
            <a:r>
              <a:rPr lang="ru-RU" sz="1600" dirty="0"/>
              <a:t>: ускорение диффузионных и </a:t>
            </a:r>
            <a:r>
              <a:rPr lang="ru-RU" sz="1600" dirty="0" err="1"/>
              <a:t>autoregressive</a:t>
            </a:r>
            <a:r>
              <a:rPr lang="ru-RU" sz="1600" dirty="0"/>
              <a:t> моделей за счёт упрощённого студента.</a:t>
            </a:r>
            <a:endParaRPr lang="en-US" sz="1600" dirty="0"/>
          </a:p>
          <a:p>
            <a:br>
              <a:rPr lang="ru-RU" sz="1600" dirty="0"/>
            </a:br>
            <a:r>
              <a:rPr lang="ru-RU" sz="1600" b="1" dirty="0"/>
              <a:t>NAS-</a:t>
            </a:r>
            <a:r>
              <a:rPr lang="ru-RU" sz="1600" b="1" dirty="0" err="1"/>
              <a:t>driven</a:t>
            </a:r>
            <a:r>
              <a:rPr lang="ru-RU" sz="1600" b="1" dirty="0"/>
              <a:t> KD</a:t>
            </a:r>
            <a:r>
              <a:rPr lang="ru-RU" sz="1600" dirty="0"/>
              <a:t>: автоматический подбор оптимальной архитектуры студента.</a:t>
            </a:r>
          </a:p>
        </p:txBody>
      </p:sp>
    </p:spTree>
    <p:extLst>
      <p:ext uri="{BB962C8B-B14F-4D97-AF65-F5344CB8AC3E}">
        <p14:creationId xmlns:p14="http://schemas.microsoft.com/office/powerpoint/2010/main" val="10456599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EB08D-C773-0490-DB14-C94404E6F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2AE9E6-11F8-732F-B077-3D185BC2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809" y="2308108"/>
            <a:ext cx="6824382" cy="527284"/>
          </a:xfrm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/>
              <a:t>Mixed precision training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0101705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2D804-6AE0-BB06-76F5-D3011E8C6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848560-DBE1-45EA-9056-881FA4CC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000" dirty="0"/>
              <a:t>Вопросы для аудитории: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523B51-EBA3-0518-0B9C-A2D4D0724787}"/>
              </a:ext>
            </a:extLst>
          </p:cNvPr>
          <p:cNvSpPr txBox="1"/>
          <p:nvPr/>
        </p:nvSpPr>
        <p:spPr>
          <a:xfrm>
            <a:off x="457200" y="941708"/>
            <a:ext cx="816309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Студент Василий, первокурсник, поставил тренироваться свою нейронную сеть с оптимизатором </a:t>
            </a:r>
            <a:r>
              <a:rPr lang="ru-RU" b="1" dirty="0"/>
              <a:t>SGD</a:t>
            </a:r>
            <a:r>
              <a:rPr lang="ru-RU" dirty="0"/>
              <a:t> и ушёл домой.</a:t>
            </a:r>
          </a:p>
          <a:p>
            <a:br>
              <a:rPr lang="ru-RU" dirty="0"/>
            </a:br>
            <a:r>
              <a:rPr lang="ru-RU" dirty="0"/>
              <a:t>Утром он обнаружил, что сеть так и не </a:t>
            </a:r>
            <a:r>
              <a:rPr lang="ru-RU" dirty="0" err="1"/>
              <a:t>дообучилась</a:t>
            </a:r>
            <a:r>
              <a:rPr lang="ru-RU" dirty="0"/>
              <a:t>. Тогда он обратился к своему товарищу Пете за советом, и тот порекомендовал попробовать оптимизатор </a:t>
            </a:r>
            <a:r>
              <a:rPr lang="ru-RU" b="1" dirty="0"/>
              <a:t>Adam</a:t>
            </a:r>
            <a:r>
              <a:rPr lang="ru-RU" dirty="0"/>
              <a:t> — мол, он «круче».</a:t>
            </a:r>
          </a:p>
          <a:p>
            <a:endParaRPr lang="ru-RU" dirty="0"/>
          </a:p>
          <a:p>
            <a:r>
              <a:rPr lang="ru-RU" dirty="0"/>
              <a:t>Василий запустил тот же эксперимент, но заменил SGD на Adam — и получил ошибку </a:t>
            </a:r>
            <a:r>
              <a:rPr lang="ru-RU" b="1" i="1" dirty="0"/>
              <a:t>Out </a:t>
            </a:r>
            <a:r>
              <a:rPr lang="ru-RU" b="1" i="1" dirty="0" err="1"/>
              <a:t>of</a:t>
            </a:r>
            <a:r>
              <a:rPr lang="ru-RU" b="1" i="1" dirty="0"/>
              <a:t> Memory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br>
              <a:rPr lang="ru-RU" dirty="0"/>
            </a:br>
            <a:r>
              <a:rPr lang="ru-RU" dirty="0"/>
              <a:t>Почему так произошло?</a:t>
            </a:r>
          </a:p>
        </p:txBody>
      </p:sp>
    </p:spTree>
    <p:extLst>
      <p:ext uri="{BB962C8B-B14F-4D97-AF65-F5344CB8AC3E}">
        <p14:creationId xmlns:p14="http://schemas.microsoft.com/office/powerpoint/2010/main" val="9354201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01AAD-6B68-A1E0-9C99-C224E9FE1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898E1-6DA9-4614-7934-A923BFFD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000" dirty="0"/>
              <a:t>Ответ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81F656-7926-4B48-029F-170EACCD3287}"/>
              </a:ext>
            </a:extLst>
          </p:cNvPr>
          <p:cNvSpPr txBox="1"/>
          <p:nvPr/>
        </p:nvSpPr>
        <p:spPr>
          <a:xfrm>
            <a:off x="457200" y="941708"/>
            <a:ext cx="81630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ru-RU" dirty="0"/>
              <a:t>SGD хранит 2 копии параметров: сами веса и их градиенты.</a:t>
            </a:r>
          </a:p>
          <a:p>
            <a:pPr marL="342900" indent="-342900">
              <a:buAutoNum type="arabicParenR"/>
            </a:pPr>
            <a:r>
              <a:rPr lang="ru-RU" dirty="0"/>
              <a:t>Adam хранит 4 копии параметров: веса, градиенты, первый момент и второй момент.</a:t>
            </a:r>
          </a:p>
          <a:p>
            <a:pPr marL="342900" indent="-342900">
              <a:buAutoNum type="arabicParenR"/>
            </a:pPr>
            <a:r>
              <a:rPr lang="ru-RU" dirty="0"/>
              <a:t>Это означает, что Adam требует примерно в 2 раза больше GPU-памяти, чем SGD.</a:t>
            </a:r>
          </a:p>
          <a:p>
            <a:pPr marL="342900" indent="-342900">
              <a:buAutoNum type="arabicParenR"/>
            </a:pPr>
            <a:r>
              <a:rPr lang="ru-RU" dirty="0"/>
              <a:t>Если модель уже была близка к лимиту памяти, переход на Adam приводит к Out </a:t>
            </a:r>
            <a:r>
              <a:rPr lang="ru-RU" dirty="0" err="1"/>
              <a:t>of</a:t>
            </a:r>
            <a:r>
              <a:rPr lang="ru-RU" dirty="0"/>
              <a:t> Memory.</a:t>
            </a:r>
          </a:p>
        </p:txBody>
      </p:sp>
    </p:spTree>
    <p:extLst>
      <p:ext uri="{BB962C8B-B14F-4D97-AF65-F5344CB8AC3E}">
        <p14:creationId xmlns:p14="http://schemas.microsoft.com/office/powerpoint/2010/main" val="25513621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BCE50-EBB2-4106-2DF5-9E466C5CA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8D0F1-6725-284B-110A-16CD2792A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/>
              <a:t>Mixed precision</a:t>
            </a:r>
            <a:endParaRPr lang="ru-RU" sz="3000" dirty="0"/>
          </a:p>
        </p:txBody>
      </p:sp>
      <p:pic>
        <p:nvPicPr>
          <p:cNvPr id="15362" name="Picture 2" descr="Video Series: Mixed-Precision Training Techniques Using Tensor Cores for  Deep Learning | NVIDIA Technical Blog">
            <a:extLst>
              <a:ext uri="{FF2B5EF4-FFF2-40B4-BE49-F238E27FC236}">
                <a16:creationId xmlns:a16="http://schemas.microsoft.com/office/drawing/2014/main" id="{5C994C75-7421-3534-B8E2-E9A1C28A3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664" y="1331088"/>
            <a:ext cx="6912936" cy="325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97659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8EF59-EDE8-8A8B-1FCC-6C6C79971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5B6B12-3A99-AB6A-FF16-E5186B40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/>
              <a:t>Mixed precision</a:t>
            </a:r>
            <a:endParaRPr lang="ru-RU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D7C96-A788-8C9D-FA2B-D205D98C05D8}"/>
              </a:ext>
            </a:extLst>
          </p:cNvPr>
          <p:cNvSpPr txBox="1"/>
          <p:nvPr/>
        </p:nvSpPr>
        <p:spPr>
          <a:xfrm>
            <a:off x="115747" y="889896"/>
            <a:ext cx="445625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effectLst/>
              </a:rPr>
              <a:t>1) </a:t>
            </a:r>
            <a:r>
              <a:rPr lang="en-US" sz="1200" b="1" dirty="0">
                <a:effectLst/>
              </a:rPr>
              <a:t>FP16 Weights → Forward Pass</a:t>
            </a:r>
            <a:br>
              <a:rPr lang="en-US" sz="1200" dirty="0"/>
            </a:br>
            <a:r>
              <a:rPr lang="ru-RU" sz="1200" dirty="0"/>
              <a:t>-- </a:t>
            </a:r>
            <a:r>
              <a:rPr lang="ru-RU" sz="1200" dirty="0">
                <a:effectLst/>
              </a:rPr>
              <a:t>Модель считает </a:t>
            </a:r>
            <a:r>
              <a:rPr lang="en-US" sz="1200" dirty="0">
                <a:effectLst/>
              </a:rPr>
              <a:t>forward </a:t>
            </a:r>
            <a:r>
              <a:rPr lang="ru-RU" sz="1200" dirty="0">
                <a:effectLst/>
              </a:rPr>
              <a:t>в </a:t>
            </a:r>
            <a:r>
              <a:rPr lang="en-US" sz="1200" dirty="0">
                <a:effectLst/>
              </a:rPr>
              <a:t>FP16 (</a:t>
            </a:r>
            <a:r>
              <a:rPr lang="ru-RU" sz="1200" dirty="0">
                <a:effectLst/>
              </a:rPr>
              <a:t>быстрее, меньше памяти).</a:t>
            </a:r>
            <a:br>
              <a:rPr lang="ru-RU" sz="1200" dirty="0"/>
            </a:br>
            <a:r>
              <a:rPr lang="ru-RU" sz="1200" dirty="0"/>
              <a:t>-- </a:t>
            </a:r>
            <a:r>
              <a:rPr lang="ru-RU" sz="1200" dirty="0">
                <a:effectLst/>
              </a:rPr>
              <a:t>Функция потерь считается в </a:t>
            </a:r>
            <a:r>
              <a:rPr lang="en-US" sz="1200" dirty="0">
                <a:effectLst/>
              </a:rPr>
              <a:t>FP32 </a:t>
            </a:r>
            <a:r>
              <a:rPr lang="ru-RU" sz="1200" dirty="0">
                <a:effectLst/>
              </a:rPr>
              <a:t>для стабильности.</a:t>
            </a:r>
            <a:br>
              <a:rPr lang="ru-RU" sz="1200" dirty="0"/>
            </a:br>
            <a:r>
              <a:rPr lang="ru-RU" sz="1200" dirty="0"/>
              <a:t>2) </a:t>
            </a:r>
            <a:r>
              <a:rPr lang="en-US" sz="1200" b="1" dirty="0">
                <a:effectLst/>
              </a:rPr>
              <a:t>Loss Scaling</a:t>
            </a:r>
            <a:br>
              <a:rPr lang="en-US" sz="1200" dirty="0"/>
            </a:br>
            <a:r>
              <a:rPr lang="ru-RU" sz="1200" dirty="0"/>
              <a:t>-- </a:t>
            </a:r>
            <a:r>
              <a:rPr lang="en-US" sz="1200" dirty="0">
                <a:effectLst/>
              </a:rPr>
              <a:t>FP32-loss </a:t>
            </a:r>
            <a:r>
              <a:rPr lang="ru-RU" sz="1200" dirty="0">
                <a:effectLst/>
              </a:rPr>
              <a:t>умножается на </a:t>
            </a:r>
            <a:r>
              <a:rPr lang="en-US" sz="1200" dirty="0">
                <a:effectLst/>
              </a:rPr>
              <a:t>scale-factor,</a:t>
            </a:r>
            <a:br>
              <a:rPr lang="en-US" sz="1200" dirty="0"/>
            </a:br>
            <a:r>
              <a:rPr lang="ru-RU" sz="1200" dirty="0"/>
              <a:t>-- </a:t>
            </a:r>
            <a:r>
              <a:rPr lang="ru-RU" sz="1200" dirty="0">
                <a:effectLst/>
              </a:rPr>
              <a:t>чтобы предотвратить исчезающие </a:t>
            </a:r>
            <a:r>
              <a:rPr lang="en-US" sz="1200" dirty="0">
                <a:effectLst/>
              </a:rPr>
              <a:t>FP16-</a:t>
            </a:r>
            <a:r>
              <a:rPr lang="ru-RU" sz="1200" dirty="0">
                <a:effectLst/>
              </a:rPr>
              <a:t>градиенты.</a:t>
            </a:r>
            <a:br>
              <a:rPr lang="ru-RU" sz="1200" dirty="0"/>
            </a:br>
            <a:r>
              <a:rPr lang="ru-RU" sz="1200" dirty="0"/>
              <a:t>3) </a:t>
            </a:r>
            <a:r>
              <a:rPr lang="en-US" sz="1200" b="1" dirty="0">
                <a:effectLst/>
              </a:rPr>
              <a:t>Backward </a:t>
            </a:r>
            <a:r>
              <a:rPr lang="ru-RU" sz="1200" b="1" dirty="0">
                <a:effectLst/>
              </a:rPr>
              <a:t>в </a:t>
            </a:r>
            <a:r>
              <a:rPr lang="en-US" sz="1200" b="1" dirty="0">
                <a:effectLst/>
              </a:rPr>
              <a:t>FP16</a:t>
            </a:r>
            <a:br>
              <a:rPr lang="en-US" sz="1200" dirty="0"/>
            </a:br>
            <a:r>
              <a:rPr lang="ru-RU" sz="1200" dirty="0"/>
              <a:t>-- </a:t>
            </a:r>
            <a:r>
              <a:rPr lang="en-US" sz="1200" dirty="0">
                <a:effectLst/>
              </a:rPr>
              <a:t>Backprop </a:t>
            </a:r>
            <a:r>
              <a:rPr lang="ru-RU" sz="1200" dirty="0">
                <a:effectLst/>
              </a:rPr>
              <a:t>вычисляет </a:t>
            </a:r>
            <a:r>
              <a:rPr lang="en-US" sz="1200" dirty="0">
                <a:effectLst/>
              </a:rPr>
              <a:t>scaled FP16-</a:t>
            </a:r>
            <a:r>
              <a:rPr lang="ru-RU" sz="1200" dirty="0">
                <a:effectLst/>
              </a:rPr>
              <a:t>градиенты</a:t>
            </a:r>
            <a:br>
              <a:rPr lang="ru-RU" sz="1200" dirty="0"/>
            </a:br>
            <a:r>
              <a:rPr lang="ru-RU" sz="1200" dirty="0"/>
              <a:t>-- </a:t>
            </a:r>
            <a:r>
              <a:rPr lang="ru-RU" sz="1200" dirty="0">
                <a:effectLst/>
              </a:rPr>
              <a:t>(они увеличены из-за </a:t>
            </a:r>
            <a:r>
              <a:rPr lang="en-US" sz="1200" dirty="0">
                <a:effectLst/>
              </a:rPr>
              <a:t>scaling).</a:t>
            </a:r>
            <a:br>
              <a:rPr lang="en-US" sz="1200" dirty="0"/>
            </a:br>
            <a:r>
              <a:rPr lang="ru-RU" sz="1200" dirty="0"/>
              <a:t>4) </a:t>
            </a:r>
            <a:r>
              <a:rPr lang="en-US" sz="1200" b="1" dirty="0">
                <a:effectLst/>
              </a:rPr>
              <a:t>Copy FP16 → FP32</a:t>
            </a:r>
            <a:br>
              <a:rPr lang="en-US" sz="1200" dirty="0"/>
            </a:br>
            <a:r>
              <a:rPr lang="ru-RU" sz="1200" dirty="0"/>
              <a:t>-- </a:t>
            </a:r>
            <a:r>
              <a:rPr lang="en-US" sz="1200" dirty="0">
                <a:effectLst/>
              </a:rPr>
              <a:t>Scaled FP16-</a:t>
            </a:r>
            <a:r>
              <a:rPr lang="ru-RU" sz="1200" dirty="0">
                <a:effectLst/>
              </a:rPr>
              <a:t>градиенты конвертируются в </a:t>
            </a:r>
            <a:r>
              <a:rPr lang="en-US" sz="1200" dirty="0">
                <a:effectLst/>
              </a:rPr>
              <a:t>FP32 —</a:t>
            </a:r>
            <a:br>
              <a:rPr lang="en-US" sz="1200" dirty="0"/>
            </a:br>
            <a:r>
              <a:rPr lang="ru-RU" sz="1200" dirty="0"/>
              <a:t>-- </a:t>
            </a:r>
            <a:r>
              <a:rPr lang="ru-RU" sz="1200" dirty="0">
                <a:effectLst/>
              </a:rPr>
              <a:t>так безопаснее выполнять деление и операции оптимизатора.</a:t>
            </a:r>
            <a:br>
              <a:rPr lang="ru-RU" sz="1200" dirty="0"/>
            </a:br>
            <a:r>
              <a:rPr lang="ru-RU" sz="1200" dirty="0"/>
              <a:t>5) </a:t>
            </a:r>
            <a:r>
              <a:rPr lang="en-US" sz="1200" b="1" dirty="0" err="1">
                <a:effectLst/>
              </a:rPr>
              <a:t>Unscale</a:t>
            </a:r>
            <a:r>
              <a:rPr lang="en-US" sz="1200" b="1" dirty="0">
                <a:effectLst/>
              </a:rPr>
              <a:t> Gradients</a:t>
            </a:r>
            <a:br>
              <a:rPr lang="en-US" sz="1200" dirty="0"/>
            </a:br>
            <a:r>
              <a:rPr lang="ru-RU" sz="1200" dirty="0"/>
              <a:t>-- </a:t>
            </a:r>
            <a:r>
              <a:rPr lang="en-US" sz="1200" dirty="0">
                <a:effectLst/>
              </a:rPr>
              <a:t>FP32-</a:t>
            </a:r>
            <a:r>
              <a:rPr lang="ru-RU" sz="1200" dirty="0">
                <a:effectLst/>
              </a:rPr>
              <a:t>градиенты делятся на </a:t>
            </a:r>
            <a:r>
              <a:rPr lang="en-US" sz="1200" dirty="0">
                <a:effectLst/>
              </a:rPr>
              <a:t>scale-factor → </a:t>
            </a:r>
            <a:r>
              <a:rPr lang="ru-RU" sz="1200" dirty="0">
                <a:effectLst/>
              </a:rPr>
              <a:t>получают нормальные значения.</a:t>
            </a:r>
            <a:br>
              <a:rPr lang="ru-RU" sz="1200" dirty="0"/>
            </a:br>
            <a:r>
              <a:rPr lang="ru-RU" sz="1200" dirty="0"/>
              <a:t>-- </a:t>
            </a:r>
            <a:r>
              <a:rPr lang="ru-RU" sz="1200" dirty="0">
                <a:effectLst/>
              </a:rPr>
              <a:t>На этом этапе можно делать </a:t>
            </a:r>
            <a:r>
              <a:rPr lang="en-US" sz="1200" dirty="0">
                <a:effectLst/>
              </a:rPr>
              <a:t>clip </a:t>
            </a:r>
            <a:r>
              <a:rPr lang="ru-RU" sz="1200" dirty="0">
                <a:effectLst/>
              </a:rPr>
              <a:t>и проверку </a:t>
            </a:r>
            <a:r>
              <a:rPr lang="en-US" sz="1200" dirty="0">
                <a:effectLst/>
              </a:rPr>
              <a:t>overflow.</a:t>
            </a:r>
            <a:br>
              <a:rPr lang="en-US" sz="1200" dirty="0"/>
            </a:br>
            <a:r>
              <a:rPr lang="ru-RU" sz="1200" dirty="0"/>
              <a:t>6) </a:t>
            </a:r>
            <a:r>
              <a:rPr lang="ru-RU" sz="1200" b="1" dirty="0">
                <a:effectLst/>
              </a:rPr>
              <a:t>Обновление </a:t>
            </a:r>
            <a:r>
              <a:rPr lang="en-US" sz="1200" b="1" dirty="0">
                <a:effectLst/>
              </a:rPr>
              <a:t>FP32 Master Weights</a:t>
            </a:r>
            <a:br>
              <a:rPr lang="en-US" sz="1200" dirty="0"/>
            </a:br>
            <a:r>
              <a:rPr lang="ru-RU" sz="1200" dirty="0"/>
              <a:t>-- </a:t>
            </a:r>
            <a:r>
              <a:rPr lang="ru-RU" sz="1200" dirty="0">
                <a:effectLst/>
              </a:rPr>
              <a:t>Оптимизатор обновляет только </a:t>
            </a:r>
            <a:r>
              <a:rPr lang="en-US" sz="1200" dirty="0">
                <a:effectLst/>
              </a:rPr>
              <a:t>FP32-</a:t>
            </a:r>
            <a:r>
              <a:rPr lang="ru-RU" sz="1200" dirty="0">
                <a:effectLst/>
              </a:rPr>
              <a:t>веса —</a:t>
            </a:r>
            <a:br>
              <a:rPr lang="ru-RU" sz="1200" dirty="0"/>
            </a:br>
            <a:r>
              <a:rPr lang="ru-RU" sz="1200" dirty="0"/>
              <a:t>-- </a:t>
            </a:r>
            <a:r>
              <a:rPr lang="ru-RU" sz="1200" dirty="0">
                <a:effectLst/>
              </a:rPr>
              <a:t>они служат «истинной» и точной версией модели.</a:t>
            </a:r>
            <a:br>
              <a:rPr lang="ru-RU" sz="1200" dirty="0"/>
            </a:br>
            <a:r>
              <a:rPr lang="ru-RU" sz="1200" dirty="0"/>
              <a:t>7) </a:t>
            </a:r>
            <a:r>
              <a:rPr lang="en-US" sz="1200" b="1" dirty="0">
                <a:effectLst/>
              </a:rPr>
              <a:t>Copy FP32 → FP16</a:t>
            </a:r>
            <a:br>
              <a:rPr lang="en-US" sz="1200" dirty="0"/>
            </a:br>
            <a:r>
              <a:rPr lang="ru-RU" sz="1200" dirty="0"/>
              <a:t>-- </a:t>
            </a:r>
            <a:r>
              <a:rPr lang="ru-RU" sz="1200" dirty="0">
                <a:effectLst/>
              </a:rPr>
              <a:t>Обновлённые </a:t>
            </a:r>
            <a:r>
              <a:rPr lang="en-US" sz="1200" dirty="0">
                <a:effectLst/>
              </a:rPr>
              <a:t>FP32-</a:t>
            </a:r>
            <a:r>
              <a:rPr lang="ru-RU" sz="1200" dirty="0">
                <a:effectLst/>
              </a:rPr>
              <a:t>веса конвертируются обратно в </a:t>
            </a:r>
            <a:r>
              <a:rPr lang="en-US" sz="1200" dirty="0">
                <a:effectLst/>
              </a:rPr>
              <a:t>FP16 —</a:t>
            </a:r>
            <a:br>
              <a:rPr lang="en-US" sz="1200" dirty="0"/>
            </a:br>
            <a:r>
              <a:rPr lang="ru-RU" sz="1200" dirty="0"/>
              <a:t>-- </a:t>
            </a:r>
            <a:r>
              <a:rPr lang="ru-RU" sz="1200" dirty="0">
                <a:effectLst/>
              </a:rPr>
              <a:t>чтобы следующий </a:t>
            </a:r>
            <a:r>
              <a:rPr lang="en-US" sz="1200" dirty="0">
                <a:effectLst/>
              </a:rPr>
              <a:t>forward/backward </a:t>
            </a:r>
            <a:r>
              <a:rPr lang="ru-RU" sz="1200" dirty="0">
                <a:effectLst/>
              </a:rPr>
              <a:t>снова выполнялся быстро.</a:t>
            </a:r>
            <a:endParaRPr lang="en-US" sz="1200" dirty="0"/>
          </a:p>
        </p:txBody>
      </p:sp>
      <p:pic>
        <p:nvPicPr>
          <p:cNvPr id="6" name="Picture 2" descr="Video Series: Mixed-Precision Training Techniques Using Tensor Cores for  Deep Learning | NVIDIA Technical Blog">
            <a:extLst>
              <a:ext uri="{FF2B5EF4-FFF2-40B4-BE49-F238E27FC236}">
                <a16:creationId xmlns:a16="http://schemas.microsoft.com/office/drawing/2014/main" id="{E5756CB5-7D14-1AE1-95E6-F495C66D9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17224"/>
            <a:ext cx="4082713" cy="192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03710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C991A-C5C7-1D86-937D-549AAF55E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9C6F73-A719-1BA2-23D1-74574A83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000" dirty="0"/>
              <a:t>Для чего нужен </a:t>
            </a:r>
            <a:r>
              <a:rPr lang="en-US" sz="3000" dirty="0" err="1"/>
              <a:t>scailing</a:t>
            </a:r>
            <a:r>
              <a:rPr lang="en-US" sz="3000" dirty="0"/>
              <a:t>?</a:t>
            </a:r>
            <a:endParaRPr lang="ru-RU" sz="3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8397A2-7298-8458-A07E-E9BC8C868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71" y="1369428"/>
            <a:ext cx="8734457" cy="257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3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CEC09-BFB3-2EFF-19BB-6354B4CF9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9F82C-CEE7-45A7-D8D8-70D75C48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/>
              <a:t>Mixed precision</a:t>
            </a:r>
            <a:endParaRPr lang="ru-RU" sz="3000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FA158F4-B259-79C1-A5C1-7403FF2A4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469200"/>
              </p:ext>
            </p:extLst>
          </p:nvPr>
        </p:nvGraphicFramePr>
        <p:xfrm>
          <a:off x="709913" y="1134319"/>
          <a:ext cx="7400082" cy="358815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6694">
                  <a:extLst>
                    <a:ext uri="{9D8B030D-6E8A-4147-A177-3AD203B41FA5}">
                      <a16:colId xmlns:a16="http://schemas.microsoft.com/office/drawing/2014/main" val="985435647"/>
                    </a:ext>
                  </a:extLst>
                </a:gridCol>
                <a:gridCol w="2466694">
                  <a:extLst>
                    <a:ext uri="{9D8B030D-6E8A-4147-A177-3AD203B41FA5}">
                      <a16:colId xmlns:a16="http://schemas.microsoft.com/office/drawing/2014/main" val="917188909"/>
                    </a:ext>
                  </a:extLst>
                </a:gridCol>
                <a:gridCol w="2466694">
                  <a:extLst>
                    <a:ext uri="{9D8B030D-6E8A-4147-A177-3AD203B41FA5}">
                      <a16:colId xmlns:a16="http://schemas.microsoft.com/office/drawing/2014/main" val="541705269"/>
                    </a:ext>
                  </a:extLst>
                </a:gridCol>
              </a:tblGrid>
              <a:tr h="1056601">
                <a:tc>
                  <a:txBody>
                    <a:bodyPr/>
                    <a:lstStyle/>
                    <a:p>
                      <a:r>
                        <a:rPr lang="ru-RU" dirty="0"/>
                        <a:t>ТИП ОБУЧЕНИЯ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СКОРОСТЬ РАБОТЫ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параметров для обучения </a:t>
                      </a:r>
                      <a:r>
                        <a:rPr lang="en-US" dirty="0"/>
                        <a:t>(SGD)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320821"/>
                  </a:ext>
                </a:extLst>
              </a:tr>
              <a:tr h="1265775">
                <a:tc>
                  <a:txBody>
                    <a:bodyPr/>
                    <a:lstStyle/>
                    <a:p>
                      <a:r>
                        <a:rPr lang="en-US" dirty="0"/>
                        <a:t>Full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* Model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269517"/>
                  </a:ext>
                </a:extLst>
              </a:tr>
              <a:tr h="1265775">
                <a:tc>
                  <a:txBody>
                    <a:bodyPr/>
                    <a:lstStyle/>
                    <a:p>
                      <a:r>
                        <a:rPr lang="en-US" dirty="0"/>
                        <a:t>Mixed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×1.5–2.5 ускорение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? * Model size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645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83292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F7DE7-5D1F-533A-5CFB-3B58C00B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80889A-73FD-0B75-458A-0F98FE5DB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/>
              <a:t>Mixed precision</a:t>
            </a:r>
            <a:endParaRPr lang="ru-RU" sz="3000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3C5AA02-25F8-05E8-46DB-8C341BF37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244642"/>
              </p:ext>
            </p:extLst>
          </p:nvPr>
        </p:nvGraphicFramePr>
        <p:xfrm>
          <a:off x="790936" y="822144"/>
          <a:ext cx="7400082" cy="42261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6694">
                  <a:extLst>
                    <a:ext uri="{9D8B030D-6E8A-4147-A177-3AD203B41FA5}">
                      <a16:colId xmlns:a16="http://schemas.microsoft.com/office/drawing/2014/main" val="985435647"/>
                    </a:ext>
                  </a:extLst>
                </a:gridCol>
                <a:gridCol w="2466694">
                  <a:extLst>
                    <a:ext uri="{9D8B030D-6E8A-4147-A177-3AD203B41FA5}">
                      <a16:colId xmlns:a16="http://schemas.microsoft.com/office/drawing/2014/main" val="917188909"/>
                    </a:ext>
                  </a:extLst>
                </a:gridCol>
                <a:gridCol w="2466694">
                  <a:extLst>
                    <a:ext uri="{9D8B030D-6E8A-4147-A177-3AD203B41FA5}">
                      <a16:colId xmlns:a16="http://schemas.microsoft.com/office/drawing/2014/main" val="541705269"/>
                    </a:ext>
                  </a:extLst>
                </a:gridCol>
              </a:tblGrid>
              <a:tr h="952018">
                <a:tc>
                  <a:txBody>
                    <a:bodyPr/>
                    <a:lstStyle/>
                    <a:p>
                      <a:r>
                        <a:rPr lang="ru-RU" dirty="0"/>
                        <a:t>ТИП ОБУЧЕНИЯ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СКОРОСТЬ РАБОТЫ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параметров для обучения </a:t>
                      </a:r>
                      <a:r>
                        <a:rPr lang="en-US" dirty="0"/>
                        <a:t>(SGD)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320821"/>
                  </a:ext>
                </a:extLst>
              </a:tr>
              <a:tr h="1140488">
                <a:tc>
                  <a:txBody>
                    <a:bodyPr/>
                    <a:lstStyle/>
                    <a:p>
                      <a:r>
                        <a:rPr lang="en-US" dirty="0"/>
                        <a:t>Full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* Model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269517"/>
                  </a:ext>
                </a:extLst>
              </a:tr>
              <a:tr h="1922415">
                <a:tc>
                  <a:txBody>
                    <a:bodyPr/>
                    <a:lstStyle/>
                    <a:p>
                      <a:r>
                        <a:rPr lang="en-US" dirty="0"/>
                        <a:t>Mixed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×1.5–2.5 ускорение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 * Model size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(FP32 model, FP32 gradients, FP16 model, FP16 gradients)</a:t>
                      </a:r>
                    </a:p>
                    <a:p>
                      <a:endParaRPr lang="en-US" dirty="0"/>
                    </a:p>
                    <a:p>
                      <a:r>
                        <a:rPr lang="ru-RU" sz="1100" dirty="0"/>
                        <a:t>Но за счёт сокращения активаций FP16 экономит ~30–50% общей VRAM и дает возможность обучать большие модели.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645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47041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463FB-9F13-C467-B5D0-734D2C383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EB8686-98FC-16FF-DC28-1ED49F7AD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/>
              <a:t>Mixed precision </a:t>
            </a:r>
            <a:r>
              <a:rPr lang="ru-RU" sz="3000" dirty="0"/>
              <a:t>в коде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94723B-85BE-349D-D0A9-FA885D4A1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60" y="1516288"/>
            <a:ext cx="6447079" cy="21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848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12494</TotalTime>
  <Words>2217</Words>
  <Application>Microsoft Office PowerPoint</Application>
  <PresentationFormat>Экран (16:9)</PresentationFormat>
  <Paragraphs>323</Paragraphs>
  <Slides>54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54</vt:i4>
      </vt:variant>
    </vt:vector>
  </HeadingPairs>
  <TitlesOfParts>
    <vt:vector size="61" baseType="lpstr">
      <vt:lpstr>ALS Gorizont Bold Expanded</vt:lpstr>
      <vt:lpstr>Arial</vt:lpstr>
      <vt:lpstr>Calibri</vt:lpstr>
      <vt:lpstr>fkGroteskNeue</vt:lpstr>
      <vt:lpstr>Golos Text</vt:lpstr>
      <vt:lpstr>Golos Text DemiBold</vt:lpstr>
      <vt:lpstr>Тема1</vt:lpstr>
      <vt:lpstr> Efficient Deep Learning — Quantization, Pruning &amp; Distillation Современные архитектуры нейронных сетей</vt:lpstr>
      <vt:lpstr>Нейросети раньше</vt:lpstr>
      <vt:lpstr>Нейросети сейчас</vt:lpstr>
      <vt:lpstr>Как можно уменьшить размер сети?</vt:lpstr>
      <vt:lpstr>Quantization</vt:lpstr>
      <vt:lpstr>Вопросы для аудитории:</vt:lpstr>
      <vt:lpstr>Ответы:</vt:lpstr>
      <vt:lpstr>Разные форматы для чисел с плавающей запятой</vt:lpstr>
      <vt:lpstr>Пример: Получение из 2-ого (FP32) в 10-ое</vt:lpstr>
      <vt:lpstr>С каких сторон можно смотреть на квантизацию</vt:lpstr>
      <vt:lpstr>С каких сторон можно смотреть на квантизацию</vt:lpstr>
      <vt:lpstr>Linear Quantization (From INT8 -&gt; FP32)</vt:lpstr>
      <vt:lpstr>Linear Quantization (From FP32 -&gt; INT8)</vt:lpstr>
      <vt:lpstr>Linear Quantization (From FP32 -&gt; INT8)</vt:lpstr>
      <vt:lpstr>Linear Quantization. Получение s и z</vt:lpstr>
      <vt:lpstr>Linear Quantization. Пример</vt:lpstr>
      <vt:lpstr>Linear Quantization: Symmetric vs. Asymmetric Mode</vt:lpstr>
      <vt:lpstr>Linear Quantization: Как ее можно применять</vt:lpstr>
      <vt:lpstr>С каких сторон можно смотреть на квантизацию</vt:lpstr>
      <vt:lpstr>Weights &amp; Activations Quantization</vt:lpstr>
      <vt:lpstr>Weights &amp; Activations Quantization: Пример</vt:lpstr>
      <vt:lpstr>Activations Quantization: </vt:lpstr>
      <vt:lpstr>Activations Quantization : </vt:lpstr>
      <vt:lpstr>Промежуточный итог</vt:lpstr>
      <vt:lpstr>С каких сторон можно смотреть на квантизацию</vt:lpstr>
      <vt:lpstr>Non-Uniform Quantization: Palettization</vt:lpstr>
      <vt:lpstr>Linear Quantization: Outliers</vt:lpstr>
      <vt:lpstr>С каких сторон можно смотреть на квантизацию</vt:lpstr>
      <vt:lpstr>Определения</vt:lpstr>
      <vt:lpstr>Quantization-Aware Training (QAT)</vt:lpstr>
      <vt:lpstr>AWQ  &amp; GPTQ  &amp; GGUF </vt:lpstr>
      <vt:lpstr>Pruning</vt:lpstr>
      <vt:lpstr>Pruning</vt:lpstr>
      <vt:lpstr>Magnitude Pruning (L1/L2-based)</vt:lpstr>
      <vt:lpstr>Weight Thresholding (Static Pruning)</vt:lpstr>
      <vt:lpstr>Iterative Magnitude Pruning (IMP)</vt:lpstr>
      <vt:lpstr>Knowledge Distillation</vt:lpstr>
      <vt:lpstr>Knowledge Distillation</vt:lpstr>
      <vt:lpstr>Knowledge Distillation: classic method</vt:lpstr>
      <vt:lpstr>Knowledge Distillation: other methods</vt:lpstr>
      <vt:lpstr>Knowledge Distillation: other methods</vt:lpstr>
      <vt:lpstr>Knowledge Distillation: classification</vt:lpstr>
      <vt:lpstr>Knowledge Distillation: classification</vt:lpstr>
      <vt:lpstr>Knowledge Distillation: advanced methods</vt:lpstr>
      <vt:lpstr>Mixed precision training</vt:lpstr>
      <vt:lpstr>Вопросы для аудитории:</vt:lpstr>
      <vt:lpstr>Ответ</vt:lpstr>
      <vt:lpstr>Mixed precision</vt:lpstr>
      <vt:lpstr>Mixed precision</vt:lpstr>
      <vt:lpstr>Для чего нужен scailing?</vt:lpstr>
      <vt:lpstr>Mixed precision</vt:lpstr>
      <vt:lpstr>Mixed precision</vt:lpstr>
      <vt:lpstr>Mixed precision в коде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Александр Савельев</cp:lastModifiedBy>
  <cp:revision>114</cp:revision>
  <dcterms:created xsi:type="dcterms:W3CDTF">2014-06-27T12:30:22Z</dcterms:created>
  <dcterms:modified xsi:type="dcterms:W3CDTF">2025-12-01T15:02:57Z</dcterms:modified>
</cp:coreProperties>
</file>